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программа перестаёт быть простынёй сверху вниз: появляются функции, а потом и несколько файлов. Это же требование к курсовому проекту.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минуты, спрашивать голосом. Третий вопрос попросить написать на доске или в консоли.</a:t>
            </a:r>
          </a:p>
          <a:p/>
          <a:p>
            <a:r>
              <a:t>Ответы:</a:t>
            </a:r>
          </a:p>
          <a:p>
            <a:r>
              <a:t>1. 0: второй аргумент это значение по умолчанию, KeyError не будет</a:t>
            </a:r>
          </a:p>
          <a:p>
            <a:r>
              <a:t>2. sorted возвращает новый список, sort сортирует список на месте и возвращает None</a:t>
            </a:r>
          </a:p>
          <a:p>
            <a:r>
              <a:t>3. [x ** 2 for x in range(1, 6)]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Спросить: что придётся изменить, если среднее надо округлять до двух знаков? Слева три строки, справа одна.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Разобрать последнюю строку: greet печатает, но ничего не возвращает, поэтому None. Печатать и возвращать это разные вещи.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задача 4 из прошлой пары, свёрнутая в функцию. Обратить внимание: два return False и один return True, до конца тела программа доходит редко.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Пройти по рядам: главная ошибка сейчас это print вместо return.</a:t>
            </a:r>
          </a:p>
          <a:p/>
          <a:p>
            <a:r>
              <a:t>Ответы:</a:t>
            </a:r>
          </a:p>
          <a:p>
            <a:r>
              <a:t>1. def square(x): return x * x   →   49</a:t>
            </a:r>
          </a:p>
          <a:p>
            <a:r>
              <a:t>2. def is_even(n): return n % 2 == 0   →   True False</a:t>
            </a:r>
          </a:p>
          <a:p>
            <a:r>
              <a:t>3. 25: сначала считаются оба вызова, потом складываются результаты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каждый вывод до запуска. Именованные аргументы делают вызов читаемым: сравнить power(3, 4) и power(x=3, p=4).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Подчеркнуть: args это кортеж, а не список, поэтому менять его нельзя. Второй вызов show показывает оба механизма сразу.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Связать с прошлой парой: обмен a, b = b, a это та же распаковка кортежа.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Спросить, что напечатает последняя строка. Многие ждут 1. Показать, что с global поведение меняется, и объяснить, почему это плохо в большой программе.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Второе задание проверить вслух: что напечатает greet('Аня', 'Здорово').</a:t>
            </a:r>
          </a:p>
          <a:p/>
          <a:p>
            <a:r>
              <a:t>Ответы:</a:t>
            </a:r>
          </a:p>
          <a:p>
            <a:r>
              <a:t>1. def average(numbers): return sum(numbers) / len(numbers)   →   9.0</a:t>
            </a:r>
          </a:p>
          <a:p>
            <a:r>
              <a:t>2. def greet(name, greeting='Привет'): print(f'{greeting}, {name}!')</a:t>
            </a:r>
          </a:p>
          <a:p>
            <a:r>
              <a:t>3. def sum_and_product(a, b): return a + b, a * b   →   s, p = sum_and_product(3,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это функция, которую sorted вызывает для каждого элемента. Показать разницу: len и len().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Docstring это обычная строка, она лежит в атрибуте __doc__. Аннотация это подсказка, а не проверка: average('abc') всё равно запустится и упадёт.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Сделать вживую: PyCharm, правый клик по папке, New → Python File, имя geometry. Показать оба способа импорта и подсветку имён после import.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вживую: добавить print в geometry.py и импортировать его, вывод появится в чужой программе. Потом убрать его под if __name__.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Частая ошибка: файл назван helpers.py, а лежит в другой папке, тогда ModuleNotFoundError. Вторая ошибка: имя файла совпало с именем модуля из библиотеки, например math.py.</a:t>
            </a:r>
          </a:p>
          <a:p/>
          <a:p>
            <a:r>
              <a:t>Ответы:</a:t>
            </a:r>
          </a:p>
          <a:p>
            <a:r>
              <a:t>1. helpers.py содержит только def, без вызовов на верхнем уровне</a:t>
            </a:r>
          </a:p>
          <a:p>
            <a:r>
              <a:t>2. import helpers плюс helpers.average([4, 8, 15]) даёт 9.0; можно from helpers import average</a:t>
            </a:r>
          </a:p>
          <a:p>
            <a:r>
              <a:t>3. def main(): ... затем if __name__ == '__main__': main()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Последние две строки каждый раз разные: randint и choice дают случайный результат. Спросить, чем randint отличается от range по границам: 1 и 6 включаются.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Запустить вживую из demo/05_guess_number.py, дать студентам поугадывать. Спросить: сколько попыток нужно, если делить отрезок пополам? Семи хватает на сто чисел.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Первую и третью ошибку студенты сделают сегодня же. Показать их в PyCharm: подсветка помогает.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Спросить у группы, какая из шести строк была самой неожиданной. Сказать, что со следующей пары программы начнут падать по-настоящему: тема урока 5 это ошибки и файлы.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Задачи 1–5 к следующей паре, шестая по желанию. Задача 2 это заготовка курсового проекта: та же структура, только классов пока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txBody>
          <a:bodyPr rtlCol="0" anchor="t" wrap="square" lIns="137160" rIns="137160" tIns="109728" bIns="109728">
            <a:noAutofit/>
          </a:bodyPr>
          <a:lstStyle/>
          <a:p>
            <a:pPr algn="l"/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FFD43B"/>
          </a:solidFill>
          <a:ln>
            <a:noFill/>
          </a:ln>
        </p:spPr>
        <p:txBody>
          <a:bodyPr rtlCol="0" anchor="ctr" wrap="square" lIns="137160" rIns="137160">
            <a:noAutofit/>
          </a:bodyPr>
          <a:lstStyle/>
          <a:p>
            <a:pPr algn="ctr">
              <a:spcAft>
                <a:spcPts val="0"/>
              </a:spcAft>
              <a:defRPr sz="1500"/>
            </a:pPr>
            <a:r>
              <a:rPr sz="1500" b="1" i="0">
                <a:solidFill>
                  <a:srgbClr val="14213D"/>
                </a:solidFill>
                <a:latin typeface="Arial"/>
              </a:rPr>
              <a:t>УРОК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4000"/>
            </a:pPr>
            <a:r>
              <a:rPr sz="4000" b="1" i="0">
                <a:solidFill>
                  <a:srgbClr val="FFFFFF"/>
                </a:solidFill>
                <a:latin typeface="Arial"/>
              </a:rPr>
              <a:t>Функции и модули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2000"/>
            </a:pPr>
            <a:r>
              <a:rPr sz="2000" b="0" i="0">
                <a:solidFill>
                  <a:srgbClr val="DCE3F0"/>
                </a:solidFill>
                <a:latin typeface="Arial"/>
              </a:rPr>
              <a:t>Делить программу на функции и файлы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20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Кравчинский Сергей Андреевич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AAB4C8"/>
                </a:solidFill>
                <a:latin typeface="Arial"/>
              </a:rPr>
              <a:t>kravchinskiy.sa@gmail.com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Вспомним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484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1.  Что вернёт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d.get('x', 0)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если ключа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x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в словаре нет?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2.  Чем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sorted(items)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отличается от </a:t>
            </a:r>
            <a:r>
              <a:rPr sz="2200" b="0" i="0">
                <a:solidFill>
                  <a:srgbClr val="1F5F8B"/>
                </a:solidFill>
                <a:latin typeface="Consolas"/>
              </a:rPr>
              <a:t>items.sort()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?</a:t>
            </a:r>
          </a:p>
          <a:p>
            <a:pPr>
              <a:spcAft>
                <a:spcPts val="1800"/>
              </a:spcAft>
              <a:defRPr sz="2200"/>
            </a:pPr>
            <a:r>
              <a:rPr sz="2200" b="0" i="0">
                <a:solidFill>
                  <a:srgbClr val="1A1A1A"/>
                </a:solidFill>
                <a:latin typeface="Arial"/>
              </a:rPr>
              <a:t>3.  Как одной строкой получить список квадратов чисел от 1 до 5?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Зачем нужны функции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Одно и то же вычисление в трёх местах: любая правка это три правки и три шанса ошибиться.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C0392B"/>
                </a:solidFill>
                <a:latin typeface="Arial"/>
              </a:rPr>
              <a:t>Так не надо: три копии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10047" cy="3566159"/>
          </a:xfrm>
          <a:prstGeom prst="roundRect">
            <a:avLst>
              <a:gd name="adj" fmla="val 307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среднее считаем трижды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8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15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16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b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c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c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c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нашли ошибку в формуле: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править в трёх местах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2E8B57"/>
                </a:solidFill>
                <a:latin typeface="Arial"/>
              </a:rPr>
              <a:t>Так надо: одна функция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240280"/>
            <a:ext cx="5410047" cy="2712719"/>
          </a:xfrm>
          <a:prstGeom prst="roundRect">
            <a:avLst>
              <a:gd name="adj" fmla="val 40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FFC66D"/>
                </a:solidFill>
                <a:latin typeface="Consolas"/>
              </a:rPr>
              <a:t>average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return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sum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/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len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numbers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average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4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8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15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average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16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23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42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average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[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4</a:t>
            </a:r>
            <a:r>
              <a:rPr sz="1600">
                <a:solidFill>
                  <a:srgbClr val="A9B7C6"/>
                </a:solidFill>
                <a:latin typeface="Consolas"/>
              </a:rPr>
              <a:t>]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08080"/>
                </a:solidFill>
                <a:latin typeface="Consolas"/>
              </a:rPr>
              <a:t># формула в одном месте: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08080"/>
                </a:solidFill>
                <a:latin typeface="Consolas"/>
              </a:rPr>
              <a:t># править один раз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def и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Определение: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def имя(параметры):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тело со сдвигом в 4 пробела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Параметры это имена в определении, аргументы это значения при вызове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отдаёт результат и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сразу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завершает функцию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Без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функция возвращает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None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Определение должно быть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выше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вызова в файле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00400"/>
          </a:xfrm>
          <a:prstGeom prst="roundRect">
            <a:avLst>
              <a:gd name="adj" fmla="val 3428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FFC66D"/>
                </a:solidFill>
                <a:latin typeface="Consolas"/>
              </a:rPr>
              <a:t>greet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f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Привет, </a:t>
            </a:r>
            <a:r>
              <a:rPr sz="1600">
                <a:solidFill>
                  <a:srgbClr val="A9B7C6"/>
                </a:solidFill>
                <a:latin typeface="Consolas"/>
              </a:rPr>
              <a:t>{</a:t>
            </a:r>
            <a:r>
              <a:rPr sz="1600">
                <a:solidFill>
                  <a:srgbClr val="A9B7C6"/>
                </a:solidFill>
                <a:latin typeface="Consolas"/>
              </a:rPr>
              <a:t>name</a:t>
            </a:r>
            <a:r>
              <a:rPr sz="1600">
                <a:solidFill>
                  <a:srgbClr val="A9B7C6"/>
                </a:solidFill>
                <a:latin typeface="Consolas"/>
              </a:rPr>
              <a:t>}</a:t>
            </a:r>
            <a:r>
              <a:rPr sz="1600">
                <a:solidFill>
                  <a:srgbClr val="6A8759"/>
                </a:solidFill>
                <a:latin typeface="Consolas"/>
              </a:rPr>
              <a:t>!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FFC66D"/>
                </a:solidFill>
                <a:latin typeface="Consolas"/>
              </a:rPr>
              <a:t>area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width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height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return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width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*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height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greet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Аня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result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area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3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4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result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greet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Ян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709160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Привет, Аня!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12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Привет, Ян!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None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Пример: is_prime(n)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Функция прячет детали: снаружи видно только имя и ответ True или False.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4175760"/>
          </a:xfrm>
          <a:prstGeom prst="roundRect">
            <a:avLst>
              <a:gd name="adj" fmla="val 2627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def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FFC66D"/>
                </a:solidFill>
                <a:latin typeface="Consolas"/>
              </a:rPr>
              <a:t>is_prime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if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&lt;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return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while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*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&lt;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CC7832"/>
                </a:solidFill>
                <a:latin typeface="Consolas"/>
              </a:rPr>
              <a:t>if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%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==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0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600">
                <a:solidFill>
                  <a:srgbClr val="CC7832"/>
                </a:solidFill>
                <a:latin typeface="Consolas"/>
              </a:rPr>
              <a:t>return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A9B7C6"/>
                </a:solidFill>
                <a:latin typeface="Consolas"/>
              </a:rPr>
              <a:t>d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+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return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CC7832"/>
                </a:solidFill>
                <a:latin typeface="Consolas"/>
              </a:rPr>
              <a:t>for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number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CC7832"/>
                </a:solidFill>
                <a:latin typeface="Consolas"/>
              </a:rPr>
              <a:t>in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8888C6"/>
                </a:solidFill>
                <a:latin typeface="Consolas"/>
              </a:rPr>
              <a:t>range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10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6897BB"/>
                </a:solidFill>
                <a:latin typeface="Consolas"/>
              </a:rPr>
              <a:t>21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</a:t>
            </a:r>
            <a:r>
              <a:rPr sz="1600">
                <a:solidFill>
                  <a:srgbClr val="CC7832"/>
                </a:solidFill>
                <a:latin typeface="Consolas"/>
              </a:rPr>
              <a:t>if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is_prime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A9B7C6"/>
                </a:solidFill>
                <a:latin typeface="Consolas"/>
              </a:rPr>
              <a:t>        </a:t>
            </a: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number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end</a:t>
            </a:r>
            <a:r>
              <a:rPr sz="1600">
                <a:solidFill>
                  <a:srgbClr val="A9B7C6"/>
                </a:solidFill>
                <a:latin typeface="Consolas"/>
              </a:rPr>
              <a:t>=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6A8759"/>
                </a:solidFill>
                <a:latin typeface="Consolas"/>
              </a:rPr>
              <a:t> </a:t>
            </a:r>
            <a:r>
              <a:rPr sz="1600">
                <a:solidFill>
                  <a:srgbClr val="6A8759"/>
                </a:solidFill>
                <a:latin typeface="Consolas"/>
              </a:rPr>
              <a:t>'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8888C6"/>
                </a:solidFill>
                <a:latin typeface="Consolas"/>
              </a:rPr>
              <a:t>print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A9B7C6"/>
                </a:solidFill>
                <a:latin typeface="Consolas"/>
              </a:rPr>
              <a:t>is_prime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97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,</a:t>
            </a:r>
            <a:r>
              <a:rPr sz="1600">
                <a:solidFill>
                  <a:srgbClr val="A9B7C6"/>
                </a:solidFill>
                <a:latin typeface="Consolas"/>
              </a:rPr>
              <a:t> </a:t>
            </a:r>
            <a:r>
              <a:rPr sz="1600">
                <a:solidFill>
                  <a:srgbClr val="A9B7C6"/>
                </a:solidFill>
                <a:latin typeface="Consolas"/>
              </a:rPr>
              <a:t>is_prime</a:t>
            </a:r>
            <a:r>
              <a:rPr sz="1600">
                <a:solidFill>
                  <a:srgbClr val="A9B7C6"/>
                </a:solidFill>
                <a:latin typeface="Consolas"/>
              </a:rPr>
              <a:t>(</a:t>
            </a:r>
            <a:r>
              <a:rPr sz="1600">
                <a:solidFill>
                  <a:srgbClr val="6897BB"/>
                </a:solidFill>
                <a:latin typeface="Consolas"/>
              </a:rPr>
              <a:t>1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  <a:r>
              <a:rPr sz="16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11 13 17 19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True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444240"/>
          </a:xfrm>
          <a:prstGeom prst="roundRect">
            <a:avLst>
              <a:gd name="adj" fmla="val 3185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Напишите функцию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square(x)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которая возвращает квадрат числа. Напечатайте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square(7)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Напишите функцию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is_even(n)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которая возвращает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или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Проверьте на 4 и на 7.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Что напечатает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print(square(3) + square(4))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? Сначала предположите, потом проверьте.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312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4 минут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Аргументы: позиционные, именованные, по умолчанию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Позиционные идут в том же порядке, что и параметры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Именованные: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power(p=4, x=3)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порядок не важен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Значение по умолчанию задаётся в определении: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p=2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Сначала позиционные аргументы, потом именованные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Параметры со значением по умолчанию идут последними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468879"/>
          </a:xfrm>
          <a:prstGeom prst="roundRect">
            <a:avLst>
              <a:gd name="adj" fmla="val 444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power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power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power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power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x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power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3977639"/>
            <a:ext cx="6613855" cy="13563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9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27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81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*args и **kwargs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*args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собирает лишние позиционные аргументы в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кортеж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**kwargs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собирает именованные аргументы в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словарь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Важны звёздочки, имена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args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kwargs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просто соглашение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Нужны, когда число аргументов заранее неизвестно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Так устроен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сколько угодно значений плюс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sep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61360"/>
          </a:xfrm>
          <a:prstGeom prst="roundRect">
            <a:avLst>
              <a:gd name="adj" fmla="val 336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show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*</a:t>
            </a:r>
            <a:r>
              <a:rPr sz="1400">
                <a:solidFill>
                  <a:srgbClr val="A9B7C6"/>
                </a:solidFill>
                <a:latin typeface="Consolas"/>
              </a:rPr>
              <a:t>args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*</a:t>
            </a:r>
            <a:r>
              <a:rPr sz="1400">
                <a:solidFill>
                  <a:srgbClr val="A9B7C6"/>
                </a:solidFill>
                <a:latin typeface="Consolas"/>
              </a:rPr>
              <a:t>*</a:t>
            </a:r>
            <a:r>
              <a:rPr sz="1400">
                <a:solidFill>
                  <a:srgbClr val="A9B7C6"/>
                </a:solidFill>
                <a:latin typeface="Consolas"/>
              </a:rPr>
              <a:t>kwargs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args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kwargs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show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2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3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show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2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name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6A8759"/>
                </a:solidFill>
                <a:latin typeface="Consolas"/>
              </a:rPr>
              <a:t>Аня</a:t>
            </a:r>
            <a:r>
              <a:rPr sz="1400">
                <a:solidFill>
                  <a:srgbClr val="6A8759"/>
                </a:solidFill>
                <a:latin typeface="Consolas"/>
              </a:rPr>
              <a:t>'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A9B7C6"/>
                </a:solidFill>
                <a:latin typeface="Consolas"/>
              </a:rPr>
              <a:t>age</a:t>
            </a:r>
            <a:r>
              <a:rPr sz="1400">
                <a:solidFill>
                  <a:srgbClr val="A9B7C6"/>
                </a:solidFill>
                <a:latin typeface="Consolas"/>
              </a:rPr>
              <a:t>=</a:t>
            </a:r>
            <a:r>
              <a:rPr sz="1400">
                <a:solidFill>
                  <a:srgbClr val="6897BB"/>
                </a:solidFill>
                <a:latin typeface="Consolas"/>
              </a:rPr>
              <a:t>19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CC7832"/>
                </a:solidFill>
                <a:latin typeface="Consolas"/>
              </a:rPr>
              <a:t>def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FFC66D"/>
                </a:solidFill>
                <a:latin typeface="Consolas"/>
              </a:rPr>
              <a:t>total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*</a:t>
            </a:r>
            <a:r>
              <a:rPr sz="1400">
                <a:solidFill>
                  <a:srgbClr val="A9B7C6"/>
                </a:solidFill>
                <a:latin typeface="Consolas"/>
              </a:rPr>
              <a:t>numbers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A9B7C6"/>
                </a:solidFill>
                <a:latin typeface="Consolas"/>
              </a:rPr>
              <a:t>    </a:t>
            </a:r>
            <a:r>
              <a:rPr sz="1400">
                <a:solidFill>
                  <a:srgbClr val="CC7832"/>
                </a:solidFill>
                <a:latin typeface="Consolas"/>
              </a:rPr>
              <a:t>return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8888C6"/>
                </a:solidFill>
                <a:latin typeface="Consolas"/>
              </a:rPr>
              <a:t>sum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numbers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8888C6"/>
                </a:solidFill>
                <a:latin typeface="Consolas"/>
              </a:rPr>
              <a:t>print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A9B7C6"/>
                </a:solidFill>
                <a:latin typeface="Consolas"/>
              </a:rPr>
              <a:t>total</a:t>
            </a:r>
            <a:r>
              <a:rPr sz="1400">
                <a:solidFill>
                  <a:srgbClr val="A9B7C6"/>
                </a:solidFill>
                <a:latin typeface="Consolas"/>
              </a:rPr>
              <a:t>(</a:t>
            </a:r>
            <a:r>
              <a:rPr sz="1400">
                <a:solidFill>
                  <a:srgbClr val="6897BB"/>
                </a:solidFill>
                <a:latin typeface="Consolas"/>
              </a:rPr>
              <a:t>1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2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3</a:t>
            </a:r>
            <a:r>
              <a:rPr sz="1400">
                <a:solidFill>
                  <a:srgbClr val="A9B7C6"/>
                </a:solidFill>
                <a:latin typeface="Consolas"/>
              </a:rPr>
              <a:t>,</a:t>
            </a:r>
            <a:r>
              <a:rPr sz="1400">
                <a:solidFill>
                  <a:srgbClr val="A9B7C6"/>
                </a:solidFill>
                <a:latin typeface="Consolas"/>
              </a:rPr>
              <a:t> </a:t>
            </a:r>
            <a:r>
              <a:rPr sz="1400">
                <a:solidFill>
                  <a:srgbClr val="6897BB"/>
                </a:solidFill>
                <a:latin typeface="Consolas"/>
              </a:rPr>
              <a:t>4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  <a:r>
              <a:rPr sz="14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770120"/>
            <a:ext cx="6613855" cy="1569720"/>
          </a:xfrm>
          <a:prstGeom prst="roundRect">
            <a:avLst>
              <a:gd name="adj" fmla="val 699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(1, 2, 3)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{}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(1, 2)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{'name': 'Аня', 'age': 19}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Несколько результатов сразу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return a, b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возвращает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кортеж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из двух значений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Скобки не обязательны: кортеж собирается по запятой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Распаковка: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lo, hi = min_max(data)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Значений может быть и три, и четыре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Если их больше четырёх, удобнее словарь: у значений будут имена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91839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min_max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min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max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data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8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15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16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42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result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min_max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data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result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type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result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lo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hi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min_max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data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lo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hi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80060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(4, 42)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&lt;class 'tuple'&gt;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4 42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Область видимости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Переменная, созданная внутри функции, локальная: снаружи её нет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Читать глобальную переменную функция может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Присваивание внутри функции создаёт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новую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локальную переменную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global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разрешает менять глобальную, но код становится непредсказуемым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Правильно: передать значение аргументом и вернуть результат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Константы пишут ЗАГЛАВНЫМИ: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MAX_ATTEMPTS =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291839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MAX_ATTEMPTS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7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add_point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        </a:t>
            </a:r>
            <a:r>
              <a:rPr sz="1800">
                <a:solidFill>
                  <a:srgbClr val="808080"/>
                </a:solidFill>
                <a:latin typeface="Consolas"/>
              </a:rPr>
              <a:t># это новая локальная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внутри: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MAX_ATTEMPTS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add_point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снаружи: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score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80060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внутри: 1 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снаружи: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444240"/>
          </a:xfrm>
          <a:prstGeom prst="roundRect">
            <a:avLst>
              <a:gd name="adj" fmla="val 3185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Напишите функцию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average(numbers)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проверьте её на списке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[4, 8, 15]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Напишите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greet(name, greeting='Привет')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 Вызовите с одним аргументом и с двумя.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Напишите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sum_and_product(a, b)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которая возвращает сумму и произведение. Распакуйте результат в две переменные и напечатайте их.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312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Функции как объекты и lambda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Функция это такое же значение, как число или строка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Имя без скобок это сама функция, со скобками это вызов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Функцию можно передать в другую функцию: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key=len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lambda x: выражение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короткая функция без имени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lambda возвращает своё выражение,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 ней не пишут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Длинную логику пишите обычным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def</a:t>
            </a:r>
            <a:r>
              <a:rPr sz="1800" b="0" i="0">
                <a:solidFill>
                  <a:srgbClr val="1A1A1A"/>
                </a:solidFill>
                <a:latin typeface="Arial"/>
              </a:rPr>
              <a:t>: так читается лучше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01752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words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python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if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модуль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8888C6"/>
                </a:solidFill>
                <a:latin typeface="Consolas"/>
              </a:rPr>
              <a:t>sorted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words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key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students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Аня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19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800">
                <a:solidFill>
                  <a:srgbClr val="A9B7C6"/>
                </a:solidFill>
                <a:latin typeface="Consolas"/>
              </a:rPr>
              <a:t>{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Ян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21</a:t>
            </a:r>
            <a:r>
              <a:rPr sz="1800">
                <a:solidFill>
                  <a:srgbClr val="A9B7C6"/>
                </a:solidFill>
                <a:latin typeface="Consolas"/>
              </a:rPr>
              <a:t>}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oldest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max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students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key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CC7832"/>
                </a:solidFill>
                <a:latin typeface="Consolas"/>
              </a:rPr>
              <a:t>lambda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s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age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oldest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name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action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action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функция лежит в переменной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526280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['if', 'python', 'модуль']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Ян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функция лежит в переменной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Docstring и аннотации типов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Docstring это строка в тройных кавычках первой строкой функции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PyCharm показывает её подсказкой при вызове: Ctrl+Q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Аннотации: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def area(r: float) -&gt; float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Python их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не проверяет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но их читают люди и PyCharm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Списки пишут как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list[float]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словари как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dict[str, int]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курсовом проекте docstring и аннотации повышают оценку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3017520"/>
          </a:xfrm>
          <a:prstGeom prst="roundRect">
            <a:avLst>
              <a:gd name="adj" fmla="val 363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average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list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8888C6"/>
                </a:solidFill>
                <a:latin typeface="Consolas"/>
              </a:rPr>
              <a:t>float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-</a:t>
            </a:r>
            <a:r>
              <a:rPr sz="1800">
                <a:solidFill>
                  <a:srgbClr val="A9B7C6"/>
                </a:solidFill>
                <a:latin typeface="Consolas"/>
              </a:rPr>
              <a:t>&gt;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float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6A8759"/>
                </a:solidFill>
                <a:latin typeface="Consolas"/>
              </a:rPr>
              <a:t>"""Среднее арифметическое списка чисел.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6A8759"/>
                </a:solidFill>
                <a:latin typeface="Consolas"/>
              </a:rPr>
              <a:t>    Пустой список не принимается.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6A8759"/>
                </a:solidFill>
                <a:latin typeface="Consolas"/>
              </a:rPr>
              <a:t>    """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sum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/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8888C6"/>
                </a:solidFill>
                <a:latin typeface="Consolas"/>
              </a:rPr>
              <a:t>len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numbers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average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8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15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average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__doc__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splitlines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897BB"/>
                </a:solidFill>
                <a:latin typeface="Consolas"/>
              </a:rPr>
              <a:t>0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526280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9.0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Среднее арифметическое списка чисел.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Свои модули: два файла рядом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Модуль это просто файл с кодом. Оба файла лежат в одной папке проекта.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306998"/>
                </a:solidFill>
                <a:latin typeface="Arial"/>
              </a:rPr>
              <a:t>Файл geometry.py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410047" cy="4114800"/>
          </a:xfrm>
          <a:prstGeom prst="roundRect">
            <a:avLst>
              <a:gd name="adj" fmla="val 2666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geometry.py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from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math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import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pi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circle_area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r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pi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rect_area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width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height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width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height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perimeter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width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height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CC7832"/>
                </a:solidFill>
                <a:latin typeface="Consolas"/>
              </a:rPr>
              <a:t>return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*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width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+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height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828800"/>
            <a:ext cx="541004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1" i="0">
                <a:solidFill>
                  <a:srgbClr val="306998"/>
                </a:solidFill>
                <a:latin typeface="Arial"/>
              </a:rPr>
              <a:t>Файл main.py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240280"/>
            <a:ext cx="5410047" cy="3291839"/>
          </a:xfrm>
          <a:prstGeom prst="roundRect">
            <a:avLst>
              <a:gd name="adj" fmla="val 3333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main.py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import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geometry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from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geometry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import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rect_area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geometry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circle_area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rect_area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geometry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perimeter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4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короткое имя модуля: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import geometry as geo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08080"/>
                </a:solidFill>
                <a:latin typeface="Consolas"/>
              </a:rPr>
              <a:t># geo.circle_area(2)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if __name__ == '__main__'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При импорте Python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выполняет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весь код модуля сверху вниз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Поэтому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print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на верхнем уровне модуля сработает при импорте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__name__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равно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'__main__'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только у запущенного файла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У импортированного модуля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__name__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это его имя: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geometry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Поэтому запуск прячут внутрь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if __name__ == '__main__':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В курсовом проекте такая точка входа обязательна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__name__ =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__name__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def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FFC66D"/>
                </a:solidFill>
                <a:latin typeface="Consolas"/>
              </a:rPr>
              <a:t>main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игра началась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if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__name__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__main__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    </a:t>
            </a:r>
            <a:r>
              <a:rPr sz="1800">
                <a:solidFill>
                  <a:srgbClr val="A9B7C6"/>
                </a:solidFill>
                <a:latin typeface="Consolas"/>
              </a:rPr>
              <a:t>main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9296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__name__ = __main__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игра началась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Попробуй сам №3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444240"/>
          </a:xfrm>
          <a:prstGeom prst="roundRect">
            <a:avLst>
              <a:gd name="adj" fmla="val 3185"/>
            </a:avLst>
          </a:prstGeom>
          <a:solidFill>
            <a:srgbClr val="FFF4CC"/>
          </a:solidFill>
          <a:ln>
            <a:noFill/>
          </a:ln>
        </p:spPr>
        <p:txBody>
          <a:bodyPr rtlCol="0" anchor="t" wrap="square" lIns="365760" rIns="365760" tIns="320040" bIns="109728">
            <a:noAutofit/>
          </a:bodyPr>
          <a:lstStyle/>
          <a:p>
            <a:pPr algn="l"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1.  Создайте рядом с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файл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helpers.py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перенесите туда функции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average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is_prime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2. 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напишите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import helpers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вызовите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helpers.average([4, 8, 15])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>
              <a:spcAft>
                <a:spcPts val="1600"/>
              </a:spcAft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3.  Соберите запуск в функцию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main()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 вызовите её из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if __name__ == '__main__':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43129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300"/>
            </a:pPr>
            <a:r>
              <a:rPr sz="1300" b="0" i="0">
                <a:solidFill>
                  <a:srgbClr val="5F6B7A"/>
                </a:solidFill>
                <a:latin typeface="Arial"/>
              </a:rPr>
              <a:t>≈ 5 минут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Стандартная библиотека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4206240" cy="5029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Стандартная библиотека ставится вместе с Python: сотни готовых модулей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import math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затем обращение через точку: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math.sqrt(16)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from random import randint, choice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берёт имена прямо в свой код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F5F8B"/>
                </a:solidFill>
                <a:latin typeface="Consolas"/>
              </a:rPr>
              <a:t>import random as rnd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даёт модулю короткое имя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Импорты пишут в самом верху файла</a:t>
            </a:r>
          </a:p>
          <a:p>
            <a:pPr marL="256032" indent="-256032">
              <a:spcAft>
                <a:spcPts val="800"/>
              </a:spcAft>
              <a:buClr>
                <a:srgbClr val="306998"/>
              </a:buClr>
              <a:buChar char="•"/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Ещё пригодятся: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datetime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json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os</a:t>
            </a:r>
            <a:r>
              <a:rPr sz="18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800" b="0" i="0">
                <a:solidFill>
                  <a:srgbClr val="1F5F8B"/>
                </a:solidFill>
                <a:latin typeface="Consolas"/>
              </a:rPr>
              <a:t>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9" y="1325880"/>
            <a:ext cx="6613855" cy="2743199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import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math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CC7832"/>
                </a:solidFill>
                <a:latin typeface="Consolas"/>
              </a:rPr>
              <a:t>from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random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CC7832"/>
                </a:solidFill>
                <a:latin typeface="Consolas"/>
              </a:rPr>
              <a:t>import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randint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choice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math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sqrt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16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math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pi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math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floor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3.7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math</a:t>
            </a:r>
            <a:r>
              <a:rPr sz="1800">
                <a:solidFill>
                  <a:srgbClr val="A9B7C6"/>
                </a:solidFill>
                <a:latin typeface="Consolas"/>
              </a:rPr>
              <a:t>.</a:t>
            </a:r>
            <a:r>
              <a:rPr sz="1800">
                <a:solidFill>
                  <a:srgbClr val="A9B7C6"/>
                </a:solidFill>
                <a:latin typeface="Consolas"/>
              </a:rPr>
              <a:t>ceil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3.2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randint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6897BB"/>
                </a:solidFill>
                <a:latin typeface="Consolas"/>
              </a:rPr>
              <a:t>1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897BB"/>
                </a:solidFill>
                <a:latin typeface="Consolas"/>
              </a:rPr>
              <a:t>6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=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choice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[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кот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пёс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6A8759"/>
                </a:solidFill>
                <a:latin typeface="Consolas"/>
              </a:rPr>
              <a:t>ёж</a:t>
            </a:r>
            <a:r>
              <a:rPr sz="1800">
                <a:solidFill>
                  <a:srgbClr val="6A8759"/>
                </a:solidFill>
                <a:latin typeface="Consolas"/>
              </a:rPr>
              <a:t>'</a:t>
            </a:r>
            <a:r>
              <a:rPr sz="1800">
                <a:solidFill>
                  <a:srgbClr val="A9B7C6"/>
                </a:solidFill>
                <a:latin typeface="Consolas"/>
              </a:rPr>
              <a:t>]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800">
                <a:latin typeface="Consolas"/>
              </a:defRPr>
            </a:pPr>
            <a:r>
              <a:rPr sz="1800">
                <a:solidFill>
                  <a:srgbClr val="8888C6"/>
                </a:solidFill>
                <a:latin typeface="Consolas"/>
              </a:rPr>
              <a:t>print</a:t>
            </a:r>
            <a:r>
              <a:rPr sz="1800">
                <a:solidFill>
                  <a:srgbClr val="A9B7C6"/>
                </a:solidFill>
                <a:latin typeface="Consolas"/>
              </a:rPr>
              <a:t>(</a:t>
            </a:r>
            <a:r>
              <a:rPr sz="1800">
                <a:solidFill>
                  <a:srgbClr val="A9B7C6"/>
                </a:solidFill>
                <a:latin typeface="Consolas"/>
              </a:rPr>
              <a:t>number</a:t>
            </a:r>
            <a:r>
              <a:rPr sz="1800">
                <a:solidFill>
                  <a:srgbClr val="A9B7C6"/>
                </a:solidFill>
                <a:latin typeface="Consolas"/>
              </a:rPr>
              <a:t>,</a:t>
            </a:r>
            <a:r>
              <a:rPr sz="1800">
                <a:solidFill>
                  <a:srgbClr val="A9B7C6"/>
                </a:solidFill>
                <a:latin typeface="Consolas"/>
              </a:rPr>
              <a:t> </a:t>
            </a:r>
            <a:r>
              <a:rPr sz="1800">
                <a:solidFill>
                  <a:srgbClr val="A9B7C6"/>
                </a:solidFill>
                <a:latin typeface="Consolas"/>
              </a:rPr>
              <a:t>word</a:t>
            </a:r>
            <a:r>
              <a:rPr sz="18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199" y="4251959"/>
            <a:ext cx="6613855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4.0 3.141592653589793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3 4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5 пёс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Игра «Угадай число»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114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800"/>
            </a:pPr>
            <a:r>
              <a:rPr sz="1800" b="0" i="0">
                <a:solidFill>
                  <a:srgbClr val="1A1A1A"/>
                </a:solidFill>
                <a:latin typeface="Arial"/>
              </a:rPr>
              <a:t>Функция, константа, цикл и random: программа на 20 строк, из которой вырастет задача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613855" cy="4434840"/>
          </a:xfrm>
          <a:prstGeom prst="roundRect">
            <a:avLst>
              <a:gd name="adj" fmla="val 2474"/>
            </a:avLst>
          </a:prstGeom>
          <a:solidFill>
            <a:srgbClr val="2B2B2B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from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random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CC7832"/>
                </a:solidFill>
                <a:latin typeface="Consolas"/>
              </a:rPr>
              <a:t>import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randint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MAX_ATTEMPTS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897BB"/>
                </a:solidFill>
                <a:latin typeface="Consolas"/>
              </a:rPr>
              <a:t>7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CC7832"/>
                </a:solidFill>
                <a:latin typeface="Consolas"/>
              </a:rPr>
              <a:t>def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FFC66D"/>
                </a:solidFill>
                <a:latin typeface="Consolas"/>
              </a:rPr>
              <a:t>play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A9B7C6"/>
                </a:solidFill>
                <a:latin typeface="Consolas"/>
              </a:rPr>
              <a:t>secret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randint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897BB"/>
                </a:solidFill>
                <a:latin typeface="Consolas"/>
              </a:rPr>
              <a:t>1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897BB"/>
                </a:solidFill>
                <a:latin typeface="Consolas"/>
              </a:rPr>
              <a:t>100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for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attempt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CC7832"/>
                </a:solidFill>
                <a:latin typeface="Consolas"/>
              </a:rPr>
              <a:t>in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range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897BB"/>
                </a:solidFill>
                <a:latin typeface="Consolas"/>
              </a:rPr>
              <a:t>1</a:t>
            </a:r>
            <a:r>
              <a:rPr sz="1300">
                <a:solidFill>
                  <a:srgbClr val="A9B7C6"/>
                </a:solidFill>
                <a:latin typeface="Consolas"/>
              </a:rPr>
              <a:t>,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MAX_ATTEMPTS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+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6897BB"/>
                </a:solidFill>
                <a:latin typeface="Consolas"/>
              </a:rPr>
              <a:t>1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A9B7C6"/>
                </a:solidFill>
                <a:latin typeface="Consolas"/>
              </a:rPr>
              <a:t>guess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8888C6"/>
                </a:solidFill>
                <a:latin typeface="Consolas"/>
              </a:rPr>
              <a:t>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8888C6"/>
                </a:solidFill>
                <a:latin typeface="Consolas"/>
              </a:rPr>
              <a:t>input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f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Попытка </a:t>
            </a:r>
            <a:r>
              <a:rPr sz="1300">
                <a:solidFill>
                  <a:srgbClr val="A9B7C6"/>
                </a:solidFill>
                <a:latin typeface="Consolas"/>
              </a:rPr>
              <a:t>{</a:t>
            </a:r>
            <a:r>
              <a:rPr sz="1300">
                <a:solidFill>
                  <a:srgbClr val="A9B7C6"/>
                </a:solidFill>
                <a:latin typeface="Consolas"/>
              </a:rPr>
              <a:t>attempt</a:t>
            </a:r>
            <a:r>
              <a:rPr sz="1300">
                <a:solidFill>
                  <a:srgbClr val="A9B7C6"/>
                </a:solidFill>
                <a:latin typeface="Consolas"/>
              </a:rPr>
              <a:t>}</a:t>
            </a:r>
            <a:r>
              <a:rPr sz="1300">
                <a:solidFill>
                  <a:srgbClr val="6A8759"/>
                </a:solidFill>
                <a:latin typeface="Consolas"/>
              </a:rPr>
              <a:t>: 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if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guess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==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secret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f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Угадал за </a:t>
            </a:r>
            <a:r>
              <a:rPr sz="1300">
                <a:solidFill>
                  <a:srgbClr val="A9B7C6"/>
                </a:solidFill>
                <a:latin typeface="Consolas"/>
              </a:rPr>
              <a:t>{</a:t>
            </a:r>
            <a:r>
              <a:rPr sz="1300">
                <a:solidFill>
                  <a:srgbClr val="A9B7C6"/>
                </a:solidFill>
                <a:latin typeface="Consolas"/>
              </a:rPr>
              <a:t>attempt</a:t>
            </a:r>
            <a:r>
              <a:rPr sz="1300">
                <a:solidFill>
                  <a:srgbClr val="A9B7C6"/>
                </a:solidFill>
                <a:latin typeface="Consolas"/>
              </a:rPr>
              <a:t>}</a:t>
            </a:r>
            <a:r>
              <a:rPr sz="1300">
                <a:solidFill>
                  <a:srgbClr val="6A8759"/>
                </a:solidFill>
                <a:latin typeface="Consolas"/>
              </a:rPr>
              <a:t>!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CC7832"/>
                </a:solidFill>
                <a:latin typeface="Consolas"/>
              </a:rPr>
              <a:t>True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if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guess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&lt;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A9B7C6"/>
                </a:solidFill>
                <a:latin typeface="Consolas"/>
              </a:rPr>
              <a:t>secret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Загадано больше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</a:t>
            </a:r>
            <a:r>
              <a:rPr sz="1300">
                <a:solidFill>
                  <a:srgbClr val="CC7832"/>
                </a:solidFill>
                <a:latin typeface="Consolas"/>
              </a:rPr>
              <a:t>else</a:t>
            </a:r>
            <a:r>
              <a:rPr sz="1300">
                <a:solidFill>
                  <a:srgbClr val="A9B7C6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        </a:t>
            </a: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Загадано меньше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8888C6"/>
                </a:solidFill>
                <a:latin typeface="Consolas"/>
              </a:rPr>
              <a:t>print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6A8759"/>
                </a:solidFill>
                <a:latin typeface="Consolas"/>
              </a:rPr>
              <a:t>f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6A8759"/>
                </a:solidFill>
                <a:latin typeface="Consolas"/>
              </a:rPr>
              <a:t>Попытки кончились, было </a:t>
            </a:r>
            <a:r>
              <a:rPr sz="1300">
                <a:solidFill>
                  <a:srgbClr val="A9B7C6"/>
                </a:solidFill>
                <a:latin typeface="Consolas"/>
              </a:rPr>
              <a:t>{</a:t>
            </a:r>
            <a:r>
              <a:rPr sz="1300">
                <a:solidFill>
                  <a:srgbClr val="A9B7C6"/>
                </a:solidFill>
                <a:latin typeface="Consolas"/>
              </a:rPr>
              <a:t>secret</a:t>
            </a:r>
            <a:r>
              <a:rPr sz="1300">
                <a:solidFill>
                  <a:srgbClr val="A9B7C6"/>
                </a:solidFill>
                <a:latin typeface="Consolas"/>
              </a:rPr>
              <a:t>}</a:t>
            </a:r>
            <a:r>
              <a:rPr sz="1300">
                <a:solidFill>
                  <a:srgbClr val="6A8759"/>
                </a:solidFill>
                <a:latin typeface="Consolas"/>
              </a:rPr>
              <a:t>'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    </a:t>
            </a:r>
            <a:r>
              <a:rPr sz="1300">
                <a:solidFill>
                  <a:srgbClr val="CC7832"/>
                </a:solidFill>
                <a:latin typeface="Consolas"/>
              </a:rPr>
              <a:t>return</a:t>
            </a:r>
            <a:r>
              <a:rPr sz="1300">
                <a:solidFill>
                  <a:srgbClr val="A9B7C6"/>
                </a:solidFill>
                <a:latin typeface="Consolas"/>
              </a:rPr>
              <a:t> </a:t>
            </a:r>
            <a:r>
              <a:rPr sz="1300">
                <a:solidFill>
                  <a:srgbClr val="CC7832"/>
                </a:solidFill>
                <a:latin typeface="Consolas"/>
              </a:rPr>
              <a:t>False</a:t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latin typeface="Consolas"/>
              </a:rPr>
              <a:t/>
            </a:r>
          </a:p>
          <a:p>
            <a:pPr>
              <a:spcAft>
                <a:spcPts val="0"/>
              </a:spcAft>
              <a:defRPr sz="1300">
                <a:latin typeface="Consolas"/>
              </a:defRPr>
            </a:pPr>
            <a:r>
              <a:rPr sz="1300">
                <a:solidFill>
                  <a:srgbClr val="A9B7C6"/>
                </a:solidFill>
                <a:latin typeface="Consolas"/>
              </a:rPr>
              <a:t>play</a:t>
            </a:r>
            <a:r>
              <a:rPr sz="1300">
                <a:solidFill>
                  <a:srgbClr val="A9B7C6"/>
                </a:solidFill>
                <a:latin typeface="Consolas"/>
              </a:rPr>
              <a:t>(</a:t>
            </a:r>
            <a:r>
              <a:rPr sz="1300">
                <a:solidFill>
                  <a:srgbClr val="A9B7C6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36815" y="1828800"/>
            <a:ext cx="4206240" cy="1783080"/>
          </a:xfrm>
          <a:prstGeom prst="roundRect">
            <a:avLst>
              <a:gd name="adj" fmla="val 6153"/>
            </a:avLst>
          </a:prstGeom>
          <a:solidFill>
            <a:srgbClr val="F4F6F8"/>
          </a:solidFill>
          <a:ln>
            <a:noFill/>
          </a:ln>
        </p:spPr>
        <p:txBody>
          <a:bodyPr rtlCol="0" anchor="t" wrap="none" lIns="137160" rIns="137160" tIns="109728" bIns="109728">
            <a:noAutofit/>
          </a:bodyPr>
          <a:lstStyle/>
          <a:p>
            <a:pPr algn="l">
              <a:spcAft>
                <a:spcPts val="20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Вывод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Попытка 1: 50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Загадано меньше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Попытка 2: 25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Загадано больше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Попытка 3: 37</a:t>
            </a:r>
          </a:p>
          <a:p>
            <a:pPr>
              <a:spcAft>
                <a:spcPts val="0"/>
              </a:spcAft>
              <a:defRPr sz="1400"/>
            </a:pPr>
            <a:r>
              <a:rPr sz="1400" b="0" i="0">
                <a:solidFill>
                  <a:srgbClr val="1A1A1A"/>
                </a:solidFill>
                <a:latin typeface="Consolas"/>
              </a:rPr>
              <a:t>Угадал за 3!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Частые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f(x):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    x *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32588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Забыт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: функция посчитала и выбросила результат, снаружи будет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None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50720"/>
            <a:ext cx="4206240" cy="7315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add(x, items=[]):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199" y="1950720"/>
            <a:ext cx="6613855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Изменяемое значение по умолчанию создаётся один раз и живёт между вызовами. Пишите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items=None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а список создавайте внутри.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1940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sum = 0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print(sum(nums))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9" y="281940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Имя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sum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закрыло встроенную функцию. Назовите переменную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total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4424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greet('Аня')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def greet(name):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199" y="34442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Вызов выше определения: NameError. Сначала </a:t>
            </a:r>
            <a:r>
              <a:rPr sz="1600" b="0" i="0">
                <a:solidFill>
                  <a:srgbClr val="1F5F8B"/>
                </a:solidFill>
                <a:latin typeface="Consolas"/>
              </a:rPr>
              <a:t>def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потом вызов.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38600"/>
            <a:ext cx="4206240" cy="48768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global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4038600"/>
            <a:ext cx="6613855" cy="487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F5F8B"/>
                </a:solidFill>
                <a:latin typeface="Consolas"/>
              </a:rPr>
              <a:t>global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в каждой функции: кто и когда меняет значение, уже не найти. Передавайте аргументы и возвращайте результат.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63440"/>
            <a:ext cx="4206240" cy="4572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>
            <a:noFill/>
          </a:ln>
        </p:spPr>
        <p:txBody>
          <a:bodyPr rtlCol="0" anchor="ctr" wrap="square" lIns="137160" rIns="137160" tIns="54864" bIns="54864">
            <a:noAutofit/>
          </a:bodyPr>
          <a:lstStyle/>
          <a:p>
            <a:pPr algn="l"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import geometry</a:t>
            </a:r>
          </a:p>
          <a:p>
            <a:pPr>
              <a:spcAft>
                <a:spcPts val="0"/>
              </a:spcAft>
              <a:defRPr sz="1300"/>
            </a:pPr>
            <a:r>
              <a:rPr sz="1300" b="0" i="0">
                <a:solidFill>
                  <a:srgbClr val="A61B1B"/>
                </a:solidFill>
                <a:latin typeface="Consolas"/>
              </a:rPr>
              <a:t># файл в другой папке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4663440"/>
            <a:ext cx="6613855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Aft>
                <a:spcPts val="0"/>
              </a:spcAft>
              <a:defRPr sz="1600"/>
            </a:pPr>
            <a:r>
              <a:rPr sz="1600" b="0" i="0">
                <a:solidFill>
                  <a:srgbClr val="1A1A1A"/>
                </a:solidFill>
                <a:latin typeface="Arial"/>
              </a:rPr>
              <a:t>ModuleNotFoundError: модуль ищется рядом с запущенным файлом.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Итоги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937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Функция это имя для куска кода: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def имя(параметры):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вызов с аргументами.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отдаёт результат и завершает функцию, без него получается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None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Аргументы бывают позиционные и именованные, у параметров бывают значения по умолчанию.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F5F8B"/>
                </a:solidFill>
                <a:latin typeface="Consolas"/>
              </a:rPr>
              <a:t>*args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собирает лишние позиционные в кортеж,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**kwargs</a:t>
            </a:r>
            <a:r>
              <a:rPr sz="2000" b="0" i="0">
                <a:solidFill>
                  <a:srgbClr val="1A1A1A"/>
                </a:solidFill>
                <a:latin typeface="Arial"/>
              </a:rPr>
              <a:t> именованные в словарь.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Переменные внутри функции локальные: общаться лучше через аргументы и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56032" indent="-256032">
              <a:spcAft>
                <a:spcPts val="1400"/>
              </a:spcAft>
              <a:buClr>
                <a:srgbClr val="306998"/>
              </a:buClr>
              <a:buChar char="✓"/>
              <a:defRPr sz="2000"/>
            </a:pPr>
            <a:r>
              <a:rPr sz="2000" b="0" i="0">
                <a:solidFill>
                  <a:srgbClr val="1A1A1A"/>
                </a:solidFill>
                <a:latin typeface="Arial"/>
              </a:rPr>
              <a:t>Модуль это файл: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import geometry</a:t>
            </a:r>
            <a:r>
              <a:rPr sz="2000" b="0" i="0">
                <a:solidFill>
                  <a:srgbClr val="1A1A1A"/>
                </a:solidFill>
                <a:latin typeface="Arial"/>
              </a:rPr>
              <a:t>, а запуск прячем в </a:t>
            </a:r>
            <a:r>
              <a:rPr sz="2000" b="0" i="0">
                <a:solidFill>
                  <a:srgbClr val="1F5F8B"/>
                </a:solidFill>
                <a:latin typeface="Consolas"/>
              </a:rPr>
              <a:t>if __name__ == '__main__':</a:t>
            </a:r>
            <a:r>
              <a:rPr sz="20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8351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1. </a:t>
            </a:r>
            <a:r>
              <a:rPr sz="1700" b="1">
                <a:solidFill>
                  <a:srgbClr val="C99700"/>
                </a:solidFill>
                <a:latin typeface="Arial"/>
              </a:rPr>
              <a:t>★ </a:t>
            </a:r>
            <a:r>
              <a:rPr sz="1700" b="1">
                <a:solidFill>
                  <a:srgbClr val="1A1A1A"/>
                </a:solidFill>
                <a:latin typeface="Arial"/>
              </a:rPr>
              <a:t>Модуль helpers.py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Создайте модуль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helpers.py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с функциями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is_palindrome(text)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(без учёта регистра)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digits_sum(n)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 В файле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main.py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прочитайте строку и число, каждое на своей строке, и напечатайте два ответа, как в примере.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61032"/>
            <a:ext cx="3291840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Anna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61032"/>
            <a:ext cx="7528255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Anna: палиндром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1234: сумма цифр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7688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2.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«Угадай число» с попытками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Программа загадывает число от 1 до 100 и даёт 7 попыток, подсказывая после каждой «загадано больше» или «загадано меньше». После партии спрашивает про новую игру: ответ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да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начинает её. Числа вводятся по одному в строке, последняя строка это ответ про повтор.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01440"/>
            <a:ext cx="3291840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50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6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901440"/>
            <a:ext cx="7528255" cy="1499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Попытка 1: 50 ... Загадано меньше ... Угадали! Попыток: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3.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Генератор паролей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Функция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make_password(length=8, use_digits=True, use_specials=False)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возвращает случайный пароль. Прочитайте длину и напечатайте три пароля: по умолчанию, нужной длины и нужной длины со спецсимволами. Пароли каждый раз разные.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hK3mZq7tRb2w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n2QwLp8xRt4v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Zt7#qL2m!xPd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9168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4.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Статистика списка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Функция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stats(numbers)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возвращает кортеж: минимум, максимум, среднее и медиану. Медиана это середина отсортированного списка, а при чётной длине среднее двух середин. Первая строка ввода это количество чисел, дальше числа по одному в строке.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12920"/>
            <a:ext cx="3291840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3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4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8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312920"/>
            <a:ext cx="7528255" cy="7680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min=4.00 max=15.00 mean=9.00 median=8.00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3000"/>
            </a:pPr>
            <a:r>
              <a:rPr sz="3000" b="1" i="0">
                <a:solidFill>
                  <a:srgbClr val="306998"/>
                </a:solidFill>
                <a:latin typeface="Arial"/>
              </a:rPr>
              <a:t>Задачи (продолжение)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  <a:defRPr sz="1000"/>
            </a:pPr>
            <a:r>
              <a:rPr sz="1000" b="0" i="0">
                <a:solidFill>
                  <a:srgbClr val="5F6B7A"/>
                </a:solidFill>
                <a:latin typeface="Arial"/>
              </a:rPr>
              <a:t>Урок 4 ·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5.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Калькулятор на словаре функций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Соберите словарь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{'+': lambda a, b: a + b, ...}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для четырёх действий. Прочитайте первое число, знак операции и второе число, каждое на своей строке. Для неизвестного знака напечатайте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неизвестная операция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для деления на ноль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на ноль делить нельзя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89632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12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*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89632"/>
            <a:ext cx="752825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60.0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9168"/>
            <a:ext cx="11094415" cy="1063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Arial"/>
              </a:rPr>
              <a:t>6. </a:t>
            </a:r>
            <a:r>
              <a:rPr sz="1700" b="1">
                <a:solidFill>
                  <a:srgbClr val="C99700"/>
                </a:solidFill>
                <a:latin typeface="Arial"/>
              </a:rPr>
              <a:t>★★★ </a:t>
            </a:r>
            <a:r>
              <a:rPr sz="1700" b="1">
                <a:solidFill>
                  <a:srgbClr val="1A1A1A"/>
                </a:solidFill>
                <a:latin typeface="Arial"/>
              </a:rPr>
              <a:t>Рекурсия</a:t>
            </a:r>
            <a:r>
              <a:rPr sz="1300">
                <a:solidFill>
                  <a:srgbClr val="5F6B7A"/>
                </a:solidFill>
                <a:latin typeface="Arial"/>
              </a:rPr>
              <a:t>   по желанию</a:t>
            </a:r>
          </a:p>
          <a:p>
            <a:pPr>
              <a:spcAft>
                <a:spcPts val="0"/>
              </a:spcAft>
              <a:defRPr sz="1500"/>
            </a:pPr>
            <a:r>
              <a:rPr sz="1500" b="0" i="0">
                <a:solidFill>
                  <a:srgbClr val="1A1A1A"/>
                </a:solidFill>
                <a:latin typeface="Arial"/>
              </a:rPr>
              <a:t>Функция вызывает саму себя, пока не дойдёт до простого случая. Напишите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factorial(n)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fib(n)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(первые два числа Фибоначчи равны 1) через рекурсию. Прочитайте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напечатайте оба значения через пробел. Попробуйте </a:t>
            </a:r>
            <a:r>
              <a:rPr sz="1500" b="0" i="0">
                <a:solidFill>
                  <a:srgbClr val="1F5F8B"/>
                </a:solidFill>
                <a:latin typeface="Consolas"/>
              </a:rPr>
              <a:t>n = 35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и подумайте, почему так долго.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12920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5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120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4312920"/>
            <a:ext cx="5364327" cy="4023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Ввод:  10</a:t>
            </a:r>
          </a:p>
          <a:p>
            <a:pPr>
              <a:spcAft>
                <a:spcPts val="0"/>
              </a:spcAft>
              <a:defRPr sz="1200"/>
            </a:pPr>
            <a:r>
              <a:rPr sz="1200" b="0" i="0">
                <a:solidFill>
                  <a:srgbClr val="3B4252"/>
                </a:solidFill>
                <a:latin typeface="Consolas"/>
              </a:rPr>
              <a:t>Вывод: 3628800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