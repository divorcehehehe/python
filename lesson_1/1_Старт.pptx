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Представиться, сказать, что курс факультативный и практический: каждая пара заканчивается задачами, курс заканчивается своей игрой.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задерживаться, две минуты. Цель слайда: язык прикладной, а не учебный.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терминал Windows и команду. Студенты ставят дома, на паре достаточно PyCharm.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Сделать всё это вживую, медленно. Показать, где окно Run и где Python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Спросить: сколько будет 10 / 5? Многие скажут 2, а не 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Хороший момент для интереса: это не баг Python, а устройство float. Задача 5 в конце пары как раз про это. Частый вопрос: round «чинит» число? Нет, round меняет вид, а не точность: round(0.1 + 0.2, 2) == 0.3 тоже даёт False, потому что 0.3 сам по себе неточен; для сравнения только разность.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Ответы:</a:t>
            </a:r>
          </a:p>
          <a:p>
            <a:r>
              <a:t>1. 7 * 24 * 60 * 60 = 604800</a:t>
            </a:r>
          </a:p>
          <a:p>
            <a:r>
              <a:t>2. 1.0, потому что / всегда даёт float</a:t>
            </a:r>
          </a:p>
          <a:p>
            <a:r>
              <a:t>3. 3 и 2: частное и остаток от деления</a:t>
            </a:r>
          </a:p>
          <a:p>
            <a:r>
              <a:t>4. 1267650600228229401496703205376, 31 цифра; быстрый способ len(str(2 ** 100))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вживую, что будет при вводе букв вместо числа: ValueError.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Ответы:</a:t>
            </a:r>
          </a:p>
          <a:p>
            <a:r>
              <a:t>1. name = input(); year = int(input()); print(f'{name}, в 2030 году тебе будет {2030 - year} лет')</a:t>
            </a:r>
          </a:p>
          <a:p>
            <a:r>
              <a:t>2. a = float(input()); b = float(input()); print(f'{(a + b) / 2:.2f}')</a:t>
            </a:r>
          </a:p>
          <a:p>
            <a:r>
              <a:t>3. price = float(input()); discount = float(input()); print(f'{price * (1 - discount / 100):.2f}')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 про bool('False') до запуска: строка непустая, значит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Спросить: что выведет при 90? при 100? при -5? Разобрать порядок проверки веток.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Ответы:</a:t>
            </a:r>
          </a:p>
          <a:p>
            <a:r>
              <a:t>1. n = int(input())</a:t>
            </a:r>
          </a:p>
          <a:p>
            <a:r>
              <a:t>if n % 2 == 0:</a:t>
            </a:r>
          </a:p>
          <a:p>
            <a:r>
              <a:t>    print('чётное')</a:t>
            </a:r>
          </a:p>
          <a:p>
            <a:r>
              <a:t>else:</a:t>
            </a:r>
          </a:p>
          <a:p>
            <a:r>
              <a:t>    print('нечётное')</a:t>
            </a:r>
          </a:p>
          <a:p>
            <a:r>
              <a:t>2. year = int(input())</a:t>
            </a:r>
          </a:p>
          <a:p>
            <a:r>
              <a:t>leap = (year % 4 == 0 and year % 100 != 0) or year % 400 == 0</a:t>
            </a:r>
          </a:p>
          <a:p>
            <a:r>
              <a:t>print(leap)</a:t>
            </a:r>
          </a:p>
          <a:p>
            <a:r>
              <a:t>3. a = int(input())</a:t>
            </a:r>
          </a:p>
          <a:p>
            <a:r>
              <a:t>b = int(input())</a:t>
            </a:r>
          </a:p>
          <a:p>
            <a:r>
              <a:t>c = int(input())</a:t>
            </a:r>
          </a:p>
          <a:p>
            <a:r>
              <a:t>if a &gt;= b and a &gt;= c:</a:t>
            </a:r>
          </a:p>
          <a:p>
            <a:r>
              <a:t>    print(a)</a:t>
            </a:r>
          </a:p>
          <a:p>
            <a:r>
              <a:t>elif b &gt;= c:</a:t>
            </a:r>
          </a:p>
          <a:p>
            <a:r>
              <a:t>    print(b)</a:t>
            </a:r>
          </a:p>
          <a:p>
            <a:r>
              <a:t>else:</a:t>
            </a:r>
          </a:p>
          <a:p>
            <a:r>
              <a:t>    print(c)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Задачи 1–4 обязательные к следующей паре, пятая для тех, кому мало.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FD43B"/>
          </a:solidFill>
          <a:ln>
            <a:noFill/>
          </a:ln>
        </p:spPr>
        <p:txBody>
          <a:bodyPr rtlCol="0" anchor="ctr" wrap="square" lIns="137160" rIns="137160">
            <a:noAutofit/>
          </a:bodyPr>
          <a:lstStyle/>
          <a:p>
            <a:pPr algn="ctr">
              <a:spcAft>
                <a:spcPts val="0"/>
              </a:spcAft>
              <a:defRPr sz="1500"/>
            </a:pPr>
            <a:r>
              <a:rPr sz="1500" b="1" i="0">
                <a:solidFill>
                  <a:srgbClr val="14213D"/>
                </a:solidFill>
                <a:latin typeface="Arial"/>
              </a:rPr>
              <a:t>УРОК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4000"/>
            </a:pPr>
            <a:r>
              <a:rPr sz="4000" b="1" i="0">
                <a:solidFill>
                  <a:srgbClr val="FFFFFF"/>
                </a:solidFill>
                <a:latin typeface="Arial"/>
              </a:rPr>
              <a:t>Старт: числа, строки, условия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2000"/>
            </a:pPr>
            <a:r>
              <a:rPr sz="2000" b="0" i="0">
                <a:solidFill>
                  <a:srgbClr val="DCE3F0"/>
                </a:solidFill>
                <a:latin typeface="Arial"/>
              </a:rPr>
              <a:t>Написать программу, которая читает данные, считает и печатает ответ, ветвясь по условию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200"/>
              </a:spcAft>
              <a:defRPr sz="1400"/>
            </a:pPr>
            <a:r>
              <a:rPr sz="1400" b="0" i="0">
                <a:solidFill>
                  <a:srgbClr val="AAB4C8"/>
                </a:solidFill>
                <a:latin typeface="Arial"/>
              </a:rPr>
              <a:t>Кравчинский Сергей Андреевич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AAB4C8"/>
                </a:solidFill>
                <a:latin typeface="Arial"/>
              </a:rPr>
              <a:t>kravchinskiy.sa@gmail.com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Зачем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Python сегодня везде:</a:t>
            </a:r>
          </a:p>
          <a:p>
            <a:pPr marL="256032" indent="-256032">
              <a:spcAft>
                <a:spcPts val="6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анализ данных и наука: numpy, pandas, Jupyter</a:t>
            </a:r>
          </a:p>
          <a:p>
            <a:pPr marL="256032" indent="-256032">
              <a:spcAft>
                <a:spcPts val="6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веб и боты: Django, FastAPI, aiogram</a:t>
            </a:r>
          </a:p>
          <a:p>
            <a:pPr marL="256032" indent="-256032">
              <a:spcAft>
                <a:spcPts val="6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автоматизация рутины: файлы, отчёты, парсинг сайтов</a:t>
            </a:r>
          </a:p>
          <a:p>
            <a:pPr marL="256032" indent="-256032">
              <a:spcAft>
                <a:spcPts val="6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машинное обучение: PyTorch, scikit-learn</a:t>
            </a:r>
          </a:p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>
              <a:spcAft>
                <a:spcPts val="1000"/>
              </a:spcAft>
              <a:defRPr sz="1800"/>
            </a:pPr>
            <a:r>
              <a:rPr sz="1800" b="1" i="0">
                <a:solidFill>
                  <a:srgbClr val="1A1A1A"/>
                </a:solidFill>
                <a:latin typeface="Arial"/>
              </a:rPr>
              <a:t>Почему на курсе именно он: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простой синтаксис, огромная стандартная библиотека, код читается почти как псевдокод. Первую полезную программу напишем сегодня.</a:t>
            </a:r>
          </a:p>
          <a:p>
            <a:pPr>
              <a:spcAft>
                <a:spcPts val="1000"/>
              </a:spcAft>
              <a:defRPr sz="1800"/>
            </a:pPr>
            <a:r>
              <a:rPr sz="1800" b="1" i="0">
                <a:solidFill>
                  <a:srgbClr val="1A1A1A"/>
                </a:solidFill>
                <a:latin typeface="Arial"/>
              </a:rPr>
              <a:t>Минусы честно: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медленнее C и Java, а ошибки типов всплывают только при запуске. Для наших задач это не помеха.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Установка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1" i="0">
                <a:solidFill>
                  <a:srgbClr val="1A1A1A"/>
                </a:solidFill>
                <a:latin typeface="Arial"/>
              </a:rPr>
              <a:t>Python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python.org, кнопка Download. При установке поставить галочку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Add python.exe to PATH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1" i="0">
                <a:solidFill>
                  <a:srgbClr val="1A1A1A"/>
                </a:solidFill>
                <a:latin typeface="Arial"/>
              </a:rPr>
              <a:t>PyCharm Community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jetbrains.com/pycharm, бесплатная версия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Проверка в терминале Windows: команда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python --version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должна показать 3.12 или новее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Если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python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не найден, переустановите с галочкой PATH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На паре без установки: консоль Python прямо в PyCharm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54864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python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-</a:t>
            </a:r>
            <a:r>
              <a:rPr sz="1800">
                <a:solidFill>
                  <a:srgbClr val="A9B7C6"/>
                </a:solidFill>
                <a:latin typeface="Consolas"/>
              </a:rPr>
              <a:t>-</a:t>
            </a:r>
            <a:r>
              <a:rPr sz="1800">
                <a:solidFill>
                  <a:srgbClr val="A9B7C6"/>
                </a:solidFill>
                <a:latin typeface="Consolas"/>
              </a:rPr>
              <a:t>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2057400"/>
            <a:ext cx="6613855" cy="71628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Python 3.12.6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Первая программа в PyCharm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File → New Project, имя папки латиницей, галочку виртуального окружения оставить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Правый клик по папке → New → Python File, имя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hello.py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Запуск: зелёный треугольник или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Shift+F10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Внизу откроется окно Run с выводом программы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Для экспериментов вкладка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Python Console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внизу: код выполняется построчно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822959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Привет, мир!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Я программирую на Python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2331720"/>
            <a:ext cx="6613855" cy="929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Привет, мир!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Я программирую на Python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print и переменные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print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печатает всё, что передали, через пробел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sep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задаёт разделитель,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end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то, что печатается в конце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Переменная создаётся присваиванием: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имя = значение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Тип определяется сам, узнать его можно через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type()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Имена: буквы, цифры,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_</a:t>
            </a:r>
            <a:r>
              <a:rPr sz="1800" b="0" i="0">
                <a:solidFill>
                  <a:srgbClr val="1A1A1A"/>
                </a:solidFill>
                <a:latin typeface="Arial"/>
              </a:rPr>
              <a:t>; не начинаются с цифры; стиль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snake_case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19456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19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Аня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Имя: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возраст: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sep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 -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без переноса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end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строки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type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type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703320"/>
            <a:ext cx="6613855" cy="1356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Имя: Аня возраст: 19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1 - 2 - 3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без переноса строки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&lt;class 'int'&gt; &lt;class 'str'&gt;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Числа: int и float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int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целые: 3, -7, 10 ** 9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float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дробные: 3.14, 2.0, 1e-3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Операции: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+ - * / // % **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/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всегда даёт float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//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целая часть от деления,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%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остаток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Приоритет как в математике, скобки помогают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19456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total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125</a:t>
            </a:r>
            <a:r>
              <a:rPr sz="1800">
                <a:solidFill>
                  <a:srgbClr val="A9B7C6"/>
                </a:solidFill>
                <a:latin typeface="Consolas"/>
              </a:rPr>
              <a:t>            </a:t>
            </a:r>
            <a:r>
              <a:rPr sz="1800">
                <a:solidFill>
                  <a:srgbClr val="808080"/>
                </a:solidFill>
                <a:latin typeface="Consolas"/>
              </a:rPr>
              <a:t># секунд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minutes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total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/</a:t>
            </a:r>
            <a:r>
              <a:rPr sz="1800">
                <a:solidFill>
                  <a:srgbClr val="A9B7C6"/>
                </a:solidFill>
                <a:latin typeface="Consolas"/>
              </a:rPr>
              <a:t>/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60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seconds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total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%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60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minutes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seconds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7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/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7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/</a:t>
            </a:r>
            <a:r>
              <a:rPr sz="1800">
                <a:solidFill>
                  <a:srgbClr val="A9B7C6"/>
                </a:solidFill>
                <a:latin typeface="Consolas"/>
              </a:rPr>
              <a:t>/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7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%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10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10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/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5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703320"/>
            <a:ext cx="6613855" cy="1356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2 5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3.5 3 1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1024 2.0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20 14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Почему 0.1 + 0.2 не равно 0.3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float хранится в двоичном виде, и 0.1 в нём бесконечная дробь, как 1/3 в десятичной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Поэтому результат чуть-чуть неточный, и так во всех языках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Для вывода округляем: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round(x, 2)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или f-строка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Сравнивать float нужно через разность: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abs(a - b) &lt; 1e-9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1645920"/>
          </a:xfrm>
          <a:prstGeom prst="roundRect">
            <a:avLst>
              <a:gd name="adj" fmla="val 6666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0.1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0.2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0.1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0.2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0.3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round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0.1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0.2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abs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0.1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0.2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-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0.3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&lt;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1e-9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/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154680"/>
            <a:ext cx="6613855" cy="1569720"/>
          </a:xfrm>
          <a:prstGeom prst="roundRect">
            <a:avLst>
              <a:gd name="adj" fmla="val 699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0.30000000000000004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False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0.3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True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0.3333333333333333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037840"/>
          </a:xfrm>
          <a:prstGeom prst="roundRect">
            <a:avLst>
              <a:gd name="adj" fmla="val 3612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В консоли Python посчитайте, сколько секунд в неделе.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Что выведет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7 / 7</a:t>
            </a:r>
            <a:r>
              <a:rPr sz="2000" b="0" i="0">
                <a:solidFill>
                  <a:srgbClr val="1A1A1A"/>
                </a:solidFill>
                <a:latin typeface="Arial"/>
              </a:rPr>
              <a:t>? Сначала предположите, потом проверьте.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Выведите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17 // 5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17 % 5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 Что это за числа?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4.  Найдите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2 ** 100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 Сколько в нём цифр?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390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4 минут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Строки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Строка это текст в кавычках, одинарных или двойных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+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склеивает,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*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повторяет,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len()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считает символы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\n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перенос строки,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\t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табуляция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Тройные кавычки для текста в несколько строк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743199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first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Python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second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"</a:t>
            </a:r>
            <a:r>
              <a:rPr sz="1800">
                <a:solidFill>
                  <a:srgbClr val="6A8759"/>
                </a:solidFill>
                <a:latin typeface="Consolas"/>
              </a:rPr>
              <a:t>3.12</a:t>
            </a:r>
            <a:r>
              <a:rPr sz="1800">
                <a:solidFill>
                  <a:srgbClr val="6A8759"/>
                </a:solidFill>
                <a:latin typeface="Consolas"/>
              </a:rPr>
              <a:t>"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first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second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-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20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len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first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Строка 1</a:t>
            </a:r>
            <a:r>
              <a:rPr sz="1800">
                <a:solidFill>
                  <a:srgbClr val="6A8759"/>
                </a:solidFill>
                <a:latin typeface="Consolas"/>
              </a:rPr>
              <a:t>\n</a:t>
            </a:r>
            <a:r>
              <a:rPr sz="1800">
                <a:solidFill>
                  <a:srgbClr val="6A8759"/>
                </a:solidFill>
                <a:latin typeface="Consolas"/>
              </a:rPr>
              <a:t>Строка 2</a:t>
            </a:r>
            <a:r>
              <a:rPr sz="1800">
                <a:solidFill>
                  <a:srgbClr val="6A8759"/>
                </a:solidFill>
                <a:latin typeface="Consolas"/>
              </a:rPr>
              <a:t>\t</a:t>
            </a:r>
            <a:r>
              <a:rPr sz="1800">
                <a:solidFill>
                  <a:srgbClr val="6A8759"/>
                </a:solidFill>
                <a:latin typeface="Consolas"/>
              </a:rPr>
              <a:t>с табуляцией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text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'''</a:t>
            </a:r>
            <a:r>
              <a:rPr sz="1800">
                <a:solidFill>
                  <a:srgbClr val="6A8759"/>
                </a:solidFill>
                <a:latin typeface="Consolas"/>
              </a:rPr>
              <a:t>Многострочный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6A8759"/>
                </a:solidFill>
                <a:latin typeface="Consolas"/>
              </a:rPr>
              <a:t>текст</a:t>
            </a:r>
            <a:r>
              <a:rPr sz="1800">
                <a:solidFill>
                  <a:srgbClr val="6A8759"/>
                </a:solidFill>
                <a:latin typeface="Consolas"/>
              </a:rPr>
              <a:t>'''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text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251959"/>
            <a:ext cx="6613855" cy="1996440"/>
          </a:xfrm>
          <a:prstGeom prst="roundRect">
            <a:avLst>
              <a:gd name="adj" fmla="val 5496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Python 3.12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--------------------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6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Строка 1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Строка 2    с табуляцией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Многострочный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текст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input(): читаем ввод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input()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ждёт, пока пользователь нажмёт Enter, и возвращает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строку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Текст в скобках это подсказка пользователю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Число получаем преобразованием: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int()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или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float()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Если ввести не число, программа упадёт с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ValueError</a:t>
            </a:r>
            <a:r>
              <a:rPr sz="1800" b="0" i="0">
                <a:solidFill>
                  <a:srgbClr val="1A1A1A"/>
                </a:solidFill>
                <a:latin typeface="Arial"/>
              </a:rPr>
              <a:t>. Как это ловить, узнаем в уроке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1645920"/>
          </a:xfrm>
          <a:prstGeom prst="roundRect">
            <a:avLst>
              <a:gd name="adj" fmla="val 6666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input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Как тебя зовут?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input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Сколько лет?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height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float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input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Рост в метрах?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height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100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type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type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154680"/>
            <a:ext cx="6613855" cy="1569720"/>
          </a:xfrm>
          <a:prstGeom prst="roundRect">
            <a:avLst>
              <a:gd name="adj" fmla="val 699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Как тебя зовут? Аня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Сколько лет? 19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Рост в метрах? 1.7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Аня 20 170.0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&lt;class 'str'&gt; &lt;class 'int'&gt;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f-строки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Буква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f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перед кавычками, значения в фигурных скобках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Внутри скобок любое выражение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:.2f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два знака после точки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:02d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дополнить нулями до двух цифр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Старый способ через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+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str()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работает, но читается хуже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225040"/>
          </a:xfrm>
          <a:prstGeom prst="roundRect">
            <a:avLst>
              <a:gd name="adj" fmla="val 4931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name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Аня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age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19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pi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3.14159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f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{</a:t>
            </a:r>
            <a:r>
              <a:rPr sz="1600">
                <a:solidFill>
                  <a:srgbClr val="A9B7C6"/>
                </a:solidFill>
                <a:latin typeface="Consolas"/>
              </a:rPr>
              <a:t>name</a:t>
            </a:r>
            <a:r>
              <a:rPr sz="1600">
                <a:solidFill>
                  <a:srgbClr val="A9B7C6"/>
                </a:solidFill>
                <a:latin typeface="Consolas"/>
              </a:rPr>
              <a:t>}</a:t>
            </a:r>
            <a:r>
              <a:rPr sz="1600">
                <a:solidFill>
                  <a:srgbClr val="6A8759"/>
                </a:solidFill>
                <a:latin typeface="Consolas"/>
              </a:rPr>
              <a:t>, тебе </a:t>
            </a:r>
            <a:r>
              <a:rPr sz="1600">
                <a:solidFill>
                  <a:srgbClr val="A9B7C6"/>
                </a:solidFill>
                <a:latin typeface="Consolas"/>
              </a:rPr>
              <a:t>{</a:t>
            </a:r>
            <a:r>
              <a:rPr sz="1600">
                <a:solidFill>
                  <a:srgbClr val="A9B7C6"/>
                </a:solidFill>
                <a:latin typeface="Consolas"/>
              </a:rPr>
              <a:t>age</a:t>
            </a:r>
            <a:r>
              <a:rPr sz="1600">
                <a:solidFill>
                  <a:srgbClr val="A9B7C6"/>
                </a:solidFill>
                <a:latin typeface="Consolas"/>
              </a:rPr>
              <a:t>}</a:t>
            </a:r>
            <a:r>
              <a:rPr sz="1600">
                <a:solidFill>
                  <a:srgbClr val="6A8759"/>
                </a:solidFill>
                <a:latin typeface="Consolas"/>
              </a:rPr>
              <a:t> лет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f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Через год: </a:t>
            </a:r>
            <a:r>
              <a:rPr sz="1600">
                <a:solidFill>
                  <a:srgbClr val="A9B7C6"/>
                </a:solidFill>
                <a:latin typeface="Consolas"/>
              </a:rPr>
              <a:t>{</a:t>
            </a:r>
            <a:r>
              <a:rPr sz="1600">
                <a:solidFill>
                  <a:srgbClr val="A9B7C6"/>
                </a:solidFill>
                <a:latin typeface="Consolas"/>
              </a:rPr>
              <a:t>age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+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1</a:t>
            </a:r>
            <a:r>
              <a:rPr sz="1600">
                <a:solidFill>
                  <a:srgbClr val="A9B7C6"/>
                </a:solidFill>
                <a:latin typeface="Consolas"/>
              </a:rPr>
              <a:t>}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f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pi ≈ </a:t>
            </a:r>
            <a:r>
              <a:rPr sz="1600">
                <a:solidFill>
                  <a:srgbClr val="A9B7C6"/>
                </a:solidFill>
                <a:latin typeface="Consolas"/>
              </a:rPr>
              <a:t>{</a:t>
            </a:r>
            <a:r>
              <a:rPr sz="1600">
                <a:solidFill>
                  <a:srgbClr val="A9B7C6"/>
                </a:solidFill>
                <a:latin typeface="Consolas"/>
              </a:rPr>
              <a:t>pi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  <a:r>
              <a:rPr sz="1600">
                <a:solidFill>
                  <a:srgbClr val="6A8759"/>
                </a:solidFill>
                <a:latin typeface="Consolas"/>
              </a:rPr>
              <a:t>.2f</a:t>
            </a:r>
            <a:r>
              <a:rPr sz="1600">
                <a:solidFill>
                  <a:srgbClr val="A9B7C6"/>
                </a:solidFill>
                <a:latin typeface="Consolas"/>
              </a:rPr>
              <a:t>}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f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{</a:t>
            </a:r>
            <a:r>
              <a:rPr sz="1600">
                <a:solidFill>
                  <a:srgbClr val="6897BB"/>
                </a:solidFill>
                <a:latin typeface="Consolas"/>
              </a:rPr>
              <a:t>7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  <a:r>
              <a:rPr sz="1600">
                <a:solidFill>
                  <a:srgbClr val="6A8759"/>
                </a:solidFill>
                <a:latin typeface="Consolas"/>
              </a:rPr>
              <a:t>02d</a:t>
            </a:r>
            <a:r>
              <a:rPr sz="1600">
                <a:solidFill>
                  <a:srgbClr val="A9B7C6"/>
                </a:solidFill>
                <a:latin typeface="Consolas"/>
              </a:rPr>
              <a:t>}</a:t>
            </a:r>
            <a:r>
              <a:rPr sz="1600">
                <a:solidFill>
                  <a:srgbClr val="6A8759"/>
                </a:solidFill>
                <a:latin typeface="Consolas"/>
              </a:rPr>
              <a:t>:</a:t>
            </a:r>
            <a:r>
              <a:rPr sz="1600">
                <a:solidFill>
                  <a:srgbClr val="A9B7C6"/>
                </a:solidFill>
                <a:latin typeface="Consolas"/>
              </a:rPr>
              <a:t>{</a:t>
            </a:r>
            <a:r>
              <a:rPr sz="1600">
                <a:solidFill>
                  <a:srgbClr val="6897BB"/>
                </a:solidFill>
                <a:latin typeface="Consolas"/>
              </a:rPr>
              <a:t>5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  <a:r>
              <a:rPr sz="1600">
                <a:solidFill>
                  <a:srgbClr val="6A8759"/>
                </a:solidFill>
                <a:latin typeface="Consolas"/>
              </a:rPr>
              <a:t>02d</a:t>
            </a:r>
            <a:r>
              <a:rPr sz="1600">
                <a:solidFill>
                  <a:srgbClr val="A9B7C6"/>
                </a:solidFill>
                <a:latin typeface="Consolas"/>
              </a:rPr>
              <a:t>}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Старый способ: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+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name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+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,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+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str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age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733799"/>
            <a:ext cx="6613855" cy="1569720"/>
          </a:xfrm>
          <a:prstGeom prst="roundRect">
            <a:avLst>
              <a:gd name="adj" fmla="val 699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Аня, тебе 19 лет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Через год: 20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pi ≈ 3.14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07:05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Старый способ: Аня,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2834640"/>
          </a:xfrm>
          <a:prstGeom prst="roundRect">
            <a:avLst>
              <a:gd name="adj" fmla="val 3870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Спросите имя и год рождения. Выведите: «Имя, в 2030 году тебе будет N лет».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Прочитайте два числа и выведите их среднее с двумя знаками после точки.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Прочитайте цену и скидку в процентах, выведите цену со скидкой.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37033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5 минут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bool и сравнения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Тип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bool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имеет два значения: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True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False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Сравнения: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== != &lt; &gt; &lt;= &gt;=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Результат сравнения можно сохранить в переменную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Цепочка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18 &lt;= age &lt; 65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работает как в математике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Строки сравниваются по алфавиту; число со строкой сравнивать через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&lt;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нельзя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19456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19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&gt;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18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is_adult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&gt;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18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type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is_adult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18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&lt;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&lt;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65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3.0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!=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apple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&lt;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banana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703320"/>
            <a:ext cx="6613855" cy="1569720"/>
          </a:xfrm>
          <a:prstGeom prst="roundRect">
            <a:avLst>
              <a:gd name="adj" fmla="val 699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True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&lt;class 'bool'&gt;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True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True True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True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and, or,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and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истина, когда истинны оба операнда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or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истина, когда истинен хотя бы один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not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переворачивает значение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Приоритет: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not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потом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and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потом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or</a:t>
            </a:r>
            <a:r>
              <a:rPr sz="1800" b="0" i="0">
                <a:solidFill>
                  <a:srgbClr val="1A1A1A"/>
                </a:solidFill>
                <a:latin typeface="Arial"/>
              </a:rPr>
              <a:t>; скобки не помешают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Ложью считаются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0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0.0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пустая строка и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None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всё остальное истина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Операторов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&amp;&amp;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||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из других языков в Python нет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19456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19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has_ticket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False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&gt;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18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and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has_ticket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&gt;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18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has_ticket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CC7832"/>
                </a:solidFill>
                <a:latin typeface="Consolas"/>
              </a:rPr>
              <a:t>not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has_ticket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bool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bool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bool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False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bool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-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bool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0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703320"/>
            <a:ext cx="6613855" cy="1569720"/>
          </a:xfrm>
          <a:prstGeom prst="roundRect">
            <a:avLst>
              <a:gd name="adj" fmla="val 699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False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True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True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False False True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True True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if, elif, 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После условия двоеточие, тело сдвинуто на 4 пробела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PyCharm ставит отступ сам после Enter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elif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проверяется, только если предыдущие условия ложны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else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без условия: срабатывает, если ничего не подошло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Условия можно вкладывать друг в друга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566159"/>
          </a:xfrm>
          <a:prstGeom prst="roundRect">
            <a:avLst>
              <a:gd name="adj" fmla="val 3076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temp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input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if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temp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&lt;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Мороз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elif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temp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&lt;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15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Прохладно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elif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temp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&lt;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25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Тепло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else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Жара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CC7832"/>
                </a:solidFill>
                <a:latin typeface="Consolas"/>
              </a:rPr>
              <a:t>if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temp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&gt;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35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Очень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5074920"/>
            <a:ext cx="6613855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37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Жара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Очень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Пример целиком: оценка по баллам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Прочитать число, выбрать ветку, напечатать ответ. Так устроено большинство программ этого урока.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6613855" cy="3566159"/>
          </a:xfrm>
          <a:prstGeom prst="roundRect">
            <a:avLst>
              <a:gd name="adj" fmla="val 3076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score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input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Баллы: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if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score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&lt;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score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&gt;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100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Так не бывает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elif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score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&gt;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90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f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{</a:t>
            </a:r>
            <a:r>
              <a:rPr sz="1800">
                <a:solidFill>
                  <a:srgbClr val="A9B7C6"/>
                </a:solidFill>
                <a:latin typeface="Consolas"/>
              </a:rPr>
              <a:t>score</a:t>
            </a:r>
            <a:r>
              <a:rPr sz="1800">
                <a:solidFill>
                  <a:srgbClr val="A9B7C6"/>
                </a:solidFill>
                <a:latin typeface="Consolas"/>
              </a:rPr>
              <a:t>}</a:t>
            </a:r>
            <a:r>
              <a:rPr sz="1800">
                <a:solidFill>
                  <a:srgbClr val="6A8759"/>
                </a:solidFill>
                <a:latin typeface="Consolas"/>
              </a:rPr>
              <a:t>: отлично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elif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score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&gt;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75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f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{</a:t>
            </a:r>
            <a:r>
              <a:rPr sz="1800">
                <a:solidFill>
                  <a:srgbClr val="A9B7C6"/>
                </a:solidFill>
                <a:latin typeface="Consolas"/>
              </a:rPr>
              <a:t>score</a:t>
            </a:r>
            <a:r>
              <a:rPr sz="1800">
                <a:solidFill>
                  <a:srgbClr val="A9B7C6"/>
                </a:solidFill>
                <a:latin typeface="Consolas"/>
              </a:rPr>
              <a:t>}</a:t>
            </a:r>
            <a:r>
              <a:rPr sz="1800">
                <a:solidFill>
                  <a:srgbClr val="6A8759"/>
                </a:solidFill>
                <a:latin typeface="Consolas"/>
              </a:rPr>
              <a:t>: хорошо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elif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score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&gt;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60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f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{</a:t>
            </a:r>
            <a:r>
              <a:rPr sz="1800">
                <a:solidFill>
                  <a:srgbClr val="A9B7C6"/>
                </a:solidFill>
                <a:latin typeface="Consolas"/>
              </a:rPr>
              <a:t>score</a:t>
            </a:r>
            <a:r>
              <a:rPr sz="1800">
                <a:solidFill>
                  <a:srgbClr val="A9B7C6"/>
                </a:solidFill>
                <a:latin typeface="Consolas"/>
              </a:rPr>
              <a:t>}</a:t>
            </a:r>
            <a:r>
              <a:rPr sz="1800">
                <a:solidFill>
                  <a:srgbClr val="6A8759"/>
                </a:solidFill>
                <a:latin typeface="Consolas"/>
              </a:rPr>
              <a:t>: удовлетворительно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else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f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{</a:t>
            </a:r>
            <a:r>
              <a:rPr sz="1800">
                <a:solidFill>
                  <a:srgbClr val="A9B7C6"/>
                </a:solidFill>
                <a:latin typeface="Consolas"/>
              </a:rPr>
              <a:t>score</a:t>
            </a:r>
            <a:r>
              <a:rPr sz="1800">
                <a:solidFill>
                  <a:srgbClr val="A9B7C6"/>
                </a:solidFill>
                <a:latin typeface="Consolas"/>
              </a:rPr>
              <a:t>}</a:t>
            </a:r>
            <a:r>
              <a:rPr sz="1800">
                <a:solidFill>
                  <a:srgbClr val="6A8759"/>
                </a:solidFill>
                <a:latin typeface="Consolas"/>
              </a:rPr>
              <a:t>: неудовлетворительно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6815" y="2103120"/>
            <a:ext cx="4206240" cy="929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Баллы: 82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82: хорошо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2834640"/>
          </a:xfrm>
          <a:prstGeom prst="roundRect">
            <a:avLst>
              <a:gd name="adj" fmla="val 3870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Прочитайте число и выведите «чётное» или «нечётное».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Прочитайте год и выведите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если он високосный, иначе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: год делится на 4 и не делится на 100, либо делится на 400.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Прочитайте три числа и выведите наибольшее, не используя функцию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max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37033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5 минут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Частые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'5' + 5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199" y="1325880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TypeError: строку и число складывать нельзя. Сначала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int('5')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5072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if x = 5: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199" y="195072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F5F8B"/>
                </a:solidFill>
                <a:latin typeface="Consolas"/>
              </a:rPr>
              <a:t>=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присваивает,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==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сравнивает.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4508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if x &gt; 5</a:t>
            </a:r>
          </a:p>
          <a:p>
            <a:pPr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    print(x)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199" y="254508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Забыто двоеточие после условия.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39440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if x &gt; 5:</a:t>
            </a:r>
          </a:p>
          <a:p>
            <a:pPr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print(x)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3139440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Тело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if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должно быть сдвинуто на 4 пробела, иначе IndentationError.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64279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print(5 / 2)   # 2?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9" y="3764279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Нет, 2.5. Целую часть даёт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//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5864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true, 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435864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В Python с большой буквы: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True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False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Программа выполняется сверху вниз, переменная появляется при первом присваивании.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F5F8B"/>
                </a:solidFill>
                <a:latin typeface="Consolas"/>
              </a:rPr>
              <a:t>/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даёт float,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//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%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дают целую часть и остаток.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F5F8B"/>
                </a:solidFill>
                <a:latin typeface="Consolas"/>
              </a:rPr>
              <a:t>input()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возвращает строку, число получаем через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int()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или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float()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f-строки собирают текст: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f'{x:.2f}'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Сравнения дают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bool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условия объединяются через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and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or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not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F5F8B"/>
                </a:solidFill>
                <a:latin typeface="Consolas"/>
              </a:rPr>
              <a:t>if / elif / else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ветвят программу, тело выделяется отступом в 4 пробела.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1063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1. </a:t>
            </a:r>
            <a:r>
              <a:rPr sz="1700" b="1">
                <a:solidFill>
                  <a:srgbClr val="C99700"/>
                </a:solidFill>
                <a:latin typeface="Arial"/>
              </a:rPr>
              <a:t>★ </a:t>
            </a:r>
            <a:r>
              <a:rPr sz="1700" b="1">
                <a:solidFill>
                  <a:srgbClr val="1A1A1A"/>
                </a:solidFill>
                <a:latin typeface="Arial"/>
              </a:rPr>
              <a:t>Индекс массы тела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Прочитайте рост в метрах и вес в килограммах, каждое число в своей строке. ИМТ = вес / рост². Выведите ИМТ с одним знаком и категорию по неокруглённому значению: меньше 18.5 недостаток, меньше 25 норма, меньше 30 избыток, иначе ожирение.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89632"/>
            <a:ext cx="5364327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1.80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75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ИМТ: 23.1, норма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2389632"/>
            <a:ext cx="5364327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1.65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95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ИМТ: 34.9, ожирение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9168"/>
            <a:ext cx="11094415" cy="606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2. </a:t>
            </a:r>
            <a:r>
              <a:rPr sz="1700" b="1">
                <a:solidFill>
                  <a:srgbClr val="C99700"/>
                </a:solidFill>
                <a:latin typeface="Arial"/>
              </a:rPr>
              <a:t>★ </a:t>
            </a:r>
            <a:r>
              <a:rPr sz="1700" b="1">
                <a:solidFill>
                  <a:srgbClr val="1A1A1A"/>
                </a:solidFill>
                <a:latin typeface="Arial"/>
              </a:rPr>
              <a:t>Сумма цифр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Прочитайте трёхзначное число и выведите сумму его цифр. Используйте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//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%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55720"/>
            <a:ext cx="5364327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123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3855720"/>
            <a:ext cx="5364327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905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32376"/>
            <a:ext cx="11094415" cy="606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3.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Секунды в часы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Прочитайте количество секунд и выведите его в формате ч:мм:сс.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38928"/>
            <a:ext cx="5364327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3725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1:02:05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5138928"/>
            <a:ext cx="5364327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45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0:00:45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 (продолжение)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1 ·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1063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4.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Квадратное уравнение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Прочитайте a, b, c (каждое в своей строке, a не равно 0) и решите уравнение ax² + bx + c = 0. Если дискриминант отрицательный, выведите «нет корней»; если он равен нулю (с точностью 1e-9), выведите «x = …»; иначе «x1 = …, x2 = …», где x1 считается с плюсом перед √D. Два знака после точки.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89632"/>
            <a:ext cx="5364327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-3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x1 = 2.00, x2 = 1.00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2389632"/>
            <a:ext cx="5364327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0.1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0.6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0.9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x = -3.00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32047"/>
            <a:ext cx="11094415" cy="1063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5.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Проверка результата</a:t>
            </a:r>
            <a:r>
              <a:rPr sz="1300">
                <a:solidFill>
                  <a:srgbClr val="5F6B7A"/>
                </a:solidFill>
                <a:latin typeface="Arial"/>
              </a:rPr>
              <a:t>   по желанию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Прочитайте a, b, c (c не равно 0) и ожидаемый результат, каждое число в своей строке. Вычислите a + 8b² / (4c), выведите его с тремя знаками и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True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если разница с ожидаемым меньше 0.001, иначе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False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Подумайте, почему сравнивать через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==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плохая идея.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95799"/>
            <a:ext cx="3291840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0.1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10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0.3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495799"/>
            <a:ext cx="7528255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0.300 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