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Прошлая пара была про повторение действий, эта про хранение данных. После неё можно писать программы, которые работают со списком студентов, а не с одним студентом.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вопрос главный: split уже возвращал список, но мы не знали, что с ним делать. Ответ на него это мостик к теме пары.</a:t>
            </a:r>
          </a:p>
          <a:p/>
          <a:p>
            <a:r>
              <a:t>Ответы:</a:t>
            </a:r>
          </a:p>
          <a:p>
            <a:r>
              <a:t>1. Переворачивает строку: `s[::-1]` идёт с конца шагом минус один</a:t>
            </a:r>
          </a:p>
          <a:p>
            <a:r>
              <a:t>2. 2, 5, 8: конец диапазона не включается</a:t>
            </a:r>
          </a:p>
          <a:p>
            <a:r>
              <a:t>3. Список строк `['4', '8', '15']`, а не чисел. Сегодня разберём, что это за список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Списки и строки устроены одинаково, поэтому срезы уже знакомы. Спросить: что выведет `mixed[2][1]`?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Строку изменить нельзя, а список можно: в этом главная разница. Показать в PyCharm подсказку после точки: методов у списка немного, все на виду.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ловушка урока: `print(scores.sort())` печатает None. Спросить до запуска, что там будет.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других языках пишут цикл по индексам, в Python так делают только когда элементы меняют. Спросить, зачем в третьем цикле понадобился индекс.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Третье задание почти готовая задача 4 из домашних. В четвёртом проверить, что взяли `sorted`, а не `grades.sort()`.</a:t>
            </a:r>
          </a:p>
          <a:p/>
          <a:p>
            <a:r>
              <a:t>Ответы:</a:t>
            </a:r>
          </a:p>
          <a:p>
            <a:r>
              <a:t>1. print(sum(grades) / len(grades), max(grades))</a:t>
            </a:r>
          </a:p>
          <a:p>
            <a:r>
              <a:t>Выведет 4.2 5</a:t>
            </a:r>
          </a:p>
          <a:p>
            <a:r>
              <a:t>2. average = sum(grades) / len(grades)</a:t>
            </a:r>
          </a:p>
          <a:p>
            <a:r>
              <a:t>count = 0</a:t>
            </a:r>
          </a:p>
          <a:p>
            <a:r>
              <a:t>for g in grades:</a:t>
            </a:r>
          </a:p>
          <a:p>
            <a:r>
              <a:t>    if g &gt; average:</a:t>
            </a:r>
          </a:p>
          <a:p>
            <a:r>
              <a:t>        count += 1</a:t>
            </a:r>
          </a:p>
          <a:p>
            <a:r>
              <a:t>print(count)</a:t>
            </a:r>
          </a:p>
          <a:p>
            <a:r>
              <a:t>Выведет 2: две пятёрки выше средней 4.2</a:t>
            </a:r>
          </a:p>
          <a:p>
            <a:r>
              <a:t>3. numbers = [0, 3, 0, 7, 5]</a:t>
            </a:r>
          </a:p>
          <a:p>
            <a:r>
              <a:t>result = []</a:t>
            </a:r>
          </a:p>
          <a:p>
            <a:r>
              <a:t>for x in numbers:</a:t>
            </a:r>
          </a:p>
          <a:p>
            <a:r>
              <a:t>    if x != 0:</a:t>
            </a:r>
          </a:p>
          <a:p>
            <a:r>
              <a:t>        result.append(x)</a:t>
            </a:r>
          </a:p>
          <a:p>
            <a:r>
              <a:t>print(result)</a:t>
            </a:r>
          </a:p>
          <a:p>
            <a:r>
              <a:t>Выведет [3, 7, 5]</a:t>
            </a:r>
          </a:p>
          <a:p>
            <a:r>
              <a:t>4. print(sorted(grades, reverse=True))</a:t>
            </a:r>
          </a:p>
          <a:p>
            <a:r>
              <a:t>Выведет [5, 5, 4, 4, 3], а grades остаётся прежним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Пример со старой презентации: там список меняли через одно имя, а печатали через другое, и это выглядело как ошибка Python. Спросить, что напечатает `print(a)`, и только потом показать схему.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Кортеж нужен там, где набор значений это одно целое: точка, дата, пара из ключа и значения. Обмен `a, b = b, a` работает именно через кортеж.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во множестве не определён, поэтому для вывода почти всегда пишут `sorted`. Спросить, чем множество лучше списка для проверки `in`.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Быстрое упражнение на два новых типа. Второе задание пригодится в задачах: убрать повторы это одна строка.</a:t>
            </a:r>
          </a:p>
          <a:p/>
          <a:p>
            <a:r>
              <a:t>Ответы:</a:t>
            </a:r>
          </a:p>
          <a:p>
            <a:r>
              <a:t>1. `a, b = b, a`: справа собирается кортеж, слева распаковывается</a:t>
            </a:r>
          </a:p>
          <a:p>
            <a:r>
              <a:t>2. `sorted(set(items))` даёт `[1, 2, 3]`</a:t>
            </a:r>
          </a:p>
          <a:p>
            <a:r>
              <a:t>3. `a &amp; b` даёт `{2, 3}`, `a - b` даёт `{1}`</a:t>
            </a:r>
          </a:p>
          <a:p>
            <a:r>
              <a:t>4. `len(set('колокол'))` даёт 3: буквы к, о, 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Словарь это самая полезная структура курса: телефонная книга, счётчики, настройки игры. Подчеркнуть разницу между `week[9]` и `week.get(9, ...)`.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старой презентации было написано, что items() возвращает значения. Это не так: значения даёт values(), а items() даёт пары. Проверить вслух.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 `get(word, 0)` по шагам: первый раз ключа нет, берём ноль. Этот приём пригодится в задаче 2. Спросить, что будет при равных частотах.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Последнее задание это готовая заготовка задачи 2. Кто успел: пусть выведет пары по алфавиту через sorted.</a:t>
            </a:r>
          </a:p>
          <a:p/>
          <a:p>
            <a:r>
              <a:t>Ответы:</a:t>
            </a:r>
          </a:p>
          <a:p>
            <a:r>
              <a:t>1. oldest, max_age = '', 0</a:t>
            </a:r>
          </a:p>
          <a:p>
            <a:r>
              <a:t>for name, age in ages.items():</a:t>
            </a:r>
          </a:p>
          <a:p>
            <a:r>
              <a:t>    if age &gt; max_age:</a:t>
            </a:r>
          </a:p>
          <a:p>
            <a:r>
              <a:t>        oldest, max_age = name, age</a:t>
            </a:r>
          </a:p>
          <a:p>
            <a:r>
              <a:t>print(oldest)</a:t>
            </a:r>
          </a:p>
          <a:p>
            <a:r>
              <a:t>Выведет Пётр</a:t>
            </a:r>
          </a:p>
          <a:p>
            <a:r>
              <a:t>2. for name, age in ages.items():</a:t>
            </a:r>
          </a:p>
          <a:p>
            <a:r>
              <a:t>    if age &gt; 19:</a:t>
            </a:r>
          </a:p>
          <a:p>
            <a:r>
              <a:t>        print(name)</a:t>
            </a:r>
          </a:p>
          <a:p>
            <a:r>
              <a:t>Выведет Пётр и Лиза</a:t>
            </a:r>
          </a:p>
          <a:p>
            <a:r>
              <a:t>3. for name in sorted(ages):</a:t>
            </a:r>
          </a:p>
          <a:p>
            <a:r>
              <a:t>    print(name, ages[name])</a:t>
            </a:r>
          </a:p>
          <a:p>
            <a:r>
              <a:t>4. counts = {}</a:t>
            </a:r>
          </a:p>
          <a:p>
            <a:r>
              <a:t>for word in 'да нет да да'.split():</a:t>
            </a:r>
          </a:p>
          <a:p>
            <a:r>
              <a:t>    counts[word] = counts.get(word, 0) + 1</a:t>
            </a:r>
          </a:p>
          <a:p>
            <a:r>
              <a:t>for word, number in counts.items():</a:t>
            </a:r>
          </a:p>
          <a:p>
            <a:r>
              <a:t>    print(word, number)</a:t>
            </a:r>
          </a:p>
          <a:p>
            <a:r>
              <a:t>Выведет да 3 и нет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Последняя строка это тот самый способ прочитать числа из одной строки, который был обещан в начале пары. Предупредить: длинные comprehension читать больно.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Список словарей это будущая база данных игры: слова, вопросы, рекорды. В уроке 5 эти же данные будем читать из файла.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Первые две ошибки встречаются в домашних задачах чаще всего. Спросить, как переписать второй пример правильно.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1–5 к следующей паре, шестая по желанию. Инвентарь это заготовка курсового проекта: словарь плюс цикл с командами.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0"/>
              </a:spcAft>
              <a:defRPr sz="1500"/>
            </a:pPr>
            <a:r>
              <a:rPr sz="1500" b="1" i="0">
                <a:solidFill>
                  <a:srgbClr val="14213D"/>
                </a:solidFill>
                <a:latin typeface="Arial"/>
              </a:rPr>
              <a:t>УРОК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4000"/>
            </a:pPr>
            <a:r>
              <a:rPr sz="4000" b="1" i="0">
                <a:solidFill>
                  <a:srgbClr val="FFFFFF"/>
                </a:solidFill>
                <a:latin typeface="Arial"/>
              </a:rPr>
              <a:t>Коллекции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2000"/>
            </a:pPr>
            <a:r>
              <a:rPr sz="2000" b="0" i="0">
                <a:solidFill>
                  <a:srgbClr val="DCE3F0"/>
                </a:solidFill>
                <a:latin typeface="Arial"/>
              </a:rPr>
              <a:t>Хранить много значений и обрабатывать их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20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Кравчинский Сергей Андреевич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kravchinskiy.sa@gmail.com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Вспомним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Что делает срез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s[::-1]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Какие числа даст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range(2, 10, 3)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Что вернёт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'4 8 15'.split()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Списки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Список это упорядоченный набор значений в квадратных скобках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одном списке лежат значения любых типов, даже другие списки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Индексы с нуля,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-1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последний,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len()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считает элементы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Срезы работают как у строк: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items[1:3]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items[::-1]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Пустой список это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[]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194560"/>
          </a:xfrm>
          <a:prstGeom prst="roundRect">
            <a:avLst>
              <a:gd name="adj" fmla="val 5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mixed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odin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mixed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mixed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empty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empty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empty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70332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4 4 10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[5, 6] [10, 6, 5, 4]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[3, 4] 4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[]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Изменяем список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Список изменяемый: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items[0] = 100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меняет элемент на месте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append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добавляет один элемент в конец,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insert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 индексу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extend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добавляет сразу несколько,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+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склеивает два списка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pop()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снимает последний элемент и возвращает его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remove(x)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убирает первое вхождение,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del items[i]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по индексу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x in items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проверяет, есть ли такое значение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91839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100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append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7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insert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новый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extend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8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9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last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pop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remove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новый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del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last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42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800600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[100, 'новый', 5, 6, 7, 8, 9]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[5, 6, 7, 8] 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False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Полезные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sum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min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max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считают сумму, минимум и максимум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sorted(items)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возвращает новый список, старый не трогает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items.sort()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сортирует на месте и возвращает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None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reversed(items)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обратный порядок,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list()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делает из него список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Числа из одной строки: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[int(x) for x in input().split()]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Эта запись называется comprehension, разберём её через пару слайдов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68879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7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5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sum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min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max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sorted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sort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list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reversed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scores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list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6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8888C6"/>
                </a:solidFill>
                <a:latin typeface="Consolas"/>
              </a:rPr>
              <a:t>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x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x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input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split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sum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977639"/>
            <a:ext cx="6613855" cy="2209800"/>
          </a:xfrm>
          <a:prstGeom prst="roundRect">
            <a:avLst>
              <a:gd name="adj" fmla="val 4965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25 3 10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[3, 5, 7, 10] [7, 3, 10, 5]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None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[3, 5, 7, 10]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[10, 7, 5, 3]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[1, 2, 3, 4, 5]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4 8 15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[4, 8, 15]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Перебор списка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for x in items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сами значения, а не индексы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Функция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enumerate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пары: номер и значение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Номер нужен редко, но иногда без него никак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Менять элементы удобно по индексу: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items[i] = ...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range(len(items))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нужен только для изменения на месте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88920"/>
          </a:xfrm>
          <a:prstGeom prst="roundRect">
            <a:avLst>
              <a:gd name="adj" fmla="val 393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words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кот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дом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6A8759"/>
                </a:solidFill>
                <a:latin typeface="Consolas"/>
              </a:rPr>
              <a:t>сыр</a:t>
            </a:r>
            <a:r>
              <a:rPr sz="1500">
                <a:solidFill>
                  <a:srgbClr val="6A8759"/>
                </a:solidFill>
                <a:latin typeface="Consolas"/>
              </a:rPr>
              <a:t>'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for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word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CC7832"/>
                </a:solidFill>
                <a:latin typeface="Consolas"/>
              </a:rPr>
              <a:t>in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words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word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len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word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for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i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word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CC7832"/>
                </a:solidFill>
                <a:latin typeface="Consolas"/>
              </a:rPr>
              <a:t>in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enumerate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words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i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word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numbers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6897BB"/>
                </a:solidFill>
                <a:latin typeface="Consolas"/>
              </a:rPr>
              <a:t>1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897BB"/>
                </a:solidFill>
                <a:latin typeface="Consolas"/>
              </a:rPr>
              <a:t>2</a:t>
            </a:r>
            <a:r>
              <a:rPr sz="1500">
                <a:solidFill>
                  <a:srgbClr val="A9B7C6"/>
                </a:solidFill>
                <a:latin typeface="Consolas"/>
              </a:rPr>
              <a:t>,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897BB"/>
                </a:solidFill>
                <a:latin typeface="Consolas"/>
              </a:rPr>
              <a:t>3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CC7832"/>
                </a:solidFill>
                <a:latin typeface="Consolas"/>
              </a:rPr>
              <a:t>for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i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CC7832"/>
                </a:solidFill>
                <a:latin typeface="Consolas"/>
              </a:rPr>
              <a:t>in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8888C6"/>
                </a:solidFill>
                <a:latin typeface="Consolas"/>
              </a:rPr>
              <a:t>range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8888C6"/>
                </a:solidFill>
                <a:latin typeface="Consolas"/>
              </a:rPr>
              <a:t>len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numbers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  <a:r>
              <a:rPr sz="15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A9B7C6"/>
                </a:solidFill>
                <a:latin typeface="Consolas"/>
              </a:rPr>
              <a:t>    </a:t>
            </a:r>
            <a:r>
              <a:rPr sz="1500">
                <a:solidFill>
                  <a:srgbClr val="A9B7C6"/>
                </a:solidFill>
                <a:latin typeface="Consolas"/>
              </a:rPr>
              <a:t>numbers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A9B7C6"/>
                </a:solidFill>
                <a:latin typeface="Consolas"/>
              </a:rPr>
              <a:t>i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=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numbers</a:t>
            </a:r>
            <a:r>
              <a:rPr sz="1500">
                <a:solidFill>
                  <a:srgbClr val="A9B7C6"/>
                </a:solidFill>
                <a:latin typeface="Consolas"/>
              </a:rPr>
              <a:t>[</a:t>
            </a:r>
            <a:r>
              <a:rPr sz="1500">
                <a:solidFill>
                  <a:srgbClr val="A9B7C6"/>
                </a:solidFill>
                <a:latin typeface="Consolas"/>
              </a:rPr>
              <a:t>i</a:t>
            </a:r>
            <a:r>
              <a:rPr sz="1500">
                <a:solidFill>
                  <a:srgbClr val="A9B7C6"/>
                </a:solidFill>
                <a:latin typeface="Consolas"/>
              </a:rPr>
              <a:t>]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A9B7C6"/>
                </a:solidFill>
                <a:latin typeface="Consolas"/>
              </a:rPr>
              <a:t>*</a:t>
            </a:r>
            <a:r>
              <a:rPr sz="1500">
                <a:solidFill>
                  <a:srgbClr val="A9B7C6"/>
                </a:solidFill>
                <a:latin typeface="Consolas"/>
              </a:rPr>
              <a:t> </a:t>
            </a:r>
            <a:r>
              <a:rPr sz="1500">
                <a:solidFill>
                  <a:srgbClr val="6897BB"/>
                </a:solidFill>
                <a:latin typeface="Consolas"/>
              </a:rPr>
              <a:t>10</a:t>
            </a:r>
          </a:p>
          <a:p>
            <a:pPr>
              <a:spcAft>
                <a:spcPts val="0"/>
              </a:spcAft>
              <a:defRPr sz="1500">
                <a:latin typeface="Consolas"/>
              </a:defRPr>
            </a:pPr>
            <a:r>
              <a:rPr sz="1500">
                <a:solidFill>
                  <a:srgbClr val="8888C6"/>
                </a:solidFill>
                <a:latin typeface="Consolas"/>
              </a:rPr>
              <a:t>print</a:t>
            </a:r>
            <a:r>
              <a:rPr sz="1500">
                <a:solidFill>
                  <a:srgbClr val="A9B7C6"/>
                </a:solidFill>
                <a:latin typeface="Consolas"/>
              </a:rPr>
              <a:t>(</a:t>
            </a:r>
            <a:r>
              <a:rPr sz="1500">
                <a:solidFill>
                  <a:srgbClr val="A9B7C6"/>
                </a:solidFill>
                <a:latin typeface="Consolas"/>
              </a:rPr>
              <a:t>numbers</a:t>
            </a:r>
            <a:r>
              <a:rPr sz="15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97680"/>
            <a:ext cx="6613855" cy="1996440"/>
          </a:xfrm>
          <a:prstGeom prst="roundRect">
            <a:avLst>
              <a:gd name="adj" fmla="val 5496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кот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дом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сыр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0 кот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 дом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сыр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[10, 20, 30]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037840"/>
          </a:xfrm>
          <a:prstGeom prst="roundRect">
            <a:avLst>
              <a:gd name="adj" fmla="val 361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Оценки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grades = [4, 5, 3, 5, 4]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выведите среднюю и максимальную.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Посчитайте, сколько оценок выше средней.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Из списка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[0, 3, 0, 7, 5]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соберите новый список без нулей.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Выведите оценки по убыванию, не меняя сам список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grades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390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Ссылки и копии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b = a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не копирует список: получаются два имени для одного и того же списка.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926080"/>
            <a:ext cx="1097280" cy="54864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 tIns="109728" bIns="109728">
            <a:noAutofit/>
          </a:bodyPr>
          <a:lstStyle/>
          <a:p>
            <a:pPr algn="ctr">
              <a:spcAft>
                <a:spcPts val="200"/>
              </a:spcAft>
              <a:defRPr sz="1400"/>
            </a:pPr>
            <a:r>
              <a:rPr sz="1400" b="1" i="0">
                <a:solidFill>
                  <a:srgbClr val="14213D"/>
                </a:solidFill>
                <a:latin typeface="Consolas"/>
              </a:rP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389120"/>
            <a:ext cx="1097280" cy="54864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 tIns="109728" bIns="109728">
            <a:noAutofit/>
          </a:bodyPr>
          <a:lstStyle/>
          <a:p>
            <a:pPr algn="ctr">
              <a:spcAft>
                <a:spcPts val="200"/>
              </a:spcAft>
              <a:defRPr sz="1400"/>
            </a:pPr>
            <a:r>
              <a:rPr sz="1400" b="1" i="0">
                <a:solidFill>
                  <a:srgbClr val="14213D"/>
                </a:solidFill>
                <a:latin typeface="Consolas"/>
              </a:rPr>
              <a:t>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56616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06998"/>
            </a:solidFill>
          </a:ln>
        </p:spPr>
        <p:txBody>
          <a:bodyPr rtlCol="0" anchor="ctr" wrap="square" lIns="137160" rIns="137160" tIns="109728" bIns="109728">
            <a:noAutofit/>
          </a:bodyPr>
          <a:lstStyle/>
          <a:p>
            <a:pPr algn="ctr">
              <a:spcAft>
                <a:spcPts val="20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Arial"/>
              </a:rPr>
              <a:t>[4, 5, 6, 10]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292608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300"/>
            </a:pPr>
            <a:r>
              <a:rPr sz="1300" b="0" i="0">
                <a:solidFill>
                  <a:srgbClr val="1A1A1A"/>
                </a:solidFill>
                <a:latin typeface="Consolas"/>
              </a:rPr>
              <a:t>a = [4, 5, 6]</a:t>
            </a:r>
          </a:p>
          <a:p>
            <a:pPr algn="l">
              <a:spcAft>
                <a:spcPts val="200"/>
              </a:spcAft>
              <a:defRPr sz="1300"/>
            </a:pPr>
            <a:r>
              <a:rPr sz="1300" b="0" i="0">
                <a:solidFill>
                  <a:srgbClr val="1A1A1A"/>
                </a:solidFill>
                <a:latin typeface="Consolas"/>
              </a:rPr>
              <a:t>b = a</a:t>
            </a:r>
          </a:p>
          <a:p>
            <a:pPr algn="l">
              <a:spcAft>
                <a:spcPts val="200"/>
              </a:spcAft>
              <a:defRPr sz="1300"/>
            </a:pPr>
            <a:r>
              <a:rPr sz="1300" b="0" i="0">
                <a:solidFill>
                  <a:srgbClr val="1A1A1A"/>
                </a:solidFill>
                <a:latin typeface="Consolas"/>
              </a:rPr>
              <a:t>b.append(10)</a:t>
            </a:r>
          </a:p>
          <a:p>
            <a:pPr algn="l">
              <a:spcAft>
                <a:spcPts val="200"/>
              </a:spcAft>
              <a:defRPr sz="1300"/>
            </a:pPr>
            <a:r>
              <a:rPr sz="1300" b="0" i="0">
                <a:solidFill>
                  <a:srgbClr val="1A1A1A"/>
                </a:solidFill>
                <a:latin typeface="Consolas"/>
              </a:rPr>
              <a:t>print(a)  # [4, 5, 6, 10]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937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20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Нужна независимая копия: </a:t>
            </a:r>
            <a:r>
              <a:rPr sz="1300" b="0" i="0">
                <a:solidFill>
                  <a:srgbClr val="5F6B7A"/>
                </a:solidFill>
                <a:latin typeface="Consolas"/>
              </a:rPr>
              <a:t>c = a.copy()</a:t>
            </a:r>
            <a:r>
              <a:rPr sz="1300" b="0" i="0">
                <a:solidFill>
                  <a:srgbClr val="5F6B7A"/>
                </a:solidFill>
                <a:latin typeface="Arial"/>
              </a:rPr>
              <a:t> или </a:t>
            </a:r>
            <a:r>
              <a:rPr sz="1300" b="0" i="0">
                <a:solidFill>
                  <a:srgbClr val="5F6B7A"/>
                </a:solidFill>
                <a:latin typeface="Consolas"/>
              </a:rPr>
              <a:t>c = a[:]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3200400"/>
            <a:ext cx="2103120" cy="73152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103120" y="3931920"/>
            <a:ext cx="2103120" cy="731520"/>
          </a:xfrm>
          <a:prstGeom prst="line">
            <a:avLst/>
          </a:prstGeom>
          <a:ln w="22225">
            <a:solidFill>
              <a:srgbClr val="5F6B7A"/>
            </a:solidFill>
            <a:tailEnd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Кортежи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Кортеж это неизменяемый список: круглые скобки вместо квадратных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Элементы менять нельзя, поэтому кортеж безопасно передавать дальше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Распаковка: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x, y = point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раскладывает кортеж по переменным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Обмен значений в одну строку: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a, b = b, a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Кортеж из одного элемента пишется с запятой: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(1,)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divmod(17, 5)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возвращает кортеж: частное и остаток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point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y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point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y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point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divmod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17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one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one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3 4 2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2 1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(3, 2)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&lt;class 'tuple'&gt; &lt;class 'int'&gt;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Множества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Множество хранит только уникальные значения, порядок не хранится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set(items)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убирает дубли из списка одной функцией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Проверка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x in 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 множестве быстрее, чем в длинном списке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Операции: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|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объединение,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&amp;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пересечение,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-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разность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add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добавляет значение,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discard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убирает без ошибки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Пустое множество это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set()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{}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пустой словарь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12719"/>
          </a:xfrm>
          <a:prstGeom prst="roundRect">
            <a:avLst>
              <a:gd name="adj" fmla="val 40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4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5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6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5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6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6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5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unique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set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sorted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unique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len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unique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a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b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4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sorted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|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b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sorted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&amp;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b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sorted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-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b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a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add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a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discard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99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sorted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type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type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set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2148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[4, 5, 6]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[1, 2, 3, 4] [3] [1, 2]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[1, 2, 3, 10]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&lt;class 'dict'&gt; &lt;class 'set'&gt;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037840"/>
          </a:xfrm>
          <a:prstGeom prst="roundRect">
            <a:avLst>
              <a:gd name="adj" fmla="val 361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Поменяйте значения двух переменных местами одной строкой.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Из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[1, 2, 2, 3, 3, 3]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получите значения без повторов по возрастанию.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Даны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 = {1, 2, 3}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b = {2, 3, 4}</a:t>
            </a:r>
            <a:r>
              <a:rPr sz="2000" b="0" i="0">
                <a:solidFill>
                  <a:srgbClr val="1A1A1A"/>
                </a:solidFill>
                <a:latin typeface="Arial"/>
              </a:rPr>
              <a:t>: что общего, а что только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20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Сколько разных букв в слове «колокол»?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390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4 минут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Словари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Словарь хранит пары ключ и значение в фигурных скобках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Значение берём по ключу, а не по номеру: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week[1]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Ключ это строка, число или кортеж; значение что угодно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week[4] = 'Чт'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добавляет новый ключ или меняет значение старого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Несуществующий ключ даёт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KeyError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безопаснее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get(ключ, 0)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del week[1]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удаляет пару,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ключ in week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проверяет наличие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956559"/>
          </a:xfrm>
          <a:prstGeom prst="roundRect">
            <a:avLst>
              <a:gd name="adj" fmla="val 3711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Пн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Вт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Ср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len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4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Чт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понедельник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.</a:t>
            </a:r>
            <a:r>
              <a:rPr sz="1600">
                <a:solidFill>
                  <a:srgbClr val="A9B7C6"/>
                </a:solidFill>
                <a:latin typeface="Consolas"/>
              </a:rPr>
              <a:t>get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9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нет такого дня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9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del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8888C6"/>
                </a:solidFill>
                <a:latin typeface="Consolas"/>
              </a:rPr>
              <a:t>sorted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week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ages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Аня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19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Пётр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21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ages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Аня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465320"/>
            <a:ext cx="6613855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Пн 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{1: 'понедельник', 2: 'Вт', 3: 'Ср', 4: 'Чт'}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нет такого дня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False True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[2, 3, 4]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Перебор словаря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for key in week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перебирает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ключи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week.keys()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ключи,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week.values()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значения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week.items()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пары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из ключа и значения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Пару удобно сразу распаковать: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for key, value in week.items()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Порядок перебора это порядок добавления ключей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sum(week.values())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считает по значениям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ages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Аня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19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Пётр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Лиза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20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ages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end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list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keys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list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values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ages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name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: 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age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sum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values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ages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1996440"/>
          </a:xfrm>
          <a:prstGeom prst="roundRect">
            <a:avLst>
              <a:gd name="adj" fmla="val 5496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Аня Пётр Лиза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['Аня', 'Пётр', 'Лиза']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[19, 21, 20]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Аня: 19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Пётр: 21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Лиза: 20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20.0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Подсчёт частот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Словарь как счётчик: ключ это слово, значение это сколько раз оно встретилось.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13855" cy="3840480"/>
          </a:xfrm>
          <a:prstGeom prst="roundRect">
            <a:avLst>
              <a:gd name="adj" fmla="val 2857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кот дом кот сыр дом кот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counts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word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text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split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counts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word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counts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get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word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counts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best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best_count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word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counts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items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best_count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A9B7C6"/>
                </a:solidFill>
                <a:latin typeface="Consolas"/>
              </a:rPr>
              <a:t>best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best_count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word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чаще всего: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best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best_count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1828800"/>
            <a:ext cx="4206240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{'кот': 3, 'дом': 2, 'сыр': 1}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чаще всего: кот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037840"/>
          </a:xfrm>
          <a:prstGeom prst="roundRect">
            <a:avLst>
              <a:gd name="adj" fmla="val 3612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Найдите самого старшего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{"Аня": 19, "Пётр": 21, "Лиза": 20}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Выведите имена тех, кому больше 19 лет.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Выведите пары этого словаря по алфавиту.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4.  Посчитайте частоты слов строки «да нет да да» и выведите пары.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3906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List comprehension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Comprehension собирает новый список из старого одной строкой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Схема: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[выражение for x in последовательность]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 условием: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[x for x in items if x != 0]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Читается слева направо: взять x из items, если x не ноль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фигурных скобках так же собираются множество и словарь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Если строка не помещается в голове, обычный цикл честнее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squares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range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squares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7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!=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words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кот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домик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сыр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w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upper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words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w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words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A9B7C6"/>
                </a:solidFill>
                <a:latin typeface="Consolas"/>
              </a:rPr>
              <a:t>w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w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words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8888C6"/>
                </a:solidFill>
                <a:latin typeface="Consolas"/>
              </a:rPr>
              <a:t>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4 8 15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split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[0, 1, 4, 9, 16, 25]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[3, -2, 7]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['КОТ', 'ДОМИК', 'СЫР']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{3, 5}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{'кот': 3, 'домик': 5, 'сыр': 3}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[4, 8, 15]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Вложенные структуры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списке лежат словари: так хранят таблицу записей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Обращение по цепочке: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students[0]['name']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Матрица это список списков: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matrix[1][2]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строка 1, столбец 2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Перебор матрицы: внешний цикл по строкам, внутренний по элементам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Так же устроены данные из интернета в формате 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01752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students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name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Аня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age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19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name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Пётр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age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21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students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name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students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age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student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students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student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name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student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age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matrix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5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matrix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for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row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matrix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sum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row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526280"/>
            <a:ext cx="6613855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Аня 21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Аня 19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Пётр 21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6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6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items = items.sort()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32588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Метод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sort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сортирует на месте и возвращает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None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Новый список даёт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sorted(items)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5072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for x in items: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items.remove(x)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195072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Удаление во время перебора пропускает элементы. Собирайте новый список.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7556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counts['нет']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257556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Ключа нет, значит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KeyError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Безопасно: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counts.get('нет', 0)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b = a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b.append(1)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20040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Это два имени одного списка: изменится и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a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 Копия: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a.copy()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one = 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379476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Это число в скобках, а не кортеж. Кортеж из одного элемента: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(1,)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1960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s = {}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441960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Это пустой словарь. Пустое множество создаётся так: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set()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Список хранит много значений: индексы, срезы,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append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pop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in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sorted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возвращает новый список,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items.sort()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меняет старый и возвращает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None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b = a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даёт второе имя тому же списку, копия это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a.copy()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или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a[:]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Кортеж неизменяем и распаковывается, множество хранит только уникальные значения.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Словарь это пары ключ и значение: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d[k]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d.get(k, 0)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d.items()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Comprehension собирает список одной строкой: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[x ** 2 for x in range(10)]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Сумма по коротким ключам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число n, затем n строк вида «ключ значение». Выведите сумму значений с ключом из одной буквы.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2432"/>
            <a:ext cx="5364327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asd 16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a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s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dsf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932432"/>
            <a:ext cx="5364327" cy="11338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x 10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yy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z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40608"/>
            <a:ext cx="11094415" cy="835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Топ-3 слов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Выведите три самых частых слова строки без учёта регистра, по одному в строке в формате «слово число». При равной частоте раньше идёт то слово, которое встретилось первым. Разных слов может оказаться меньше трёх.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75760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да Нет да ДА нет кот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175760"/>
            <a:ext cx="752825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да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нет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кот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35296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Сортировка пузырьком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Числа задаются одной строкой. Отсортируйте их пузырьком, без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sort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sorted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и выведите через пробел.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41848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5 3 1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 3 4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5641848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2 2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 2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Серия чётных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Числа задаются одной строкой. Выведите самую длинную серию подряд идущих чётных чисел, иначе слово «нет».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2432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 2 4 6 3 8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2 4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932432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 3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9088"/>
            <a:ext cx="11094415" cy="6065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Матрица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Прочитайте число n, затем n строк по n чисел. Выведите транспонированную матрицу и сумму главной диагонали.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15640"/>
            <a:ext cx="5364327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3215640"/>
            <a:ext cx="5364327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1 2 3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4 5 6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7 8 9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 4 7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2 5 8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3 6 9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3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835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6.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Инвентарь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Команды приходят по одной в строке: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add предмет число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добавляет,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remove предмет число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убирает (в минус не уходим),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show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печатает пары «предмет число» по алфавиту или слово «пусто»,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stop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завершает работу.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3291840" cy="1316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add меч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add зелье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remove зелье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show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remove меч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show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61032"/>
            <a:ext cx="7528255" cy="13167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зелье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меч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зелье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