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Сегодня программа впервые перестанет падать от кривого ввода и научится запоминать результаты между запусками. Это ровно то, что нужно курсовому проекту.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Три минуты, спрашивать вслух. Третий вопрос понадобится сегодня в игре «Виселица».</a:t>
            </a:r>
          </a:p>
          <a:p/>
          <a:p>
            <a:r>
              <a:t>Ответы:</a:t>
            </a:r>
          </a:p>
          <a:p>
            <a:r>
              <a:t>1. `None`. Проверить можно так: `print(f())`</a:t>
            </a:r>
          </a:p>
          <a:p>
            <a:r>
              <a:t>2. Код под ней выполняется при запуске файла и не выполняется при импорте модуля</a:t>
            </a:r>
          </a:p>
          <a:p>
            <a:r>
              <a:t>3. Возвращает случайный элемент списка, здесь одно из чисел 1, 2 или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Путь к файлу на слайде сокращён, у студентов он будет длинным и кликабельным: PyCharm откроет нужную строку по клику. Спросить: какая строка виновата, 6 или 2? Виновата 2, а 6 её вызвала. Стрелки ^^^ показывают, какое выражение не сработало.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Пробежаться глазами, не зачитывать. Сказать: имена длинные, но читаемые, и почти всегда понятны без словаря.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Запустить дважды: с числом и с буквами. Спросить, что напечатается в каждом случае до запуска.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Обратить внимание: `return` внутри `try` выходит из функции и из цикла сразу. Эту функцию сегодня же скопируем в решения задач.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Первое задание делают все, третье для тех, кто быстрый. Третье обычно удивляет: строка с точкой в int не превращается.</a:t>
            </a:r>
          </a:p>
          <a:p/>
          <a:p>
            <a:r>
              <a:t>Ответы:</a:t>
            </a:r>
          </a:p>
          <a:p>
            <a:r>
              <a:t>1. a = int(input())</a:t>
            </a:r>
          </a:p>
          <a:p>
            <a:r>
              <a:t>b = int(input())</a:t>
            </a:r>
          </a:p>
          <a:p>
            <a:r>
              <a:t>try:</a:t>
            </a:r>
          </a:p>
          <a:p>
            <a:r>
              <a:t>    print(a / b)</a:t>
            </a:r>
          </a:p>
          <a:p>
            <a:r>
              <a:t>except ZeroDivisionError:</a:t>
            </a:r>
          </a:p>
          <a:p>
            <a:r>
              <a:t>    print('Делить на ноль нельзя')</a:t>
            </a:r>
          </a:p>
          <a:p>
            <a:r>
              <a:t>2. Тот же цикл `while True`, только `float(input(prompt))` вместо `int(...)`</a:t>
            </a:r>
          </a:p>
          <a:p>
            <a:r>
              <a:t>3. ValueError: invalid literal for int() with base 10: '3.5'. Целое из строки с точкой получают так: int(float('3.5'))</a:t>
            </a:r>
          </a:p>
          <a:p>
            <a:r>
              <a:t>4. Взять `ask_int` из примера и вызвать её два раза вместо двух `input`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Спросить: почему не просто `print('плохой возраст')` внутри функции? Потому что функция не знает, что делать дальше, а вызывающий код знает.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 в PyCharm, как файл появляется в дереве проекта после запуска. Сказать: старый способ через `f.close()` работает, но про него забывают.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Спросить, что будет без `strip()`: длина вырастет на единицу из-за `\n`. Второй аргумент `enumerate` задаёт начало нумерации.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Спросить, что изменится, если во второй раз открыть файл с режимом `w`: кот и дом пропадут.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Файл появится в папке проекта, его видно в дереве слева. Если файл не появился, значит программа запущена из другой папки.</a:t>
            </a:r>
          </a:p>
          <a:p/>
          <a:p>
            <a:r>
              <a:t>Ответы:</a:t>
            </a:r>
          </a:p>
          <a:p>
            <a:r>
              <a:t>1. with open('notes.txt', 'w', encoding='utf-8') as f:</a:t>
            </a:r>
          </a:p>
          <a:p>
            <a:r>
              <a:t>    for i in range(1, 6):</a:t>
            </a:r>
          </a:p>
          <a:p>
            <a:r>
              <a:t>        f.write(f'строка {i}\n')</a:t>
            </a:r>
          </a:p>
          <a:p>
            <a:r>
              <a:t>2. with open('notes.txt', 'r', encoding='utf-8') as f:</a:t>
            </a:r>
          </a:p>
          <a:p>
            <a:r>
              <a:t>    for i, line in enumerate(f, 1):</a:t>
            </a:r>
          </a:p>
          <a:p>
            <a:r>
              <a:t>        print(f'{i}: {line.strip()}')</a:t>
            </a:r>
          </a:p>
          <a:p>
            <a:r>
              <a:t>3. total = 0</a:t>
            </a:r>
          </a:p>
          <a:p>
            <a:r>
              <a:t>filled = 0</a:t>
            </a:r>
          </a:p>
          <a:p>
            <a:r>
              <a:t>with open('notes.txt', 'r', encoding='utf-8') as f:</a:t>
            </a:r>
          </a:p>
          <a:p>
            <a:r>
              <a:t>    for line in f:</a:t>
            </a:r>
          </a:p>
          <a:p>
            <a:r>
              <a:t>        total += 1</a:t>
            </a:r>
          </a:p>
          <a:p>
            <a:r>
              <a:t>        if line.strip():</a:t>
            </a:r>
          </a:p>
          <a:p>
            <a:r>
              <a:t>            filled += 1</a:t>
            </a:r>
          </a:p>
          <a:p>
            <a:r>
              <a:t>print(total, filled)</a:t>
            </a:r>
          </a:p>
          <a:p>
            <a:r>
              <a:t>4. Строк станет десять: режим `a` дописывает, а не затирает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Слово выбрано самым длинным нарочно: так пример на слайде даёт один и тот же вывод при каждом запуске. В demo/04_files.py и в игре стоит `random.choice`. Обратить внимание на режим `a`: результаты копятся, а не затираются.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Открыть получившийся файл в PyCharm: это обычный текст, его можно править руками. Сказать, что json.load возвращает точно такой же список словарей, что и записывали.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Напомнить про `import json` в начале файла. Файл открывается прямо в PyCharm двойным щелчком в дереве проекта.</a:t>
            </a:r>
          </a:p>
          <a:p/>
          <a:p>
            <a:r>
              <a:t>Ответы:</a:t>
            </a:r>
          </a:p>
          <a:p>
            <a:r>
              <a:t>1. data = {'name': 'Аня', 'number': 7}; json.dump(data, f, ensure_ascii=False)</a:t>
            </a:r>
          </a:p>
          <a:p>
            <a:r>
              <a:t>2. data = json.load(f); print(data['name'], data['number'])</a:t>
            </a:r>
          </a:p>
          <a:p>
            <a:r>
              <a:t>3. data['theme'] = 'dark', затем снова открыть файл с режимом 'w' и json.dump</a:t>
            </a:r>
          </a:p>
          <a:p>
            <a:r>
              <a:t>4. С `indent=2` файл раскладывается по строкам с отступами, без него он в одну строку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 вживую окно Python Packages и установку rich. Сказать, что requirements.txt обязателен в курсовом, если взяли внешнюю библиотеку.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 вживую: в консоли текст будет цветным, на слайде цвет передать нечем. Сказать, что `from rich import print` перекрывает встроенный print, и это тот редкий случай, когда так делают нарочно.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Первые две ошибки встречаются у всех и в курсовом тоже.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Задачи 1–4 обязательные, 5 и 6 по желанию. Задача 3 это готовый кусок курсового проекта, задача 5 почти целиком таблица рекордов из игры.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txBody>
          <a:bodyPr rtlCol="0" anchor="t" wrap="square" lIns="137160" rIns="137160" tIns="109728" bIns="109728">
            <a:noAutofit/>
          </a:bodyPr>
          <a:lstStyle/>
          <a:p>
            <a:pPr algn="l"/>
          </a:p>
        </p:txBody>
      </p:sp>
      <p:sp>
        <p:nvSpPr>
          <p:cNvPr id="3" name="Rounded Rectangle 2"/>
          <p:cNvSpPr/>
          <p:nvPr/>
        </p:nvSpPr>
        <p:spPr>
          <a:xfrm>
            <a:off x="822960" y="1737360"/>
            <a:ext cx="1554480" cy="457200"/>
          </a:xfrm>
          <a:prstGeom prst="roundRect">
            <a:avLst>
              <a:gd name="adj" fmla="val 8000"/>
            </a:avLst>
          </a:prstGeom>
          <a:solidFill>
            <a:srgbClr val="FFD43B"/>
          </a:solidFill>
          <a:ln>
            <a:noFill/>
          </a:ln>
        </p:spPr>
        <p:txBody>
          <a:bodyPr rtlCol="0" anchor="ctr" wrap="square" lIns="137160" rIns="137160">
            <a:noAutofit/>
          </a:bodyPr>
          <a:lstStyle/>
          <a:p>
            <a:pPr algn="ctr">
              <a:spcAft>
                <a:spcPts val="0"/>
              </a:spcAft>
              <a:defRPr sz="1500"/>
            </a:pPr>
            <a:r>
              <a:rPr sz="1500" b="1" i="0">
                <a:solidFill>
                  <a:srgbClr val="14213D"/>
                </a:solidFill>
                <a:latin typeface="Arial"/>
              </a:rPr>
              <a:t>УРОК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515600" cy="1645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4000"/>
            </a:pPr>
            <a:r>
              <a:rPr sz="4000" b="1" i="0">
                <a:solidFill>
                  <a:srgbClr val="FFFFFF"/>
                </a:solidFill>
                <a:latin typeface="Arial"/>
              </a:rPr>
              <a:t>Ошибки, файлы, библиотеки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2000"/>
            </a:pPr>
            <a:r>
              <a:rPr sz="2000" b="0" i="0">
                <a:solidFill>
                  <a:srgbClr val="DCE3F0"/>
                </a:solidFill>
                <a:latin typeface="Arial"/>
              </a:rPr>
              <a:t>Писать программы, которые не падают на плохом вводе, работают с файлами и внешними библиотеками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064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200"/>
              </a:spcAft>
              <a:defRPr sz="1400"/>
            </a:pPr>
            <a:r>
              <a:rPr sz="1400" b="0" i="0">
                <a:solidFill>
                  <a:srgbClr val="AAB4C8"/>
                </a:solidFill>
                <a:latin typeface="Arial"/>
              </a:rPr>
              <a:t>Кравчинский Сергей Андреевич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AAB4C8"/>
                </a:solidFill>
                <a:latin typeface="Arial"/>
              </a:rPr>
              <a:t>kravchinskiy.sa@gmail.com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Вспомним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5 ·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11094415" cy="4846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1800"/>
              </a:spcAft>
              <a:defRPr sz="2200"/>
            </a:pPr>
            <a:r>
              <a:rPr sz="2200" b="0" i="0">
                <a:solidFill>
                  <a:srgbClr val="1A1A1A"/>
                </a:solidFill>
                <a:latin typeface="Arial"/>
              </a:rPr>
              <a:t>1.  Что вернёт функция, в которой нет </a:t>
            </a:r>
            <a:r>
              <a:rPr sz="2200" b="0" i="0">
                <a:solidFill>
                  <a:srgbClr val="1F5F8B"/>
                </a:solidFill>
                <a:latin typeface="Consolas"/>
              </a:rPr>
              <a:t>return</a:t>
            </a:r>
            <a:r>
              <a:rPr sz="2200" b="0" i="0">
                <a:solidFill>
                  <a:srgbClr val="1A1A1A"/>
                </a:solidFill>
                <a:latin typeface="Arial"/>
              </a:rPr>
              <a:t>?</a:t>
            </a:r>
          </a:p>
          <a:p>
            <a:pPr>
              <a:spcAft>
                <a:spcPts val="1800"/>
              </a:spcAft>
              <a:defRPr sz="2200"/>
            </a:pPr>
            <a:r>
              <a:rPr sz="2200" b="0" i="0">
                <a:solidFill>
                  <a:srgbClr val="1A1A1A"/>
                </a:solidFill>
                <a:latin typeface="Arial"/>
              </a:rPr>
              <a:t>2.  Зачем нужна строка </a:t>
            </a:r>
            <a:r>
              <a:rPr sz="2200" b="0" i="0">
                <a:solidFill>
                  <a:srgbClr val="1F5F8B"/>
                </a:solidFill>
                <a:latin typeface="Consolas"/>
              </a:rPr>
              <a:t>if __name__ == '__main__':</a:t>
            </a:r>
            <a:r>
              <a:rPr sz="2200" b="0" i="0">
                <a:solidFill>
                  <a:srgbClr val="1A1A1A"/>
                </a:solidFill>
                <a:latin typeface="Arial"/>
              </a:rPr>
              <a:t>?</a:t>
            </a:r>
          </a:p>
          <a:p>
            <a:pPr>
              <a:spcAft>
                <a:spcPts val="1800"/>
              </a:spcAft>
              <a:defRPr sz="2200"/>
            </a:pPr>
            <a:r>
              <a:rPr sz="2200" b="0" i="0">
                <a:solidFill>
                  <a:srgbClr val="1A1A1A"/>
                </a:solidFill>
                <a:latin typeface="Arial"/>
              </a:rPr>
              <a:t>3.  Что делает </a:t>
            </a:r>
            <a:r>
              <a:rPr sz="2200" b="0" i="0">
                <a:solidFill>
                  <a:srgbClr val="1F5F8B"/>
                </a:solidFill>
                <a:latin typeface="Consolas"/>
              </a:rPr>
              <a:t>random.choice([1, 2, 3])</a:t>
            </a:r>
            <a:r>
              <a:rPr sz="2200" b="0" i="0">
                <a:solidFill>
                  <a:srgbClr val="1A1A1A"/>
                </a:solidFill>
                <a:latin typeface="Arial"/>
              </a:rPr>
              <a:t>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Ошибки бывают разные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5 ·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206240" cy="5029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1" i="0">
                <a:solidFill>
                  <a:srgbClr val="1A1A1A"/>
                </a:solidFill>
                <a:latin typeface="Arial"/>
              </a:rPr>
              <a:t>SyntaxError</a:t>
            </a:r>
            <a:r>
              <a:rPr sz="1800" b="0" i="0">
                <a:solidFill>
                  <a:srgbClr val="1A1A1A"/>
                </a:solidFill>
                <a:latin typeface="Arial"/>
              </a:rPr>
              <a:t>: Python не понял код, запуска не будет вовсе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1" i="0">
                <a:solidFill>
                  <a:srgbClr val="1A1A1A"/>
                </a:solidFill>
                <a:latin typeface="Arial"/>
              </a:rPr>
              <a:t>Исключение</a:t>
            </a:r>
            <a:r>
              <a:rPr sz="1800" b="0" i="0">
                <a:solidFill>
                  <a:srgbClr val="1A1A1A"/>
                </a:solidFill>
                <a:latin typeface="Arial"/>
              </a:rPr>
              <a:t>: код запустился и сломался на конкретной строке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Traceback читаем </a:t>
            </a:r>
            <a:r>
              <a:rPr sz="1800" b="1" i="0">
                <a:solidFill>
                  <a:srgbClr val="1A1A1A"/>
                </a:solidFill>
                <a:latin typeface="Arial"/>
              </a:rPr>
              <a:t>снизу вверх</a:t>
            </a:r>
            <a:r>
              <a:rPr sz="1800" b="0" i="0">
                <a:solidFill>
                  <a:srgbClr val="1A1A1A"/>
                </a:solidFill>
                <a:latin typeface="Arial"/>
              </a:rPr>
              <a:t>: внизу тип и сообщение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Выше строка, на которой всё сломалось, и её номер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Ещё выше та строка, которая её вызвала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Необработанное исключение останавливает программу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199" y="1325880"/>
            <a:ext cx="6613855" cy="1920239"/>
          </a:xfrm>
          <a:prstGeom prst="roundRect">
            <a:avLst>
              <a:gd name="adj" fmla="val 5714"/>
            </a:avLst>
          </a:prstGeom>
          <a:solidFill>
            <a:srgbClr val="2B2B2B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CC7832"/>
                </a:solidFill>
                <a:latin typeface="Consolas"/>
              </a:rPr>
              <a:t>def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FFC66D"/>
                </a:solidFill>
                <a:latin typeface="Consolas"/>
              </a:rPr>
              <a:t>average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numbers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  <a:r>
              <a:rPr sz="18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    </a:t>
            </a:r>
            <a:r>
              <a:rPr sz="1800">
                <a:solidFill>
                  <a:srgbClr val="CC7832"/>
                </a:solidFill>
                <a:latin typeface="Consolas"/>
              </a:rPr>
              <a:t>return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8888C6"/>
                </a:solidFill>
                <a:latin typeface="Consolas"/>
              </a:rPr>
              <a:t>sum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numbers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/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8888C6"/>
                </a:solidFill>
                <a:latin typeface="Consolas"/>
              </a:rPr>
              <a:t>len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numbers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8888C6"/>
                </a:solidFill>
                <a:latin typeface="Consolas"/>
              </a:rPr>
              <a:t>print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average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[</a:t>
            </a:r>
            <a:r>
              <a:rPr sz="1800">
                <a:solidFill>
                  <a:srgbClr val="6897BB"/>
                </a:solidFill>
                <a:latin typeface="Consolas"/>
              </a:rPr>
              <a:t>4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897BB"/>
                </a:solidFill>
                <a:latin typeface="Consolas"/>
              </a:rPr>
              <a:t>5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897BB"/>
                </a:solidFill>
                <a:latin typeface="Consolas"/>
              </a:rPr>
              <a:t>3</a:t>
            </a:r>
            <a:r>
              <a:rPr sz="1800">
                <a:solidFill>
                  <a:srgbClr val="A9B7C6"/>
                </a:solidFill>
                <a:latin typeface="Consolas"/>
              </a:rPr>
              <a:t>]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8888C6"/>
                </a:solidFill>
                <a:latin typeface="Consolas"/>
              </a:rPr>
              <a:t>print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average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[</a:t>
            </a:r>
            <a:r>
              <a:rPr sz="1800">
                <a:solidFill>
                  <a:srgbClr val="A9B7C6"/>
                </a:solidFill>
                <a:latin typeface="Consolas"/>
              </a:rPr>
              <a:t>]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199" y="3429000"/>
            <a:ext cx="6613855" cy="2148839"/>
          </a:xfrm>
          <a:prstGeom prst="roundRect">
            <a:avLst>
              <a:gd name="adj" fmla="val 5106"/>
            </a:avLst>
          </a:prstGeom>
          <a:solidFill>
            <a:srgbClr val="F4F6F8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20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Вывод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1A1A1A"/>
                </a:solidFill>
                <a:latin typeface="Consolas"/>
              </a:rPr>
              <a:t>4.0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1A1A1A"/>
                </a:solidFill>
                <a:latin typeface="Consolas"/>
              </a:rPr>
              <a:t>Traceback (most recent call last):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1A1A1A"/>
                </a:solidFill>
                <a:latin typeface="Consolas"/>
              </a:rPr>
              <a:t>  File "C:\lesson5\main.py", line 6, in &lt;module&gt;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1A1A1A"/>
                </a:solidFill>
                <a:latin typeface="Consolas"/>
              </a:rPr>
              <a:t>    print(average([]))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1A1A1A"/>
                </a:solidFill>
                <a:latin typeface="Consolas"/>
              </a:rPr>
              <a:t>          ^^^^^^^^^^^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1A1A1A"/>
                </a:solidFill>
                <a:latin typeface="Consolas"/>
              </a:rPr>
              <a:t>  File "C:\lesson5\main.py", line 2, in average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1A1A1A"/>
                </a:solidFill>
                <a:latin typeface="Consolas"/>
              </a:rPr>
              <a:t>    return sum(numbers) / len(numbers)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1A1A1A"/>
                </a:solidFill>
                <a:latin typeface="Consolas"/>
              </a:rPr>
              <a:t>           ~~~~~~~~~~~~~^~~~~~~~~~~~~~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1A1A1A"/>
                </a:solidFill>
                <a:latin typeface="Consolas"/>
              </a:rPr>
              <a:t>ZeroDivisionError: division by zero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Частые исключения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5 ·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415" cy="4114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Тип исключения это уже половина ответа: он говорит, что именно пошло не так.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828800"/>
          <a:ext cx="11094413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1194"/>
                <a:gridCol w="5392145"/>
                <a:gridCol w="2701074"/>
              </a:tblGrid>
              <a:tr h="3840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600"/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Arial"/>
                        </a:rPr>
                        <a:t>Тип</a:t>
                      </a:r>
                    </a:p>
                  </a:txBody>
                  <a:tcPr marL="91440" marR="91440" marT="45720" marB="45720" anchor="ctr">
                    <a:solidFill>
                      <a:srgbClr val="30699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600"/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Arial"/>
                        </a:rPr>
                        <a:t>Когда возникает</a:t>
                      </a:r>
                    </a:p>
                  </a:txBody>
                  <a:tcPr marL="91440" marR="91440" marT="45720" marB="45720" anchor="ctr">
                    <a:solidFill>
                      <a:srgbClr val="30699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600"/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Arial"/>
                        </a:rPr>
                        <a:t>Пример</a:t>
                      </a:r>
                    </a:p>
                  </a:txBody>
                  <a:tcPr marL="91440" marR="91440" marT="45720" marB="45720" anchor="ctr">
                    <a:solidFill>
                      <a:srgbClr val="30699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600"/>
                      </a:pPr>
                      <a:r>
                        <a:rPr sz="1600" b="0" i="0">
                          <a:solidFill>
                            <a:srgbClr val="1A1A1A"/>
                          </a:solidFill>
                          <a:latin typeface="Consolas"/>
                        </a:rPr>
                        <a:t>ValueError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600"/>
                      </a:pPr>
                      <a:r>
                        <a:rPr sz="1600" b="0" i="0">
                          <a:solidFill>
                            <a:srgbClr val="1A1A1A"/>
                          </a:solidFill>
                          <a:latin typeface="Arial"/>
                        </a:rPr>
                        <a:t>тип годится, а само значение нет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600"/>
                      </a:pPr>
                      <a:r>
                        <a:rPr sz="1600" b="0" i="0">
                          <a:solidFill>
                            <a:srgbClr val="1A1A1A"/>
                          </a:solidFill>
                          <a:latin typeface="Consolas"/>
                        </a:rPr>
                        <a:t>int('пять')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600"/>
                      </a:pPr>
                      <a:r>
                        <a:rPr sz="1600" b="0" i="0">
                          <a:solidFill>
                            <a:srgbClr val="1A1A1A"/>
                          </a:solidFill>
                          <a:latin typeface="Consolas"/>
                        </a:rPr>
                        <a:t>TypeError</a:t>
                      </a:r>
                    </a:p>
                  </a:txBody>
                  <a:tcPr marL="91440" marR="91440" marT="45720" marB="4572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600"/>
                      </a:pPr>
                      <a:r>
                        <a:rPr sz="1600" b="0" i="0">
                          <a:solidFill>
                            <a:srgbClr val="1A1A1A"/>
                          </a:solidFill>
                          <a:latin typeface="Arial"/>
                        </a:rPr>
                        <a:t>операция не определена для таких типов</a:t>
                      </a:r>
                    </a:p>
                  </a:txBody>
                  <a:tcPr marL="91440" marR="91440" marT="45720" marB="4572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600"/>
                      </a:pPr>
                      <a:r>
                        <a:rPr sz="1600" b="0" i="0">
                          <a:solidFill>
                            <a:srgbClr val="1A1A1A"/>
                          </a:solidFill>
                          <a:latin typeface="Consolas"/>
                        </a:rPr>
                        <a:t>'5' + 5</a:t>
                      </a:r>
                    </a:p>
                  </a:txBody>
                  <a:tcPr marL="91440" marR="91440" marT="45720" marB="45720" anchor="ctr">
                    <a:solidFill>
                      <a:srgbClr val="F4F6F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600"/>
                      </a:pPr>
                      <a:r>
                        <a:rPr sz="1600" b="0" i="0">
                          <a:solidFill>
                            <a:srgbClr val="1A1A1A"/>
                          </a:solidFill>
                          <a:latin typeface="Consolas"/>
                        </a:rPr>
                        <a:t>ZeroDivisionError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600"/>
                      </a:pPr>
                      <a:r>
                        <a:rPr sz="1600" b="0" i="0">
                          <a:solidFill>
                            <a:srgbClr val="1A1A1A"/>
                          </a:solidFill>
                          <a:latin typeface="Arial"/>
                        </a:rPr>
                        <a:t>деление на ноль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600"/>
                      </a:pPr>
                      <a:r>
                        <a:rPr sz="1600" b="0" i="0">
                          <a:solidFill>
                            <a:srgbClr val="1A1A1A"/>
                          </a:solidFill>
                          <a:latin typeface="Consolas"/>
                        </a:rPr>
                        <a:t>10 / 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600"/>
                      </a:pPr>
                      <a:r>
                        <a:rPr sz="1600" b="0" i="0">
                          <a:solidFill>
                            <a:srgbClr val="1A1A1A"/>
                          </a:solidFill>
                          <a:latin typeface="Consolas"/>
                        </a:rPr>
                        <a:t>IndexError</a:t>
                      </a:r>
                    </a:p>
                  </a:txBody>
                  <a:tcPr marL="91440" marR="91440" marT="45720" marB="4572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600"/>
                      </a:pPr>
                      <a:r>
                        <a:rPr sz="1600" b="0" i="0">
                          <a:solidFill>
                            <a:srgbClr val="1A1A1A"/>
                          </a:solidFill>
                          <a:latin typeface="Arial"/>
                        </a:rPr>
                        <a:t>такого индекса в списке или строке нет</a:t>
                      </a:r>
                    </a:p>
                  </a:txBody>
                  <a:tcPr marL="91440" marR="91440" marT="45720" marB="4572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600"/>
                      </a:pPr>
                      <a:r>
                        <a:rPr sz="1600" b="0" i="0">
                          <a:solidFill>
                            <a:srgbClr val="1A1A1A"/>
                          </a:solidFill>
                          <a:latin typeface="Consolas"/>
                        </a:rPr>
                        <a:t>[1, 2][5]</a:t>
                      </a:r>
                    </a:p>
                  </a:txBody>
                  <a:tcPr marL="91440" marR="91440" marT="45720" marB="45720" anchor="ctr">
                    <a:solidFill>
                      <a:srgbClr val="F4F6F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600"/>
                      </a:pPr>
                      <a:r>
                        <a:rPr sz="1600" b="0" i="0">
                          <a:solidFill>
                            <a:srgbClr val="1A1A1A"/>
                          </a:solidFill>
                          <a:latin typeface="Consolas"/>
                        </a:rPr>
                        <a:t>KeyError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600"/>
                      </a:pPr>
                      <a:r>
                        <a:rPr sz="1600" b="0" i="0">
                          <a:solidFill>
                            <a:srgbClr val="1A1A1A"/>
                          </a:solidFill>
                          <a:latin typeface="Arial"/>
                        </a:rPr>
                        <a:t>такого ключа нет в словаре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600"/>
                      </a:pPr>
                      <a:r>
                        <a:rPr sz="1600" b="0" i="0">
                          <a:solidFill>
                            <a:srgbClr val="1A1A1A"/>
                          </a:solidFill>
                          <a:latin typeface="Consolas"/>
                        </a:rPr>
                        <a:t>{'a': 1}['b']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600"/>
                      </a:pPr>
                      <a:r>
                        <a:rPr sz="1600" b="0" i="0">
                          <a:solidFill>
                            <a:srgbClr val="1A1A1A"/>
                          </a:solidFill>
                          <a:latin typeface="Consolas"/>
                        </a:rPr>
                        <a:t>FileNotFoundError</a:t>
                      </a:r>
                    </a:p>
                  </a:txBody>
                  <a:tcPr marL="91440" marR="91440" marT="45720" marB="4572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600"/>
                      </a:pPr>
                      <a:r>
                        <a:rPr sz="1600" b="0" i="0">
                          <a:solidFill>
                            <a:srgbClr val="1A1A1A"/>
                          </a:solidFill>
                          <a:latin typeface="Arial"/>
                        </a:rPr>
                        <a:t>файла нет по указанному пути</a:t>
                      </a:r>
                    </a:p>
                  </a:txBody>
                  <a:tcPr marL="91440" marR="91440" marT="45720" marB="4572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600"/>
                      </a:pPr>
                      <a:r>
                        <a:rPr sz="1600" b="0" i="0">
                          <a:solidFill>
                            <a:srgbClr val="1A1A1A"/>
                          </a:solidFill>
                          <a:latin typeface="Consolas"/>
                        </a:rPr>
                        <a:t>open('нет.txt')</a:t>
                      </a:r>
                    </a:p>
                  </a:txBody>
                  <a:tcPr marL="91440" marR="91440" marT="45720" marB="45720" anchor="ctr">
                    <a:solidFill>
                      <a:srgbClr val="F4F6F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600"/>
                      </a:pPr>
                      <a:r>
                        <a:rPr sz="1600" b="0" i="0">
                          <a:solidFill>
                            <a:srgbClr val="1A1A1A"/>
                          </a:solidFill>
                          <a:latin typeface="Consolas"/>
                        </a:rPr>
                        <a:t>NameError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600"/>
                      </a:pPr>
                      <a:r>
                        <a:rPr sz="1600" b="0" i="0">
                          <a:solidFill>
                            <a:srgbClr val="1A1A1A"/>
                          </a:solidFill>
                          <a:latin typeface="Arial"/>
                        </a:rPr>
                        <a:t>имя не определено, чаще всего опечатка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600"/>
                      </a:pPr>
                      <a:r>
                        <a:rPr sz="1600" b="0" i="0">
                          <a:solidFill>
                            <a:srgbClr val="1A1A1A"/>
                          </a:solidFill>
                          <a:latin typeface="Consolas"/>
                        </a:rPr>
                        <a:t>prnit(5)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600"/>
                      </a:pPr>
                      <a:r>
                        <a:rPr sz="1600" b="0" i="0">
                          <a:solidFill>
                            <a:srgbClr val="1A1A1A"/>
                          </a:solidFill>
                          <a:latin typeface="Consolas"/>
                        </a:rPr>
                        <a:t>AttributeError</a:t>
                      </a:r>
                    </a:p>
                  </a:txBody>
                  <a:tcPr marL="91440" marR="91440" marT="45720" marB="4572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600"/>
                      </a:pPr>
                      <a:r>
                        <a:rPr sz="1600" b="0" i="0">
                          <a:solidFill>
                            <a:srgbClr val="1A1A1A"/>
                          </a:solidFill>
                          <a:latin typeface="Arial"/>
                        </a:rPr>
                        <a:t>у объекта нет такого метода</a:t>
                      </a:r>
                    </a:p>
                  </a:txBody>
                  <a:tcPr marL="91440" marR="91440" marT="45720" marB="4572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  <a:defRPr sz="1600"/>
                      </a:pPr>
                      <a:r>
                        <a:rPr sz="1600" b="0" i="0">
                          <a:solidFill>
                            <a:srgbClr val="1A1A1A"/>
                          </a:solidFill>
                          <a:latin typeface="Consolas"/>
                        </a:rPr>
                        <a:t>'abc'.push('d')</a:t>
                      </a:r>
                    </a:p>
                  </a:txBody>
                  <a:tcPr marL="91440" marR="91440" marT="45720" marB="45720" anchor="ctr"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try и except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5 ·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206240" cy="5029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В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try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то, что может сломаться; в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except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что делать, если сломалось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Ловим </a:t>
            </a:r>
            <a:r>
              <a:rPr sz="1800" b="1" i="0">
                <a:solidFill>
                  <a:srgbClr val="1A1A1A"/>
                </a:solidFill>
                <a:latin typeface="Arial"/>
              </a:rPr>
              <a:t>конкретный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тип, иначе спрячем от себя чужую ошибку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Блоков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except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может быть несколько, сработает первый подходящий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F5F8B"/>
                </a:solidFill>
                <a:latin typeface="Consolas"/>
              </a:rPr>
              <a:t>except ValueError as e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даёт сам объект ошибки: его можно напечатать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F5F8B"/>
                </a:solidFill>
                <a:latin typeface="Consolas"/>
              </a:rPr>
              <a:t>else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выполняется, когда ошибки не было;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finally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выполняется всегда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После обработки программа спокойно идёт дальше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199" y="1325880"/>
            <a:ext cx="6613855" cy="2743199"/>
          </a:xfrm>
          <a:prstGeom prst="roundRect">
            <a:avLst>
              <a:gd name="adj" fmla="val 4000"/>
            </a:avLst>
          </a:prstGeom>
          <a:solidFill>
            <a:srgbClr val="2B2B2B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text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=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8888C6"/>
                </a:solidFill>
                <a:latin typeface="Consolas"/>
              </a:rPr>
              <a:t>input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6A8759"/>
                </a:solidFill>
                <a:latin typeface="Consolas"/>
              </a:rPr>
              <a:t>Число: 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CC7832"/>
                </a:solidFill>
                <a:latin typeface="Consolas"/>
              </a:rPr>
              <a:t>try</a:t>
            </a:r>
            <a:r>
              <a:rPr sz="18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    </a:t>
            </a:r>
            <a:r>
              <a:rPr sz="1800">
                <a:solidFill>
                  <a:srgbClr val="A9B7C6"/>
                </a:solidFill>
                <a:latin typeface="Consolas"/>
              </a:rPr>
              <a:t>number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=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8888C6"/>
                </a:solidFill>
                <a:latin typeface="Consolas"/>
              </a:rPr>
              <a:t>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text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CC7832"/>
                </a:solidFill>
                <a:latin typeface="Consolas"/>
              </a:rPr>
              <a:t>except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ValueError</a:t>
            </a:r>
            <a:r>
              <a:rPr sz="18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    </a:t>
            </a:r>
            <a:r>
              <a:rPr sz="1800">
                <a:solidFill>
                  <a:srgbClr val="8888C6"/>
                </a:solidFill>
                <a:latin typeface="Consolas"/>
              </a:rPr>
              <a:t>print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6A8759"/>
                </a:solidFill>
                <a:latin typeface="Consolas"/>
              </a:rPr>
              <a:t>Это не число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CC7832"/>
                </a:solidFill>
                <a:latin typeface="Consolas"/>
              </a:rPr>
              <a:t>else</a:t>
            </a:r>
            <a:r>
              <a:rPr sz="18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    </a:t>
            </a:r>
            <a:r>
              <a:rPr sz="1800">
                <a:solidFill>
                  <a:srgbClr val="8888C6"/>
                </a:solidFill>
                <a:latin typeface="Consolas"/>
              </a:rPr>
              <a:t>print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6A8759"/>
                </a:solidFill>
                <a:latin typeface="Consolas"/>
              </a:rPr>
              <a:t>Квадрат: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number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*</a:t>
            </a:r>
            <a:r>
              <a:rPr sz="1800">
                <a:solidFill>
                  <a:srgbClr val="A9B7C6"/>
                </a:solidFill>
                <a:latin typeface="Consolas"/>
              </a:rPr>
              <a:t>*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897BB"/>
                </a:solidFill>
                <a:latin typeface="Consolas"/>
              </a:rPr>
              <a:t>2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CC7832"/>
                </a:solidFill>
                <a:latin typeface="Consolas"/>
              </a:rPr>
              <a:t>finally</a:t>
            </a:r>
            <a:r>
              <a:rPr sz="18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    </a:t>
            </a:r>
            <a:r>
              <a:rPr sz="1800">
                <a:solidFill>
                  <a:srgbClr val="8888C6"/>
                </a:solidFill>
                <a:latin typeface="Consolas"/>
              </a:rPr>
              <a:t>print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6A8759"/>
                </a:solidFill>
                <a:latin typeface="Consolas"/>
              </a:rPr>
              <a:t>Проверка закончена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199" y="4251959"/>
            <a:ext cx="6613855" cy="11430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20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Вывод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Число: пять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Это не число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Проверка закончена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Безопасный ввод числа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5 ·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415" cy="4114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Спрашиваем, пока не получим число. Такая функция пригодится в каждой программе с вводом.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11094415" cy="2956559"/>
          </a:xfrm>
          <a:prstGeom prst="roundRect">
            <a:avLst>
              <a:gd name="adj" fmla="val 3711"/>
            </a:avLst>
          </a:prstGeom>
          <a:solidFill>
            <a:srgbClr val="2B2B2B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CC7832"/>
                </a:solidFill>
                <a:latin typeface="Consolas"/>
              </a:rPr>
              <a:t>def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FFC66D"/>
                </a:solidFill>
                <a:latin typeface="Consolas"/>
              </a:rPr>
              <a:t>ask_int</a:t>
            </a:r>
            <a:r>
              <a:rPr sz="1600">
                <a:solidFill>
                  <a:srgbClr val="A9B7C6"/>
                </a:solidFill>
                <a:latin typeface="Consolas"/>
              </a:rPr>
              <a:t>(</a:t>
            </a:r>
            <a:r>
              <a:rPr sz="1600">
                <a:solidFill>
                  <a:srgbClr val="A9B7C6"/>
                </a:solidFill>
                <a:latin typeface="Consolas"/>
              </a:rPr>
              <a:t>prompt</a:t>
            </a:r>
            <a:r>
              <a:rPr sz="1600">
                <a:solidFill>
                  <a:srgbClr val="A9B7C6"/>
                </a:solidFill>
                <a:latin typeface="Consolas"/>
              </a:rPr>
              <a:t>)</a:t>
            </a:r>
            <a:r>
              <a:rPr sz="16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A9B7C6"/>
                </a:solidFill>
                <a:latin typeface="Consolas"/>
              </a:rPr>
              <a:t>    </a:t>
            </a:r>
            <a:r>
              <a:rPr sz="1600">
                <a:solidFill>
                  <a:srgbClr val="6A8759"/>
                </a:solidFill>
                <a:latin typeface="Consolas"/>
              </a:rPr>
              <a:t>"""Спрашивает целое число, пока не получит его."""</a:t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A9B7C6"/>
                </a:solidFill>
                <a:latin typeface="Consolas"/>
              </a:rPr>
              <a:t>    </a:t>
            </a:r>
            <a:r>
              <a:rPr sz="1600">
                <a:solidFill>
                  <a:srgbClr val="CC7832"/>
                </a:solidFill>
                <a:latin typeface="Consolas"/>
              </a:rPr>
              <a:t>while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CC7832"/>
                </a:solidFill>
                <a:latin typeface="Consolas"/>
              </a:rPr>
              <a:t>True</a:t>
            </a:r>
            <a:r>
              <a:rPr sz="16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A9B7C6"/>
                </a:solidFill>
                <a:latin typeface="Consolas"/>
              </a:rPr>
              <a:t>        </a:t>
            </a:r>
            <a:r>
              <a:rPr sz="1600">
                <a:solidFill>
                  <a:srgbClr val="CC7832"/>
                </a:solidFill>
                <a:latin typeface="Consolas"/>
              </a:rPr>
              <a:t>try</a:t>
            </a:r>
            <a:r>
              <a:rPr sz="16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A9B7C6"/>
                </a:solidFill>
                <a:latin typeface="Consolas"/>
              </a:rPr>
              <a:t>            </a:t>
            </a:r>
            <a:r>
              <a:rPr sz="1600">
                <a:solidFill>
                  <a:srgbClr val="CC7832"/>
                </a:solidFill>
                <a:latin typeface="Consolas"/>
              </a:rPr>
              <a:t>return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8888C6"/>
                </a:solidFill>
                <a:latin typeface="Consolas"/>
              </a:rPr>
              <a:t>int</a:t>
            </a:r>
            <a:r>
              <a:rPr sz="1600">
                <a:solidFill>
                  <a:srgbClr val="A9B7C6"/>
                </a:solidFill>
                <a:latin typeface="Consolas"/>
              </a:rPr>
              <a:t>(</a:t>
            </a:r>
            <a:r>
              <a:rPr sz="1600">
                <a:solidFill>
                  <a:srgbClr val="8888C6"/>
                </a:solidFill>
                <a:latin typeface="Consolas"/>
              </a:rPr>
              <a:t>input</a:t>
            </a:r>
            <a:r>
              <a:rPr sz="1600">
                <a:solidFill>
                  <a:srgbClr val="A9B7C6"/>
                </a:solidFill>
                <a:latin typeface="Consolas"/>
              </a:rPr>
              <a:t>(</a:t>
            </a:r>
            <a:r>
              <a:rPr sz="1600">
                <a:solidFill>
                  <a:srgbClr val="A9B7C6"/>
                </a:solidFill>
                <a:latin typeface="Consolas"/>
              </a:rPr>
              <a:t>prompt</a:t>
            </a:r>
            <a:r>
              <a:rPr sz="1600">
                <a:solidFill>
                  <a:srgbClr val="A9B7C6"/>
                </a:solidFill>
                <a:latin typeface="Consolas"/>
              </a:rPr>
              <a:t>)</a:t>
            </a:r>
            <a:r>
              <a:rPr sz="16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A9B7C6"/>
                </a:solidFill>
                <a:latin typeface="Consolas"/>
              </a:rPr>
              <a:t>        </a:t>
            </a:r>
            <a:r>
              <a:rPr sz="1600">
                <a:solidFill>
                  <a:srgbClr val="CC7832"/>
                </a:solidFill>
                <a:latin typeface="Consolas"/>
              </a:rPr>
              <a:t>except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ValueError</a:t>
            </a:r>
            <a:r>
              <a:rPr sz="16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A9B7C6"/>
                </a:solidFill>
                <a:latin typeface="Consolas"/>
              </a:rPr>
              <a:t>            </a:t>
            </a:r>
            <a:r>
              <a:rPr sz="1600">
                <a:solidFill>
                  <a:srgbClr val="8888C6"/>
                </a:solidFill>
                <a:latin typeface="Consolas"/>
              </a:rPr>
              <a:t>print</a:t>
            </a:r>
            <a:r>
              <a:rPr sz="1600">
                <a:solidFill>
                  <a:srgbClr val="A9B7C6"/>
                </a:solidFill>
                <a:latin typeface="Consolas"/>
              </a:rPr>
              <a:t>(</a:t>
            </a:r>
            <a:r>
              <a:rPr sz="1600">
                <a:solidFill>
                  <a:srgbClr val="6A8759"/>
                </a:solidFill>
                <a:latin typeface="Consolas"/>
              </a:rPr>
              <a:t>'</a:t>
            </a:r>
            <a:r>
              <a:rPr sz="1600">
                <a:solidFill>
                  <a:srgbClr val="6A8759"/>
                </a:solidFill>
                <a:latin typeface="Consolas"/>
              </a:rPr>
              <a:t>Нужно целое число, попробуйте ещё раз</a:t>
            </a:r>
            <a:r>
              <a:rPr sz="1600">
                <a:solidFill>
                  <a:srgbClr val="6A8759"/>
                </a:solidFill>
                <a:latin typeface="Consolas"/>
              </a:rPr>
              <a:t>'</a:t>
            </a:r>
            <a:r>
              <a:rPr sz="16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A9B7C6"/>
                </a:solidFill>
                <a:latin typeface="Consolas"/>
              </a:rPr>
              <a:t>age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=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ask_int</a:t>
            </a:r>
            <a:r>
              <a:rPr sz="1600">
                <a:solidFill>
                  <a:srgbClr val="A9B7C6"/>
                </a:solidFill>
                <a:latin typeface="Consolas"/>
              </a:rPr>
              <a:t>(</a:t>
            </a:r>
            <a:r>
              <a:rPr sz="1600">
                <a:solidFill>
                  <a:srgbClr val="6A8759"/>
                </a:solidFill>
                <a:latin typeface="Consolas"/>
              </a:rPr>
              <a:t>'</a:t>
            </a:r>
            <a:r>
              <a:rPr sz="1600">
                <a:solidFill>
                  <a:srgbClr val="6A8759"/>
                </a:solidFill>
                <a:latin typeface="Consolas"/>
              </a:rPr>
              <a:t>Возраст: </a:t>
            </a:r>
            <a:r>
              <a:rPr sz="1600">
                <a:solidFill>
                  <a:srgbClr val="6A8759"/>
                </a:solidFill>
                <a:latin typeface="Consolas"/>
              </a:rPr>
              <a:t>'</a:t>
            </a:r>
            <a:r>
              <a:rPr sz="16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8888C6"/>
                </a:solidFill>
                <a:latin typeface="Consolas"/>
              </a:rPr>
              <a:t>print</a:t>
            </a:r>
            <a:r>
              <a:rPr sz="1600">
                <a:solidFill>
                  <a:srgbClr val="A9B7C6"/>
                </a:solidFill>
                <a:latin typeface="Consolas"/>
              </a:rPr>
              <a:t>(</a:t>
            </a:r>
            <a:r>
              <a:rPr sz="1600">
                <a:solidFill>
                  <a:srgbClr val="6A8759"/>
                </a:solidFill>
                <a:latin typeface="Consolas"/>
              </a:rPr>
              <a:t>f</a:t>
            </a:r>
            <a:r>
              <a:rPr sz="1600">
                <a:solidFill>
                  <a:srgbClr val="6A8759"/>
                </a:solidFill>
                <a:latin typeface="Consolas"/>
              </a:rPr>
              <a:t>'</a:t>
            </a:r>
            <a:r>
              <a:rPr sz="1600">
                <a:solidFill>
                  <a:srgbClr val="6A8759"/>
                </a:solidFill>
                <a:latin typeface="Consolas"/>
              </a:rPr>
              <a:t>Через год будет </a:t>
            </a:r>
            <a:r>
              <a:rPr sz="1600">
                <a:solidFill>
                  <a:srgbClr val="A9B7C6"/>
                </a:solidFill>
                <a:latin typeface="Consolas"/>
              </a:rPr>
              <a:t>{</a:t>
            </a:r>
            <a:r>
              <a:rPr sz="1600">
                <a:solidFill>
                  <a:srgbClr val="A9B7C6"/>
                </a:solidFill>
                <a:latin typeface="Consolas"/>
              </a:rPr>
              <a:t>age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+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6897BB"/>
                </a:solidFill>
                <a:latin typeface="Consolas"/>
              </a:rPr>
              <a:t>1</a:t>
            </a:r>
            <a:r>
              <a:rPr sz="1600">
                <a:solidFill>
                  <a:srgbClr val="A9B7C6"/>
                </a:solidFill>
                <a:latin typeface="Consolas"/>
              </a:rPr>
              <a:t>}</a:t>
            </a:r>
            <a:r>
              <a:rPr sz="1600">
                <a:solidFill>
                  <a:srgbClr val="6A8759"/>
                </a:solidFill>
                <a:latin typeface="Consolas"/>
              </a:rPr>
              <a:t>'</a:t>
            </a:r>
            <a:r>
              <a:rPr sz="1600">
                <a:solidFill>
                  <a:srgbClr val="A9B7C6"/>
                </a:solidFill>
                <a:latin typeface="Consolas"/>
              </a:rPr>
              <a:t>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4968239"/>
            <a:ext cx="11094415" cy="135636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20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Вывод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Возраст: двадцать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Нужно целое число, попробуйте ещё раз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Возраст: 19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Через год будет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Попробуй сам №1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5 · 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11094415" cy="3952239"/>
          </a:xfrm>
          <a:prstGeom prst="roundRect">
            <a:avLst>
              <a:gd name="adj" fmla="val 2776"/>
            </a:avLst>
          </a:prstGeom>
          <a:solidFill>
            <a:srgbClr val="FFF4CC"/>
          </a:solidFill>
          <a:ln>
            <a:noFill/>
          </a:ln>
        </p:spPr>
        <p:txBody>
          <a:bodyPr rtlCol="0" anchor="t" wrap="square" lIns="365760" rIns="365760" tIns="320040" bIns="109728">
            <a:noAutofit/>
          </a:bodyPr>
          <a:lstStyle/>
          <a:p>
            <a:pPr algn="l">
              <a:spcAft>
                <a:spcPts val="1600"/>
              </a:spcAft>
              <a:defRPr sz="2000"/>
            </a:pPr>
            <a:r>
              <a:rPr sz="2000" b="0" i="0">
                <a:solidFill>
                  <a:srgbClr val="1A1A1A"/>
                </a:solidFill>
                <a:latin typeface="Arial"/>
              </a:rPr>
              <a:t>1.  Прочитайте два целых числа и напечатайте частное. При делении на ноль напечатайте «Делить на ноль нельзя» вместо падения.</a:t>
            </a:r>
          </a:p>
          <a:p>
            <a:pPr>
              <a:spcAft>
                <a:spcPts val="1600"/>
              </a:spcAft>
              <a:defRPr sz="2000"/>
            </a:pPr>
            <a:r>
              <a:rPr sz="2000" b="0" i="0">
                <a:solidFill>
                  <a:srgbClr val="1A1A1A"/>
                </a:solidFill>
                <a:latin typeface="Arial"/>
              </a:rPr>
              <a:t>2.  Напишите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ask_float(prompt)</a:t>
            </a:r>
            <a:r>
              <a:rPr sz="2000" b="0" i="0">
                <a:solidFill>
                  <a:srgbClr val="1A1A1A"/>
                </a:solidFill>
                <a:latin typeface="Arial"/>
              </a:rPr>
              <a:t> по образцу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ask_int</a:t>
            </a:r>
            <a:r>
              <a:rPr sz="2000" b="0" i="0">
                <a:solidFill>
                  <a:srgbClr val="1A1A1A"/>
                </a:solidFill>
                <a:latin typeface="Arial"/>
              </a:rPr>
              <a:t> и прочитайте им рост в метрах.</a:t>
            </a:r>
          </a:p>
          <a:p>
            <a:pPr>
              <a:spcAft>
                <a:spcPts val="1600"/>
              </a:spcAft>
              <a:defRPr sz="2000"/>
            </a:pPr>
            <a:r>
              <a:rPr sz="2000" b="0" i="0">
                <a:solidFill>
                  <a:srgbClr val="1A1A1A"/>
                </a:solidFill>
                <a:latin typeface="Arial"/>
              </a:rPr>
              <a:t>3.  Что напечатает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int('3.5')</a:t>
            </a:r>
            <a:r>
              <a:rPr sz="2000" b="0" i="0">
                <a:solidFill>
                  <a:srgbClr val="1A1A1A"/>
                </a:solidFill>
                <a:latin typeface="Arial"/>
              </a:rPr>
              <a:t>? Сначала предположите, потом проверьте.</a:t>
            </a:r>
          </a:p>
          <a:p>
            <a:pPr>
              <a:spcAft>
                <a:spcPts val="1600"/>
              </a:spcAft>
              <a:defRPr sz="2000"/>
            </a:pPr>
            <a:r>
              <a:rPr sz="2000" b="0" i="0">
                <a:solidFill>
                  <a:srgbClr val="1A1A1A"/>
                </a:solidFill>
                <a:latin typeface="Arial"/>
              </a:rPr>
              <a:t>4.  Кто закончил: сделайте так, чтобы первая программа спрашивала оба числа заново, пока не получит их.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482092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300"/>
            </a:pPr>
            <a:r>
              <a:rPr sz="1300" b="0" i="0">
                <a:solidFill>
                  <a:srgbClr val="5F6B7A"/>
                </a:solidFill>
                <a:latin typeface="Arial"/>
              </a:rPr>
              <a:t>≈ 5 минут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raise: бросаем исключение сами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5 ·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206240" cy="5029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F5F8B"/>
                </a:solidFill>
                <a:latin typeface="Consolas"/>
              </a:rPr>
              <a:t>raise ValueError('текст')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останавливает функцию: дальше так нельзя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Нужен там, где Python подвоха не видит, а мы видим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В сообщении пишем, что именно не так, а не «ошибка»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Ловится он обычным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except</a:t>
            </a:r>
            <a:r>
              <a:rPr sz="1800" b="0" i="0">
                <a:solidFill>
                  <a:srgbClr val="1A1A1A"/>
                </a:solidFill>
                <a:latin typeface="Arial"/>
              </a:rPr>
              <a:t>, там, где решают, что делать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В курсовом это проверки в setter: отрицательного возраста не бывает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199" y="1325880"/>
            <a:ext cx="6613855" cy="2407920"/>
          </a:xfrm>
          <a:prstGeom prst="roundRect">
            <a:avLst>
              <a:gd name="adj" fmla="val 4556"/>
            </a:avLst>
          </a:prstGeom>
          <a:solidFill>
            <a:srgbClr val="2B2B2B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solidFill>
                  <a:srgbClr val="CC7832"/>
                </a:solidFill>
                <a:latin typeface="Consolas"/>
              </a:rPr>
              <a:t>def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FFC66D"/>
                </a:solidFill>
                <a:latin typeface="Consolas"/>
              </a:rPr>
              <a:t>set_age</a:t>
            </a:r>
            <a:r>
              <a:rPr sz="1400">
                <a:solidFill>
                  <a:srgbClr val="A9B7C6"/>
                </a:solidFill>
                <a:latin typeface="Consolas"/>
              </a:rPr>
              <a:t>(</a:t>
            </a:r>
            <a:r>
              <a:rPr sz="1400">
                <a:solidFill>
                  <a:srgbClr val="A9B7C6"/>
                </a:solidFill>
                <a:latin typeface="Consolas"/>
              </a:rPr>
              <a:t>age</a:t>
            </a:r>
            <a:r>
              <a:rPr sz="1400">
                <a:solidFill>
                  <a:srgbClr val="A9B7C6"/>
                </a:solidFill>
                <a:latin typeface="Consolas"/>
              </a:rPr>
              <a:t>)</a:t>
            </a:r>
            <a:r>
              <a:rPr sz="14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solidFill>
                  <a:srgbClr val="A9B7C6"/>
                </a:solidFill>
                <a:latin typeface="Consolas"/>
              </a:rPr>
              <a:t>    </a:t>
            </a:r>
            <a:r>
              <a:rPr sz="1400">
                <a:solidFill>
                  <a:srgbClr val="CC7832"/>
                </a:solidFill>
                <a:latin typeface="Consolas"/>
              </a:rPr>
              <a:t>if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A9B7C6"/>
                </a:solidFill>
                <a:latin typeface="Consolas"/>
              </a:rPr>
              <a:t>age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A9B7C6"/>
                </a:solidFill>
                <a:latin typeface="Consolas"/>
              </a:rPr>
              <a:t>&lt;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6897BB"/>
                </a:solidFill>
                <a:latin typeface="Consolas"/>
              </a:rPr>
              <a:t>0</a:t>
            </a:r>
            <a:r>
              <a:rPr sz="14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solidFill>
                  <a:srgbClr val="A9B7C6"/>
                </a:solidFill>
                <a:latin typeface="Consolas"/>
              </a:rPr>
              <a:t>        </a:t>
            </a:r>
            <a:r>
              <a:rPr sz="1400">
                <a:solidFill>
                  <a:srgbClr val="CC7832"/>
                </a:solidFill>
                <a:latin typeface="Consolas"/>
              </a:rPr>
              <a:t>raise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A9B7C6"/>
                </a:solidFill>
                <a:latin typeface="Consolas"/>
              </a:rPr>
              <a:t>ValueError</a:t>
            </a:r>
            <a:r>
              <a:rPr sz="1400">
                <a:solidFill>
                  <a:srgbClr val="A9B7C6"/>
                </a:solidFill>
                <a:latin typeface="Consolas"/>
              </a:rPr>
              <a:t>(</a:t>
            </a:r>
            <a:r>
              <a:rPr sz="1400">
                <a:solidFill>
                  <a:srgbClr val="6A8759"/>
                </a:solidFill>
                <a:latin typeface="Consolas"/>
              </a:rPr>
              <a:t>'</a:t>
            </a:r>
            <a:r>
              <a:rPr sz="1400">
                <a:solidFill>
                  <a:srgbClr val="6A8759"/>
                </a:solidFill>
                <a:latin typeface="Consolas"/>
              </a:rPr>
              <a:t>возраст не бывает отрицательным</a:t>
            </a:r>
            <a:r>
              <a:rPr sz="1400">
                <a:solidFill>
                  <a:srgbClr val="6A8759"/>
                </a:solidFill>
                <a:latin typeface="Consolas"/>
              </a:rPr>
              <a:t>'</a:t>
            </a:r>
            <a:r>
              <a:rPr sz="14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solidFill>
                  <a:srgbClr val="A9B7C6"/>
                </a:solidFill>
                <a:latin typeface="Consolas"/>
              </a:rPr>
              <a:t>    </a:t>
            </a:r>
            <a:r>
              <a:rPr sz="1400">
                <a:solidFill>
                  <a:srgbClr val="CC7832"/>
                </a:solidFill>
                <a:latin typeface="Consolas"/>
              </a:rPr>
              <a:t>return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A9B7C6"/>
                </a:solidFill>
                <a:latin typeface="Consolas"/>
              </a:rPr>
              <a:t>age</a:t>
            </a:r>
          </a:p>
          <a:p>
            <a:pPr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solidFill>
                  <a:srgbClr val="CC7832"/>
                </a:solidFill>
                <a:latin typeface="Consolas"/>
              </a:rPr>
              <a:t>try</a:t>
            </a:r>
            <a:r>
              <a:rPr sz="14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solidFill>
                  <a:srgbClr val="A9B7C6"/>
                </a:solidFill>
                <a:latin typeface="Consolas"/>
              </a:rPr>
              <a:t>    </a:t>
            </a:r>
            <a:r>
              <a:rPr sz="1400">
                <a:solidFill>
                  <a:srgbClr val="A9B7C6"/>
                </a:solidFill>
                <a:latin typeface="Consolas"/>
              </a:rPr>
              <a:t>set_age</a:t>
            </a:r>
            <a:r>
              <a:rPr sz="1400">
                <a:solidFill>
                  <a:srgbClr val="A9B7C6"/>
                </a:solidFill>
                <a:latin typeface="Consolas"/>
              </a:rPr>
              <a:t>(</a:t>
            </a:r>
            <a:r>
              <a:rPr sz="1400">
                <a:solidFill>
                  <a:srgbClr val="A9B7C6"/>
                </a:solidFill>
                <a:latin typeface="Consolas"/>
              </a:rPr>
              <a:t>-</a:t>
            </a:r>
            <a:r>
              <a:rPr sz="1400">
                <a:solidFill>
                  <a:srgbClr val="6897BB"/>
                </a:solidFill>
                <a:latin typeface="Consolas"/>
              </a:rPr>
              <a:t>5</a:t>
            </a:r>
            <a:r>
              <a:rPr sz="14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solidFill>
                  <a:srgbClr val="CC7832"/>
                </a:solidFill>
                <a:latin typeface="Consolas"/>
              </a:rPr>
              <a:t>except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A9B7C6"/>
                </a:solidFill>
                <a:latin typeface="Consolas"/>
              </a:rPr>
              <a:t>ValueError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CC7832"/>
                </a:solidFill>
                <a:latin typeface="Consolas"/>
              </a:rPr>
              <a:t>as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A9B7C6"/>
                </a:solidFill>
                <a:latin typeface="Consolas"/>
              </a:rPr>
              <a:t>e</a:t>
            </a:r>
            <a:r>
              <a:rPr sz="14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solidFill>
                  <a:srgbClr val="A9B7C6"/>
                </a:solidFill>
                <a:latin typeface="Consolas"/>
              </a:rPr>
              <a:t>    </a:t>
            </a:r>
            <a:r>
              <a:rPr sz="1400">
                <a:solidFill>
                  <a:srgbClr val="8888C6"/>
                </a:solidFill>
                <a:latin typeface="Consolas"/>
              </a:rPr>
              <a:t>print</a:t>
            </a:r>
            <a:r>
              <a:rPr sz="1400">
                <a:solidFill>
                  <a:srgbClr val="A9B7C6"/>
                </a:solidFill>
                <a:latin typeface="Consolas"/>
              </a:rPr>
              <a:t>(</a:t>
            </a:r>
            <a:r>
              <a:rPr sz="1400">
                <a:solidFill>
                  <a:srgbClr val="6A8759"/>
                </a:solidFill>
                <a:latin typeface="Consolas"/>
              </a:rPr>
              <a:t>'</a:t>
            </a:r>
            <a:r>
              <a:rPr sz="1400">
                <a:solidFill>
                  <a:srgbClr val="6A8759"/>
                </a:solidFill>
                <a:latin typeface="Consolas"/>
              </a:rPr>
              <a:t>Ошибка:</a:t>
            </a:r>
            <a:r>
              <a:rPr sz="1400">
                <a:solidFill>
                  <a:srgbClr val="6A8759"/>
                </a:solidFill>
                <a:latin typeface="Consolas"/>
              </a:rPr>
              <a:t>'</a:t>
            </a:r>
            <a:r>
              <a:rPr sz="1400">
                <a:solidFill>
                  <a:srgbClr val="A9B7C6"/>
                </a:solidFill>
                <a:latin typeface="Consolas"/>
              </a:rPr>
              <a:t>,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A9B7C6"/>
                </a:solidFill>
                <a:latin typeface="Consolas"/>
              </a:rPr>
              <a:t>e</a:t>
            </a:r>
            <a:r>
              <a:rPr sz="1400">
                <a:solidFill>
                  <a:srgbClr val="A9B7C6"/>
                </a:solidFill>
                <a:latin typeface="Consolas"/>
              </a:rPr>
              <a:t>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199" y="3916680"/>
            <a:ext cx="6613855" cy="71628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20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Вывод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Ошибка: возраст не бывает отрицательным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Файлы: open и with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5 ·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206240" cy="5029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F5F8B"/>
                </a:solidFill>
                <a:latin typeface="Consolas"/>
              </a:rPr>
              <a:t>open(путь, режим, encoding)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открывает файл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Режимы: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r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читать,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w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писать с нуля,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a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дописывать в конец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F5F8B"/>
                </a:solidFill>
                <a:latin typeface="Consolas"/>
              </a:rPr>
              <a:t>w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стирает старое содержимое молча и без вопросов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Всегда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encoding='utf-8'</a:t>
            </a:r>
            <a:r>
              <a:rPr sz="1800" b="0" i="0">
                <a:solidFill>
                  <a:srgbClr val="1A1A1A"/>
                </a:solidFill>
                <a:latin typeface="Arial"/>
              </a:rPr>
              <a:t>: без него русский текст на Windows превратится в кракозябры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F5F8B"/>
                </a:solidFill>
                <a:latin typeface="Consolas"/>
              </a:rPr>
              <a:t>with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закрывает файл сам, даже если внутри случилась ошибка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Путь без папок ищется в рабочей папке: в PyCharm это папка проекта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199" y="1325880"/>
            <a:ext cx="6613855" cy="2225040"/>
          </a:xfrm>
          <a:prstGeom prst="roundRect">
            <a:avLst>
              <a:gd name="adj" fmla="val 4931"/>
            </a:avLst>
          </a:prstGeom>
          <a:solidFill>
            <a:srgbClr val="2B2B2B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CC7832"/>
                </a:solidFill>
                <a:latin typeface="Consolas"/>
              </a:rPr>
              <a:t>with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8888C6"/>
                </a:solidFill>
                <a:latin typeface="Consolas"/>
              </a:rPr>
              <a:t>open</a:t>
            </a:r>
            <a:r>
              <a:rPr sz="1600">
                <a:solidFill>
                  <a:srgbClr val="A9B7C6"/>
                </a:solidFill>
                <a:latin typeface="Consolas"/>
              </a:rPr>
              <a:t>(</a:t>
            </a:r>
            <a:r>
              <a:rPr sz="1600">
                <a:solidFill>
                  <a:srgbClr val="6A8759"/>
                </a:solidFill>
                <a:latin typeface="Consolas"/>
              </a:rPr>
              <a:t>'</a:t>
            </a:r>
            <a:r>
              <a:rPr sz="1600">
                <a:solidFill>
                  <a:srgbClr val="6A8759"/>
                </a:solidFill>
                <a:latin typeface="Consolas"/>
              </a:rPr>
              <a:t>notes.txt</a:t>
            </a:r>
            <a:r>
              <a:rPr sz="1600">
                <a:solidFill>
                  <a:srgbClr val="6A8759"/>
                </a:solidFill>
                <a:latin typeface="Consolas"/>
              </a:rPr>
              <a:t>'</a:t>
            </a:r>
            <a:r>
              <a:rPr sz="1600">
                <a:solidFill>
                  <a:srgbClr val="A9B7C6"/>
                </a:solidFill>
                <a:latin typeface="Consolas"/>
              </a:rPr>
              <a:t>,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6A8759"/>
                </a:solidFill>
                <a:latin typeface="Consolas"/>
              </a:rPr>
              <a:t>'</a:t>
            </a:r>
            <a:r>
              <a:rPr sz="1600">
                <a:solidFill>
                  <a:srgbClr val="6A8759"/>
                </a:solidFill>
                <a:latin typeface="Consolas"/>
              </a:rPr>
              <a:t>w</a:t>
            </a:r>
            <a:r>
              <a:rPr sz="1600">
                <a:solidFill>
                  <a:srgbClr val="6A8759"/>
                </a:solidFill>
                <a:latin typeface="Consolas"/>
              </a:rPr>
              <a:t>'</a:t>
            </a:r>
            <a:r>
              <a:rPr sz="1600">
                <a:solidFill>
                  <a:srgbClr val="A9B7C6"/>
                </a:solidFill>
                <a:latin typeface="Consolas"/>
              </a:rPr>
              <a:t>,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encoding</a:t>
            </a:r>
            <a:r>
              <a:rPr sz="1600">
                <a:solidFill>
                  <a:srgbClr val="A9B7C6"/>
                </a:solidFill>
                <a:latin typeface="Consolas"/>
              </a:rPr>
              <a:t>=</a:t>
            </a:r>
            <a:r>
              <a:rPr sz="1600">
                <a:solidFill>
                  <a:srgbClr val="6A8759"/>
                </a:solidFill>
                <a:latin typeface="Consolas"/>
              </a:rPr>
              <a:t>'</a:t>
            </a:r>
            <a:r>
              <a:rPr sz="1600">
                <a:solidFill>
                  <a:srgbClr val="6A8759"/>
                </a:solidFill>
                <a:latin typeface="Consolas"/>
              </a:rPr>
              <a:t>utf-8</a:t>
            </a:r>
            <a:r>
              <a:rPr sz="1600">
                <a:solidFill>
                  <a:srgbClr val="6A8759"/>
                </a:solidFill>
                <a:latin typeface="Consolas"/>
              </a:rPr>
              <a:t>'</a:t>
            </a:r>
            <a:r>
              <a:rPr sz="1600">
                <a:solidFill>
                  <a:srgbClr val="A9B7C6"/>
                </a:solidFill>
                <a:latin typeface="Consolas"/>
              </a:rPr>
              <a:t>)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CC7832"/>
                </a:solidFill>
                <a:latin typeface="Consolas"/>
              </a:rPr>
              <a:t>as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f</a:t>
            </a:r>
            <a:r>
              <a:rPr sz="16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A9B7C6"/>
                </a:solidFill>
                <a:latin typeface="Consolas"/>
              </a:rPr>
              <a:t>    </a:t>
            </a:r>
            <a:r>
              <a:rPr sz="1600">
                <a:solidFill>
                  <a:srgbClr val="A9B7C6"/>
                </a:solidFill>
                <a:latin typeface="Consolas"/>
              </a:rPr>
              <a:t>f</a:t>
            </a:r>
            <a:r>
              <a:rPr sz="1600">
                <a:solidFill>
                  <a:srgbClr val="A9B7C6"/>
                </a:solidFill>
                <a:latin typeface="Consolas"/>
              </a:rPr>
              <a:t>.</a:t>
            </a:r>
            <a:r>
              <a:rPr sz="1600">
                <a:solidFill>
                  <a:srgbClr val="A9B7C6"/>
                </a:solidFill>
                <a:latin typeface="Consolas"/>
              </a:rPr>
              <a:t>write</a:t>
            </a:r>
            <a:r>
              <a:rPr sz="1600">
                <a:solidFill>
                  <a:srgbClr val="A9B7C6"/>
                </a:solidFill>
                <a:latin typeface="Consolas"/>
              </a:rPr>
              <a:t>(</a:t>
            </a:r>
            <a:r>
              <a:rPr sz="1600">
                <a:solidFill>
                  <a:srgbClr val="6A8759"/>
                </a:solidFill>
                <a:latin typeface="Consolas"/>
              </a:rPr>
              <a:t>'</a:t>
            </a:r>
            <a:r>
              <a:rPr sz="1600">
                <a:solidFill>
                  <a:srgbClr val="6A8759"/>
                </a:solidFill>
                <a:latin typeface="Consolas"/>
              </a:rPr>
              <a:t>Привет из файла!</a:t>
            </a:r>
            <a:r>
              <a:rPr sz="1600">
                <a:solidFill>
                  <a:srgbClr val="6A8759"/>
                </a:solidFill>
                <a:latin typeface="Consolas"/>
              </a:rPr>
              <a:t>'</a:t>
            </a:r>
            <a:r>
              <a:rPr sz="16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CC7832"/>
                </a:solidFill>
                <a:latin typeface="Consolas"/>
              </a:rPr>
              <a:t>with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8888C6"/>
                </a:solidFill>
                <a:latin typeface="Consolas"/>
              </a:rPr>
              <a:t>open</a:t>
            </a:r>
            <a:r>
              <a:rPr sz="1600">
                <a:solidFill>
                  <a:srgbClr val="A9B7C6"/>
                </a:solidFill>
                <a:latin typeface="Consolas"/>
              </a:rPr>
              <a:t>(</a:t>
            </a:r>
            <a:r>
              <a:rPr sz="1600">
                <a:solidFill>
                  <a:srgbClr val="6A8759"/>
                </a:solidFill>
                <a:latin typeface="Consolas"/>
              </a:rPr>
              <a:t>'</a:t>
            </a:r>
            <a:r>
              <a:rPr sz="1600">
                <a:solidFill>
                  <a:srgbClr val="6A8759"/>
                </a:solidFill>
                <a:latin typeface="Consolas"/>
              </a:rPr>
              <a:t>notes.txt</a:t>
            </a:r>
            <a:r>
              <a:rPr sz="1600">
                <a:solidFill>
                  <a:srgbClr val="6A8759"/>
                </a:solidFill>
                <a:latin typeface="Consolas"/>
              </a:rPr>
              <a:t>'</a:t>
            </a:r>
            <a:r>
              <a:rPr sz="1600">
                <a:solidFill>
                  <a:srgbClr val="A9B7C6"/>
                </a:solidFill>
                <a:latin typeface="Consolas"/>
              </a:rPr>
              <a:t>,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6A8759"/>
                </a:solidFill>
                <a:latin typeface="Consolas"/>
              </a:rPr>
              <a:t>'</a:t>
            </a:r>
            <a:r>
              <a:rPr sz="1600">
                <a:solidFill>
                  <a:srgbClr val="6A8759"/>
                </a:solidFill>
                <a:latin typeface="Consolas"/>
              </a:rPr>
              <a:t>r</a:t>
            </a:r>
            <a:r>
              <a:rPr sz="1600">
                <a:solidFill>
                  <a:srgbClr val="6A8759"/>
                </a:solidFill>
                <a:latin typeface="Consolas"/>
              </a:rPr>
              <a:t>'</a:t>
            </a:r>
            <a:r>
              <a:rPr sz="1600">
                <a:solidFill>
                  <a:srgbClr val="A9B7C6"/>
                </a:solidFill>
                <a:latin typeface="Consolas"/>
              </a:rPr>
              <a:t>,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encoding</a:t>
            </a:r>
            <a:r>
              <a:rPr sz="1600">
                <a:solidFill>
                  <a:srgbClr val="A9B7C6"/>
                </a:solidFill>
                <a:latin typeface="Consolas"/>
              </a:rPr>
              <a:t>=</a:t>
            </a:r>
            <a:r>
              <a:rPr sz="1600">
                <a:solidFill>
                  <a:srgbClr val="6A8759"/>
                </a:solidFill>
                <a:latin typeface="Consolas"/>
              </a:rPr>
              <a:t>'</a:t>
            </a:r>
            <a:r>
              <a:rPr sz="1600">
                <a:solidFill>
                  <a:srgbClr val="6A8759"/>
                </a:solidFill>
                <a:latin typeface="Consolas"/>
              </a:rPr>
              <a:t>utf-8</a:t>
            </a:r>
            <a:r>
              <a:rPr sz="1600">
                <a:solidFill>
                  <a:srgbClr val="6A8759"/>
                </a:solidFill>
                <a:latin typeface="Consolas"/>
              </a:rPr>
              <a:t>'</a:t>
            </a:r>
            <a:r>
              <a:rPr sz="1600">
                <a:solidFill>
                  <a:srgbClr val="A9B7C6"/>
                </a:solidFill>
                <a:latin typeface="Consolas"/>
              </a:rPr>
              <a:t>)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CC7832"/>
                </a:solidFill>
                <a:latin typeface="Consolas"/>
              </a:rPr>
              <a:t>as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f</a:t>
            </a:r>
            <a:r>
              <a:rPr sz="16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A9B7C6"/>
                </a:solidFill>
                <a:latin typeface="Consolas"/>
              </a:rPr>
              <a:t>    </a:t>
            </a:r>
            <a:r>
              <a:rPr sz="1600">
                <a:solidFill>
                  <a:srgbClr val="A9B7C6"/>
                </a:solidFill>
                <a:latin typeface="Consolas"/>
              </a:rPr>
              <a:t>text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=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f</a:t>
            </a:r>
            <a:r>
              <a:rPr sz="1600">
                <a:solidFill>
                  <a:srgbClr val="A9B7C6"/>
                </a:solidFill>
                <a:latin typeface="Consolas"/>
              </a:rPr>
              <a:t>.</a:t>
            </a:r>
            <a:r>
              <a:rPr sz="1600">
                <a:solidFill>
                  <a:srgbClr val="A9B7C6"/>
                </a:solidFill>
                <a:latin typeface="Consolas"/>
              </a:rPr>
              <a:t>read</a:t>
            </a:r>
            <a:r>
              <a:rPr sz="1600">
                <a:solidFill>
                  <a:srgbClr val="A9B7C6"/>
                </a:solidFill>
                <a:latin typeface="Consolas"/>
              </a:rPr>
              <a:t>(</a:t>
            </a:r>
            <a:r>
              <a:rPr sz="16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8888C6"/>
                </a:solidFill>
                <a:latin typeface="Consolas"/>
              </a:rPr>
              <a:t>print</a:t>
            </a:r>
            <a:r>
              <a:rPr sz="1600">
                <a:solidFill>
                  <a:srgbClr val="A9B7C6"/>
                </a:solidFill>
                <a:latin typeface="Consolas"/>
              </a:rPr>
              <a:t>(</a:t>
            </a:r>
            <a:r>
              <a:rPr sz="1600">
                <a:solidFill>
                  <a:srgbClr val="A9B7C6"/>
                </a:solidFill>
                <a:latin typeface="Consolas"/>
              </a:rPr>
              <a:t>text</a:t>
            </a:r>
            <a:r>
              <a:rPr sz="16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8888C6"/>
                </a:solidFill>
                <a:latin typeface="Consolas"/>
              </a:rPr>
              <a:t>print</a:t>
            </a:r>
            <a:r>
              <a:rPr sz="1600">
                <a:solidFill>
                  <a:srgbClr val="A9B7C6"/>
                </a:solidFill>
                <a:latin typeface="Consolas"/>
              </a:rPr>
              <a:t>(</a:t>
            </a:r>
            <a:r>
              <a:rPr sz="1600">
                <a:solidFill>
                  <a:srgbClr val="6A8759"/>
                </a:solidFill>
                <a:latin typeface="Consolas"/>
              </a:rPr>
              <a:t>'</a:t>
            </a:r>
            <a:r>
              <a:rPr sz="1600">
                <a:solidFill>
                  <a:srgbClr val="6A8759"/>
                </a:solidFill>
                <a:latin typeface="Consolas"/>
              </a:rPr>
              <a:t>файл закрыт:</a:t>
            </a:r>
            <a:r>
              <a:rPr sz="1600">
                <a:solidFill>
                  <a:srgbClr val="6A8759"/>
                </a:solidFill>
                <a:latin typeface="Consolas"/>
              </a:rPr>
              <a:t>'</a:t>
            </a:r>
            <a:r>
              <a:rPr sz="1600">
                <a:solidFill>
                  <a:srgbClr val="A9B7C6"/>
                </a:solidFill>
                <a:latin typeface="Consolas"/>
              </a:rPr>
              <a:t>,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f</a:t>
            </a:r>
            <a:r>
              <a:rPr sz="1600">
                <a:solidFill>
                  <a:srgbClr val="A9B7C6"/>
                </a:solidFill>
                <a:latin typeface="Consolas"/>
              </a:rPr>
              <a:t>.</a:t>
            </a:r>
            <a:r>
              <a:rPr sz="1600">
                <a:solidFill>
                  <a:srgbClr val="A9B7C6"/>
                </a:solidFill>
                <a:latin typeface="Consolas"/>
              </a:rPr>
              <a:t>closed</a:t>
            </a:r>
            <a:r>
              <a:rPr sz="1600">
                <a:solidFill>
                  <a:srgbClr val="A9B7C6"/>
                </a:solidFill>
                <a:latin typeface="Consolas"/>
              </a:rPr>
              <a:t>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199" y="3733799"/>
            <a:ext cx="6613855" cy="9296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20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Вывод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Привет из файла!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файл закрыт: True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Чтение файла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5 ·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206240" cy="5029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F5F8B"/>
                </a:solidFill>
                <a:latin typeface="Consolas"/>
              </a:rPr>
              <a:t>read()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возвращает весь файл одной строкой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F5F8B"/>
                </a:solidFill>
                <a:latin typeface="Consolas"/>
              </a:rPr>
              <a:t>readlines()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возвращает список строк,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\n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остаётся в конце каждой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F5F8B"/>
                </a:solidFill>
                <a:latin typeface="Consolas"/>
              </a:rPr>
              <a:t>for line in f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лучший способ: файл читается по строке и не занимает память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F5F8B"/>
                </a:solidFill>
                <a:latin typeface="Consolas"/>
              </a:rPr>
              <a:t>strip()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убирает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\n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и лишние пробелы по краям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Файл читается один раз: после конца повторный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read()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даст пустую строку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199" y="1325880"/>
            <a:ext cx="6613855" cy="1249680"/>
          </a:xfrm>
          <a:prstGeom prst="roundRect">
            <a:avLst>
              <a:gd name="adj" fmla="val 8000"/>
            </a:avLst>
          </a:prstGeom>
          <a:solidFill>
            <a:srgbClr val="2B2B2B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CC7832"/>
                </a:solidFill>
                <a:latin typeface="Consolas"/>
              </a:rPr>
              <a:t>with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8888C6"/>
                </a:solidFill>
                <a:latin typeface="Consolas"/>
              </a:rPr>
              <a:t>open</a:t>
            </a:r>
            <a:r>
              <a:rPr sz="1600">
                <a:solidFill>
                  <a:srgbClr val="A9B7C6"/>
                </a:solidFill>
                <a:latin typeface="Consolas"/>
              </a:rPr>
              <a:t>(</a:t>
            </a:r>
            <a:r>
              <a:rPr sz="1600">
                <a:solidFill>
                  <a:srgbClr val="6A8759"/>
                </a:solidFill>
                <a:latin typeface="Consolas"/>
              </a:rPr>
              <a:t>'</a:t>
            </a:r>
            <a:r>
              <a:rPr sz="1600">
                <a:solidFill>
                  <a:srgbClr val="6A8759"/>
                </a:solidFill>
                <a:latin typeface="Consolas"/>
              </a:rPr>
              <a:t>words.txt</a:t>
            </a:r>
            <a:r>
              <a:rPr sz="1600">
                <a:solidFill>
                  <a:srgbClr val="6A8759"/>
                </a:solidFill>
                <a:latin typeface="Consolas"/>
              </a:rPr>
              <a:t>'</a:t>
            </a:r>
            <a:r>
              <a:rPr sz="1600">
                <a:solidFill>
                  <a:srgbClr val="A9B7C6"/>
                </a:solidFill>
                <a:latin typeface="Consolas"/>
              </a:rPr>
              <a:t>,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6A8759"/>
                </a:solidFill>
                <a:latin typeface="Consolas"/>
              </a:rPr>
              <a:t>'</a:t>
            </a:r>
            <a:r>
              <a:rPr sz="1600">
                <a:solidFill>
                  <a:srgbClr val="6A8759"/>
                </a:solidFill>
                <a:latin typeface="Consolas"/>
              </a:rPr>
              <a:t>r</a:t>
            </a:r>
            <a:r>
              <a:rPr sz="1600">
                <a:solidFill>
                  <a:srgbClr val="6A8759"/>
                </a:solidFill>
                <a:latin typeface="Consolas"/>
              </a:rPr>
              <a:t>'</a:t>
            </a:r>
            <a:r>
              <a:rPr sz="1600">
                <a:solidFill>
                  <a:srgbClr val="A9B7C6"/>
                </a:solidFill>
                <a:latin typeface="Consolas"/>
              </a:rPr>
              <a:t>,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encoding</a:t>
            </a:r>
            <a:r>
              <a:rPr sz="1600">
                <a:solidFill>
                  <a:srgbClr val="A9B7C6"/>
                </a:solidFill>
                <a:latin typeface="Consolas"/>
              </a:rPr>
              <a:t>=</a:t>
            </a:r>
            <a:r>
              <a:rPr sz="1600">
                <a:solidFill>
                  <a:srgbClr val="6A8759"/>
                </a:solidFill>
                <a:latin typeface="Consolas"/>
              </a:rPr>
              <a:t>'</a:t>
            </a:r>
            <a:r>
              <a:rPr sz="1600">
                <a:solidFill>
                  <a:srgbClr val="6A8759"/>
                </a:solidFill>
                <a:latin typeface="Consolas"/>
              </a:rPr>
              <a:t>utf-8</a:t>
            </a:r>
            <a:r>
              <a:rPr sz="1600">
                <a:solidFill>
                  <a:srgbClr val="6A8759"/>
                </a:solidFill>
                <a:latin typeface="Consolas"/>
              </a:rPr>
              <a:t>'</a:t>
            </a:r>
            <a:r>
              <a:rPr sz="1600">
                <a:solidFill>
                  <a:srgbClr val="A9B7C6"/>
                </a:solidFill>
                <a:latin typeface="Consolas"/>
              </a:rPr>
              <a:t>)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CC7832"/>
                </a:solidFill>
                <a:latin typeface="Consolas"/>
              </a:rPr>
              <a:t>as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f</a:t>
            </a:r>
            <a:r>
              <a:rPr sz="16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A9B7C6"/>
                </a:solidFill>
                <a:latin typeface="Consolas"/>
              </a:rPr>
              <a:t>    </a:t>
            </a:r>
            <a:r>
              <a:rPr sz="1600">
                <a:solidFill>
                  <a:srgbClr val="CC7832"/>
                </a:solidFill>
                <a:latin typeface="Consolas"/>
              </a:rPr>
              <a:t>for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i</a:t>
            </a:r>
            <a:r>
              <a:rPr sz="1600">
                <a:solidFill>
                  <a:srgbClr val="A9B7C6"/>
                </a:solidFill>
                <a:latin typeface="Consolas"/>
              </a:rPr>
              <a:t>,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line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CC7832"/>
                </a:solidFill>
                <a:latin typeface="Consolas"/>
              </a:rPr>
              <a:t>in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8888C6"/>
                </a:solidFill>
                <a:latin typeface="Consolas"/>
              </a:rPr>
              <a:t>enumerate</a:t>
            </a:r>
            <a:r>
              <a:rPr sz="1600">
                <a:solidFill>
                  <a:srgbClr val="A9B7C6"/>
                </a:solidFill>
                <a:latin typeface="Consolas"/>
              </a:rPr>
              <a:t>(</a:t>
            </a:r>
            <a:r>
              <a:rPr sz="1600">
                <a:solidFill>
                  <a:srgbClr val="A9B7C6"/>
                </a:solidFill>
                <a:latin typeface="Consolas"/>
              </a:rPr>
              <a:t>f</a:t>
            </a:r>
            <a:r>
              <a:rPr sz="1600">
                <a:solidFill>
                  <a:srgbClr val="A9B7C6"/>
                </a:solidFill>
                <a:latin typeface="Consolas"/>
              </a:rPr>
              <a:t>,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6897BB"/>
                </a:solidFill>
                <a:latin typeface="Consolas"/>
              </a:rPr>
              <a:t>1</a:t>
            </a:r>
            <a:r>
              <a:rPr sz="1600">
                <a:solidFill>
                  <a:srgbClr val="A9B7C6"/>
                </a:solidFill>
                <a:latin typeface="Consolas"/>
              </a:rPr>
              <a:t>)</a:t>
            </a:r>
            <a:r>
              <a:rPr sz="16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A9B7C6"/>
                </a:solidFill>
                <a:latin typeface="Consolas"/>
              </a:rPr>
              <a:t>        </a:t>
            </a:r>
            <a:r>
              <a:rPr sz="1600">
                <a:solidFill>
                  <a:srgbClr val="A9B7C6"/>
                </a:solidFill>
                <a:latin typeface="Consolas"/>
              </a:rPr>
              <a:t>word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=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line</a:t>
            </a:r>
            <a:r>
              <a:rPr sz="1600">
                <a:solidFill>
                  <a:srgbClr val="A9B7C6"/>
                </a:solidFill>
                <a:latin typeface="Consolas"/>
              </a:rPr>
              <a:t>.</a:t>
            </a:r>
            <a:r>
              <a:rPr sz="1600">
                <a:solidFill>
                  <a:srgbClr val="A9B7C6"/>
                </a:solidFill>
                <a:latin typeface="Consolas"/>
              </a:rPr>
              <a:t>strip</a:t>
            </a:r>
            <a:r>
              <a:rPr sz="1600">
                <a:solidFill>
                  <a:srgbClr val="A9B7C6"/>
                </a:solidFill>
                <a:latin typeface="Consolas"/>
              </a:rPr>
              <a:t>(</a:t>
            </a:r>
            <a:r>
              <a:rPr sz="16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A9B7C6"/>
                </a:solidFill>
                <a:latin typeface="Consolas"/>
              </a:rPr>
              <a:t>        </a:t>
            </a:r>
            <a:r>
              <a:rPr sz="1600">
                <a:solidFill>
                  <a:srgbClr val="8888C6"/>
                </a:solidFill>
                <a:latin typeface="Consolas"/>
              </a:rPr>
              <a:t>print</a:t>
            </a:r>
            <a:r>
              <a:rPr sz="1600">
                <a:solidFill>
                  <a:srgbClr val="A9B7C6"/>
                </a:solidFill>
                <a:latin typeface="Consolas"/>
              </a:rPr>
              <a:t>(</a:t>
            </a:r>
            <a:r>
              <a:rPr sz="1600">
                <a:solidFill>
                  <a:srgbClr val="A9B7C6"/>
                </a:solidFill>
                <a:latin typeface="Consolas"/>
              </a:rPr>
              <a:t>i</a:t>
            </a:r>
            <a:r>
              <a:rPr sz="1600">
                <a:solidFill>
                  <a:srgbClr val="A9B7C6"/>
                </a:solidFill>
                <a:latin typeface="Consolas"/>
              </a:rPr>
              <a:t>,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word</a:t>
            </a:r>
            <a:r>
              <a:rPr sz="1600">
                <a:solidFill>
                  <a:srgbClr val="A9B7C6"/>
                </a:solidFill>
                <a:latin typeface="Consolas"/>
              </a:rPr>
              <a:t>,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8888C6"/>
                </a:solidFill>
                <a:latin typeface="Consolas"/>
              </a:rPr>
              <a:t>len</a:t>
            </a:r>
            <a:r>
              <a:rPr sz="1600">
                <a:solidFill>
                  <a:srgbClr val="A9B7C6"/>
                </a:solidFill>
                <a:latin typeface="Consolas"/>
              </a:rPr>
              <a:t>(</a:t>
            </a:r>
            <a:r>
              <a:rPr sz="1600">
                <a:solidFill>
                  <a:srgbClr val="A9B7C6"/>
                </a:solidFill>
                <a:latin typeface="Consolas"/>
              </a:rPr>
              <a:t>word</a:t>
            </a:r>
            <a:r>
              <a:rPr sz="1600">
                <a:solidFill>
                  <a:srgbClr val="A9B7C6"/>
                </a:solidFill>
                <a:latin typeface="Consolas"/>
              </a:rPr>
              <a:t>)</a:t>
            </a:r>
            <a:r>
              <a:rPr sz="1600">
                <a:solidFill>
                  <a:srgbClr val="A9B7C6"/>
                </a:solidFill>
                <a:latin typeface="Consolas"/>
              </a:rPr>
              <a:t>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199" y="2758440"/>
            <a:ext cx="6613855" cy="1569720"/>
          </a:xfrm>
          <a:prstGeom prst="roundRect">
            <a:avLst>
              <a:gd name="adj" fmla="val 6990"/>
            </a:avLst>
          </a:prstGeom>
          <a:solidFill>
            <a:srgbClr val="F4F6F8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20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Вывод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1 кот 3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2 дом 3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3 молоко 6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4 картошка 8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5 монитор 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Запись в файл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5 ·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206240" cy="5029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F5F8B"/>
                </a:solidFill>
                <a:latin typeface="Consolas"/>
              </a:rPr>
              <a:t>w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создаёт файл заново,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a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дописывает в конец существующего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F5F8B"/>
                </a:solidFill>
                <a:latin typeface="Consolas"/>
              </a:rPr>
              <a:t>write()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не переводит строку: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\n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ставим сами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F5F8B"/>
                </a:solidFill>
                <a:latin typeface="Consolas"/>
              </a:rPr>
              <a:t>print(текст, file=f)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пишет в файл и переводит строку сам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Список строк удобно записывать циклом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Результат тут же проверяем, открыв файл на чтение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199" y="1325880"/>
            <a:ext cx="6613855" cy="2712719"/>
          </a:xfrm>
          <a:prstGeom prst="roundRect">
            <a:avLst>
              <a:gd name="adj" fmla="val 4044"/>
            </a:avLst>
          </a:prstGeom>
          <a:solidFill>
            <a:srgbClr val="2B2B2B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A9B7C6"/>
                </a:solidFill>
                <a:latin typeface="Consolas"/>
              </a:rPr>
              <a:t>words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=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[</a:t>
            </a:r>
            <a:r>
              <a:rPr sz="1600">
                <a:solidFill>
                  <a:srgbClr val="6A8759"/>
                </a:solidFill>
                <a:latin typeface="Consolas"/>
              </a:rPr>
              <a:t>'</a:t>
            </a:r>
            <a:r>
              <a:rPr sz="1600">
                <a:solidFill>
                  <a:srgbClr val="6A8759"/>
                </a:solidFill>
                <a:latin typeface="Consolas"/>
              </a:rPr>
              <a:t>кот</a:t>
            </a:r>
            <a:r>
              <a:rPr sz="1600">
                <a:solidFill>
                  <a:srgbClr val="6A8759"/>
                </a:solidFill>
                <a:latin typeface="Consolas"/>
              </a:rPr>
              <a:t>'</a:t>
            </a:r>
            <a:r>
              <a:rPr sz="1600">
                <a:solidFill>
                  <a:srgbClr val="A9B7C6"/>
                </a:solidFill>
                <a:latin typeface="Consolas"/>
              </a:rPr>
              <a:t>,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6A8759"/>
                </a:solidFill>
                <a:latin typeface="Consolas"/>
              </a:rPr>
              <a:t>'</a:t>
            </a:r>
            <a:r>
              <a:rPr sz="1600">
                <a:solidFill>
                  <a:srgbClr val="6A8759"/>
                </a:solidFill>
                <a:latin typeface="Consolas"/>
              </a:rPr>
              <a:t>дом</a:t>
            </a:r>
            <a:r>
              <a:rPr sz="1600">
                <a:solidFill>
                  <a:srgbClr val="6A8759"/>
                </a:solidFill>
                <a:latin typeface="Consolas"/>
              </a:rPr>
              <a:t>'</a:t>
            </a:r>
            <a:r>
              <a:rPr sz="1600">
                <a:solidFill>
                  <a:srgbClr val="A9B7C6"/>
                </a:solidFill>
                <a:latin typeface="Consolas"/>
              </a:rPr>
              <a:t>]</a:t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CC7832"/>
                </a:solidFill>
                <a:latin typeface="Consolas"/>
              </a:rPr>
              <a:t>with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8888C6"/>
                </a:solidFill>
                <a:latin typeface="Consolas"/>
              </a:rPr>
              <a:t>open</a:t>
            </a:r>
            <a:r>
              <a:rPr sz="1600">
                <a:solidFill>
                  <a:srgbClr val="A9B7C6"/>
                </a:solidFill>
                <a:latin typeface="Consolas"/>
              </a:rPr>
              <a:t>(</a:t>
            </a:r>
            <a:r>
              <a:rPr sz="1600">
                <a:solidFill>
                  <a:srgbClr val="6A8759"/>
                </a:solidFill>
                <a:latin typeface="Consolas"/>
              </a:rPr>
              <a:t>'</a:t>
            </a:r>
            <a:r>
              <a:rPr sz="1600">
                <a:solidFill>
                  <a:srgbClr val="6A8759"/>
                </a:solidFill>
                <a:latin typeface="Consolas"/>
              </a:rPr>
              <a:t>out.txt</a:t>
            </a:r>
            <a:r>
              <a:rPr sz="1600">
                <a:solidFill>
                  <a:srgbClr val="6A8759"/>
                </a:solidFill>
                <a:latin typeface="Consolas"/>
              </a:rPr>
              <a:t>'</a:t>
            </a:r>
            <a:r>
              <a:rPr sz="1600">
                <a:solidFill>
                  <a:srgbClr val="A9B7C6"/>
                </a:solidFill>
                <a:latin typeface="Consolas"/>
              </a:rPr>
              <a:t>,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6A8759"/>
                </a:solidFill>
                <a:latin typeface="Consolas"/>
              </a:rPr>
              <a:t>'</a:t>
            </a:r>
            <a:r>
              <a:rPr sz="1600">
                <a:solidFill>
                  <a:srgbClr val="6A8759"/>
                </a:solidFill>
                <a:latin typeface="Consolas"/>
              </a:rPr>
              <a:t>w</a:t>
            </a:r>
            <a:r>
              <a:rPr sz="1600">
                <a:solidFill>
                  <a:srgbClr val="6A8759"/>
                </a:solidFill>
                <a:latin typeface="Consolas"/>
              </a:rPr>
              <a:t>'</a:t>
            </a:r>
            <a:r>
              <a:rPr sz="1600">
                <a:solidFill>
                  <a:srgbClr val="A9B7C6"/>
                </a:solidFill>
                <a:latin typeface="Consolas"/>
              </a:rPr>
              <a:t>,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encoding</a:t>
            </a:r>
            <a:r>
              <a:rPr sz="1600">
                <a:solidFill>
                  <a:srgbClr val="A9B7C6"/>
                </a:solidFill>
                <a:latin typeface="Consolas"/>
              </a:rPr>
              <a:t>=</a:t>
            </a:r>
            <a:r>
              <a:rPr sz="1600">
                <a:solidFill>
                  <a:srgbClr val="6A8759"/>
                </a:solidFill>
                <a:latin typeface="Consolas"/>
              </a:rPr>
              <a:t>'</a:t>
            </a:r>
            <a:r>
              <a:rPr sz="1600">
                <a:solidFill>
                  <a:srgbClr val="6A8759"/>
                </a:solidFill>
                <a:latin typeface="Consolas"/>
              </a:rPr>
              <a:t>utf-8</a:t>
            </a:r>
            <a:r>
              <a:rPr sz="1600">
                <a:solidFill>
                  <a:srgbClr val="6A8759"/>
                </a:solidFill>
                <a:latin typeface="Consolas"/>
              </a:rPr>
              <a:t>'</a:t>
            </a:r>
            <a:r>
              <a:rPr sz="1600">
                <a:solidFill>
                  <a:srgbClr val="A9B7C6"/>
                </a:solidFill>
                <a:latin typeface="Consolas"/>
              </a:rPr>
              <a:t>)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CC7832"/>
                </a:solidFill>
                <a:latin typeface="Consolas"/>
              </a:rPr>
              <a:t>as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f</a:t>
            </a:r>
            <a:r>
              <a:rPr sz="16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A9B7C6"/>
                </a:solidFill>
                <a:latin typeface="Consolas"/>
              </a:rPr>
              <a:t>    </a:t>
            </a:r>
            <a:r>
              <a:rPr sz="1600">
                <a:solidFill>
                  <a:srgbClr val="CC7832"/>
                </a:solidFill>
                <a:latin typeface="Consolas"/>
              </a:rPr>
              <a:t>for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word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CC7832"/>
                </a:solidFill>
                <a:latin typeface="Consolas"/>
              </a:rPr>
              <a:t>in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words</a:t>
            </a:r>
            <a:r>
              <a:rPr sz="16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A9B7C6"/>
                </a:solidFill>
                <a:latin typeface="Consolas"/>
              </a:rPr>
              <a:t>        </a:t>
            </a:r>
            <a:r>
              <a:rPr sz="1600">
                <a:solidFill>
                  <a:srgbClr val="A9B7C6"/>
                </a:solidFill>
                <a:latin typeface="Consolas"/>
              </a:rPr>
              <a:t>f</a:t>
            </a:r>
            <a:r>
              <a:rPr sz="1600">
                <a:solidFill>
                  <a:srgbClr val="A9B7C6"/>
                </a:solidFill>
                <a:latin typeface="Consolas"/>
              </a:rPr>
              <a:t>.</a:t>
            </a:r>
            <a:r>
              <a:rPr sz="1600">
                <a:solidFill>
                  <a:srgbClr val="A9B7C6"/>
                </a:solidFill>
                <a:latin typeface="Consolas"/>
              </a:rPr>
              <a:t>write</a:t>
            </a:r>
            <a:r>
              <a:rPr sz="1600">
                <a:solidFill>
                  <a:srgbClr val="A9B7C6"/>
                </a:solidFill>
                <a:latin typeface="Consolas"/>
              </a:rPr>
              <a:t>(</a:t>
            </a:r>
            <a:r>
              <a:rPr sz="1600">
                <a:solidFill>
                  <a:srgbClr val="A9B7C6"/>
                </a:solidFill>
                <a:latin typeface="Consolas"/>
              </a:rPr>
              <a:t>word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+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6A8759"/>
                </a:solidFill>
                <a:latin typeface="Consolas"/>
              </a:rPr>
              <a:t>'</a:t>
            </a:r>
            <a:r>
              <a:rPr sz="1600">
                <a:solidFill>
                  <a:srgbClr val="6A8759"/>
                </a:solidFill>
                <a:latin typeface="Consolas"/>
              </a:rPr>
              <a:t>\n</a:t>
            </a:r>
            <a:r>
              <a:rPr sz="1600">
                <a:solidFill>
                  <a:srgbClr val="6A8759"/>
                </a:solidFill>
                <a:latin typeface="Consolas"/>
              </a:rPr>
              <a:t>'</a:t>
            </a:r>
            <a:r>
              <a:rPr sz="16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CC7832"/>
                </a:solidFill>
                <a:latin typeface="Consolas"/>
              </a:rPr>
              <a:t>with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8888C6"/>
                </a:solidFill>
                <a:latin typeface="Consolas"/>
              </a:rPr>
              <a:t>open</a:t>
            </a:r>
            <a:r>
              <a:rPr sz="1600">
                <a:solidFill>
                  <a:srgbClr val="A9B7C6"/>
                </a:solidFill>
                <a:latin typeface="Consolas"/>
              </a:rPr>
              <a:t>(</a:t>
            </a:r>
            <a:r>
              <a:rPr sz="1600">
                <a:solidFill>
                  <a:srgbClr val="6A8759"/>
                </a:solidFill>
                <a:latin typeface="Consolas"/>
              </a:rPr>
              <a:t>'</a:t>
            </a:r>
            <a:r>
              <a:rPr sz="1600">
                <a:solidFill>
                  <a:srgbClr val="6A8759"/>
                </a:solidFill>
                <a:latin typeface="Consolas"/>
              </a:rPr>
              <a:t>out.txt</a:t>
            </a:r>
            <a:r>
              <a:rPr sz="1600">
                <a:solidFill>
                  <a:srgbClr val="6A8759"/>
                </a:solidFill>
                <a:latin typeface="Consolas"/>
              </a:rPr>
              <a:t>'</a:t>
            </a:r>
            <a:r>
              <a:rPr sz="1600">
                <a:solidFill>
                  <a:srgbClr val="A9B7C6"/>
                </a:solidFill>
                <a:latin typeface="Consolas"/>
              </a:rPr>
              <a:t>,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6A8759"/>
                </a:solidFill>
                <a:latin typeface="Consolas"/>
              </a:rPr>
              <a:t>'</a:t>
            </a:r>
            <a:r>
              <a:rPr sz="1600">
                <a:solidFill>
                  <a:srgbClr val="6A8759"/>
                </a:solidFill>
                <a:latin typeface="Consolas"/>
              </a:rPr>
              <a:t>a</a:t>
            </a:r>
            <a:r>
              <a:rPr sz="1600">
                <a:solidFill>
                  <a:srgbClr val="6A8759"/>
                </a:solidFill>
                <a:latin typeface="Consolas"/>
              </a:rPr>
              <a:t>'</a:t>
            </a:r>
            <a:r>
              <a:rPr sz="1600">
                <a:solidFill>
                  <a:srgbClr val="A9B7C6"/>
                </a:solidFill>
                <a:latin typeface="Consolas"/>
              </a:rPr>
              <a:t>,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encoding</a:t>
            </a:r>
            <a:r>
              <a:rPr sz="1600">
                <a:solidFill>
                  <a:srgbClr val="A9B7C6"/>
                </a:solidFill>
                <a:latin typeface="Consolas"/>
              </a:rPr>
              <a:t>=</a:t>
            </a:r>
            <a:r>
              <a:rPr sz="1600">
                <a:solidFill>
                  <a:srgbClr val="6A8759"/>
                </a:solidFill>
                <a:latin typeface="Consolas"/>
              </a:rPr>
              <a:t>'</a:t>
            </a:r>
            <a:r>
              <a:rPr sz="1600">
                <a:solidFill>
                  <a:srgbClr val="6A8759"/>
                </a:solidFill>
                <a:latin typeface="Consolas"/>
              </a:rPr>
              <a:t>utf-8</a:t>
            </a:r>
            <a:r>
              <a:rPr sz="1600">
                <a:solidFill>
                  <a:srgbClr val="6A8759"/>
                </a:solidFill>
                <a:latin typeface="Consolas"/>
              </a:rPr>
              <a:t>'</a:t>
            </a:r>
            <a:r>
              <a:rPr sz="1600">
                <a:solidFill>
                  <a:srgbClr val="A9B7C6"/>
                </a:solidFill>
                <a:latin typeface="Consolas"/>
              </a:rPr>
              <a:t>)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CC7832"/>
                </a:solidFill>
                <a:latin typeface="Consolas"/>
              </a:rPr>
              <a:t>as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f</a:t>
            </a:r>
            <a:r>
              <a:rPr sz="16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A9B7C6"/>
                </a:solidFill>
                <a:latin typeface="Consolas"/>
              </a:rPr>
              <a:t>    </a:t>
            </a:r>
            <a:r>
              <a:rPr sz="1600">
                <a:solidFill>
                  <a:srgbClr val="8888C6"/>
                </a:solidFill>
                <a:latin typeface="Consolas"/>
              </a:rPr>
              <a:t>print</a:t>
            </a:r>
            <a:r>
              <a:rPr sz="1600">
                <a:solidFill>
                  <a:srgbClr val="A9B7C6"/>
                </a:solidFill>
                <a:latin typeface="Consolas"/>
              </a:rPr>
              <a:t>(</a:t>
            </a:r>
            <a:r>
              <a:rPr sz="1600">
                <a:solidFill>
                  <a:srgbClr val="6A8759"/>
                </a:solidFill>
                <a:latin typeface="Consolas"/>
              </a:rPr>
              <a:t>'</a:t>
            </a:r>
            <a:r>
              <a:rPr sz="1600">
                <a:solidFill>
                  <a:srgbClr val="6A8759"/>
                </a:solidFill>
                <a:latin typeface="Consolas"/>
              </a:rPr>
              <a:t>молоко</a:t>
            </a:r>
            <a:r>
              <a:rPr sz="1600">
                <a:solidFill>
                  <a:srgbClr val="6A8759"/>
                </a:solidFill>
                <a:latin typeface="Consolas"/>
              </a:rPr>
              <a:t>'</a:t>
            </a:r>
            <a:r>
              <a:rPr sz="1600">
                <a:solidFill>
                  <a:srgbClr val="A9B7C6"/>
                </a:solidFill>
                <a:latin typeface="Consolas"/>
              </a:rPr>
              <a:t>,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file</a:t>
            </a:r>
            <a:r>
              <a:rPr sz="1600">
                <a:solidFill>
                  <a:srgbClr val="A9B7C6"/>
                </a:solidFill>
                <a:latin typeface="Consolas"/>
              </a:rPr>
              <a:t>=</a:t>
            </a:r>
            <a:r>
              <a:rPr sz="1600">
                <a:solidFill>
                  <a:srgbClr val="A9B7C6"/>
                </a:solidFill>
                <a:latin typeface="Consolas"/>
              </a:rPr>
              <a:t>f</a:t>
            </a:r>
            <a:r>
              <a:rPr sz="16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CC7832"/>
                </a:solidFill>
                <a:latin typeface="Consolas"/>
              </a:rPr>
              <a:t>with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8888C6"/>
                </a:solidFill>
                <a:latin typeface="Consolas"/>
              </a:rPr>
              <a:t>open</a:t>
            </a:r>
            <a:r>
              <a:rPr sz="1600">
                <a:solidFill>
                  <a:srgbClr val="A9B7C6"/>
                </a:solidFill>
                <a:latin typeface="Consolas"/>
              </a:rPr>
              <a:t>(</a:t>
            </a:r>
            <a:r>
              <a:rPr sz="1600">
                <a:solidFill>
                  <a:srgbClr val="6A8759"/>
                </a:solidFill>
                <a:latin typeface="Consolas"/>
              </a:rPr>
              <a:t>'</a:t>
            </a:r>
            <a:r>
              <a:rPr sz="1600">
                <a:solidFill>
                  <a:srgbClr val="6A8759"/>
                </a:solidFill>
                <a:latin typeface="Consolas"/>
              </a:rPr>
              <a:t>out.txt</a:t>
            </a:r>
            <a:r>
              <a:rPr sz="1600">
                <a:solidFill>
                  <a:srgbClr val="6A8759"/>
                </a:solidFill>
                <a:latin typeface="Consolas"/>
              </a:rPr>
              <a:t>'</a:t>
            </a:r>
            <a:r>
              <a:rPr sz="1600">
                <a:solidFill>
                  <a:srgbClr val="A9B7C6"/>
                </a:solidFill>
                <a:latin typeface="Consolas"/>
              </a:rPr>
              <a:t>,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6A8759"/>
                </a:solidFill>
                <a:latin typeface="Consolas"/>
              </a:rPr>
              <a:t>'</a:t>
            </a:r>
            <a:r>
              <a:rPr sz="1600">
                <a:solidFill>
                  <a:srgbClr val="6A8759"/>
                </a:solidFill>
                <a:latin typeface="Consolas"/>
              </a:rPr>
              <a:t>r</a:t>
            </a:r>
            <a:r>
              <a:rPr sz="1600">
                <a:solidFill>
                  <a:srgbClr val="6A8759"/>
                </a:solidFill>
                <a:latin typeface="Consolas"/>
              </a:rPr>
              <a:t>'</a:t>
            </a:r>
            <a:r>
              <a:rPr sz="1600">
                <a:solidFill>
                  <a:srgbClr val="A9B7C6"/>
                </a:solidFill>
                <a:latin typeface="Consolas"/>
              </a:rPr>
              <a:t>,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encoding</a:t>
            </a:r>
            <a:r>
              <a:rPr sz="1600">
                <a:solidFill>
                  <a:srgbClr val="A9B7C6"/>
                </a:solidFill>
                <a:latin typeface="Consolas"/>
              </a:rPr>
              <a:t>=</a:t>
            </a:r>
            <a:r>
              <a:rPr sz="1600">
                <a:solidFill>
                  <a:srgbClr val="6A8759"/>
                </a:solidFill>
                <a:latin typeface="Consolas"/>
              </a:rPr>
              <a:t>'</a:t>
            </a:r>
            <a:r>
              <a:rPr sz="1600">
                <a:solidFill>
                  <a:srgbClr val="6A8759"/>
                </a:solidFill>
                <a:latin typeface="Consolas"/>
              </a:rPr>
              <a:t>utf-8</a:t>
            </a:r>
            <a:r>
              <a:rPr sz="1600">
                <a:solidFill>
                  <a:srgbClr val="6A8759"/>
                </a:solidFill>
                <a:latin typeface="Consolas"/>
              </a:rPr>
              <a:t>'</a:t>
            </a:r>
            <a:r>
              <a:rPr sz="1600">
                <a:solidFill>
                  <a:srgbClr val="A9B7C6"/>
                </a:solidFill>
                <a:latin typeface="Consolas"/>
              </a:rPr>
              <a:t>)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CC7832"/>
                </a:solidFill>
                <a:latin typeface="Consolas"/>
              </a:rPr>
              <a:t>as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f</a:t>
            </a:r>
            <a:r>
              <a:rPr sz="16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A9B7C6"/>
                </a:solidFill>
                <a:latin typeface="Consolas"/>
              </a:rPr>
              <a:t>    </a:t>
            </a:r>
            <a:r>
              <a:rPr sz="1600">
                <a:solidFill>
                  <a:srgbClr val="8888C6"/>
                </a:solidFill>
                <a:latin typeface="Consolas"/>
              </a:rPr>
              <a:t>print</a:t>
            </a:r>
            <a:r>
              <a:rPr sz="1600">
                <a:solidFill>
                  <a:srgbClr val="A9B7C6"/>
                </a:solidFill>
                <a:latin typeface="Consolas"/>
              </a:rPr>
              <a:t>(</a:t>
            </a:r>
            <a:r>
              <a:rPr sz="1600">
                <a:solidFill>
                  <a:srgbClr val="A9B7C6"/>
                </a:solidFill>
                <a:latin typeface="Consolas"/>
              </a:rPr>
              <a:t>f</a:t>
            </a:r>
            <a:r>
              <a:rPr sz="1600">
                <a:solidFill>
                  <a:srgbClr val="A9B7C6"/>
                </a:solidFill>
                <a:latin typeface="Consolas"/>
              </a:rPr>
              <a:t>.</a:t>
            </a:r>
            <a:r>
              <a:rPr sz="1600">
                <a:solidFill>
                  <a:srgbClr val="A9B7C6"/>
                </a:solidFill>
                <a:latin typeface="Consolas"/>
              </a:rPr>
              <a:t>read</a:t>
            </a:r>
            <a:r>
              <a:rPr sz="1600">
                <a:solidFill>
                  <a:srgbClr val="A9B7C6"/>
                </a:solidFill>
                <a:latin typeface="Consolas"/>
              </a:rPr>
              <a:t>(</a:t>
            </a:r>
            <a:r>
              <a:rPr sz="1600">
                <a:solidFill>
                  <a:srgbClr val="A9B7C6"/>
                </a:solidFill>
                <a:latin typeface="Consolas"/>
              </a:rPr>
              <a:t>)</a:t>
            </a:r>
            <a:r>
              <a:rPr sz="1600">
                <a:solidFill>
                  <a:srgbClr val="A9B7C6"/>
                </a:solidFill>
                <a:latin typeface="Consolas"/>
              </a:rPr>
              <a:t>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199" y="4221480"/>
            <a:ext cx="6613855" cy="11430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20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Вывод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кот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дом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молоко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Попробуй сам №2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5 · 12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11094415" cy="3342640"/>
          </a:xfrm>
          <a:prstGeom prst="roundRect">
            <a:avLst>
              <a:gd name="adj" fmla="val 3282"/>
            </a:avLst>
          </a:prstGeom>
          <a:solidFill>
            <a:srgbClr val="FFF4CC"/>
          </a:solidFill>
          <a:ln>
            <a:noFill/>
          </a:ln>
        </p:spPr>
        <p:txBody>
          <a:bodyPr rtlCol="0" anchor="t" wrap="square" lIns="365760" rIns="365760" tIns="320040" bIns="109728">
            <a:noAutofit/>
          </a:bodyPr>
          <a:lstStyle/>
          <a:p>
            <a:pPr algn="l">
              <a:spcAft>
                <a:spcPts val="1600"/>
              </a:spcAft>
              <a:defRPr sz="2000"/>
            </a:pPr>
            <a:r>
              <a:rPr sz="2000" b="0" i="0">
                <a:solidFill>
                  <a:srgbClr val="1A1A1A"/>
                </a:solidFill>
                <a:latin typeface="Arial"/>
              </a:rPr>
              <a:t>1.  Запишите в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notes.txt</a:t>
            </a:r>
            <a:r>
              <a:rPr sz="2000" b="0" i="0">
                <a:solidFill>
                  <a:srgbClr val="1A1A1A"/>
                </a:solidFill>
                <a:latin typeface="Arial"/>
              </a:rPr>
              <a:t> пять любых строк, каждую с новой строки.</a:t>
            </a:r>
          </a:p>
          <a:p>
            <a:pPr>
              <a:spcAft>
                <a:spcPts val="1600"/>
              </a:spcAft>
              <a:defRPr sz="2000"/>
            </a:pPr>
            <a:r>
              <a:rPr sz="2000" b="0" i="0">
                <a:solidFill>
                  <a:srgbClr val="1A1A1A"/>
                </a:solidFill>
                <a:latin typeface="Arial"/>
              </a:rPr>
              <a:t>2.  Прочитайте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notes.txt</a:t>
            </a:r>
            <a:r>
              <a:rPr sz="2000" b="0" i="0">
                <a:solidFill>
                  <a:srgbClr val="1A1A1A"/>
                </a:solidFill>
                <a:latin typeface="Arial"/>
              </a:rPr>
              <a:t> и напечатайте строки с номерами в виде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1: текст</a:t>
            </a:r>
            <a:r>
              <a:rPr sz="20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>
              <a:spcAft>
                <a:spcPts val="1600"/>
              </a:spcAft>
              <a:defRPr sz="2000"/>
            </a:pPr>
            <a:r>
              <a:rPr sz="2000" b="0" i="0">
                <a:solidFill>
                  <a:srgbClr val="1A1A1A"/>
                </a:solidFill>
                <a:latin typeface="Arial"/>
              </a:rPr>
              <a:t>3.  Посчитайте, сколько в файле строк и сколько из них непустые.</a:t>
            </a:r>
          </a:p>
          <a:p>
            <a:pPr>
              <a:spcAft>
                <a:spcPts val="1600"/>
              </a:spcAft>
              <a:defRPr sz="2000"/>
            </a:pPr>
            <a:r>
              <a:rPr sz="2000" b="0" i="0">
                <a:solidFill>
                  <a:srgbClr val="1A1A1A"/>
                </a:solidFill>
                <a:latin typeface="Arial"/>
              </a:rPr>
              <a:t>4.  Кто закончил: замените режим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w</a:t>
            </a:r>
            <a:r>
              <a:rPr sz="2000" b="0" i="0">
                <a:solidFill>
                  <a:srgbClr val="1A1A1A"/>
                </a:solidFill>
                <a:latin typeface="Arial"/>
              </a:rPr>
              <a:t> на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a</a:t>
            </a:r>
            <a:r>
              <a:rPr sz="2000" b="0" i="0">
                <a:solidFill>
                  <a:srgbClr val="1A1A1A"/>
                </a:solidFill>
                <a:latin typeface="Arial"/>
              </a:rPr>
              <a:t>, запустите программу дважды и посмотрите на файл.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421132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300"/>
            </a:pPr>
            <a:r>
              <a:rPr sz="1300" b="0" i="0">
                <a:solidFill>
                  <a:srgbClr val="5F6B7A"/>
                </a:solidFill>
                <a:latin typeface="Arial"/>
              </a:rPr>
              <a:t>≈ 5 минут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Слова для виселицы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5 ·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415" cy="4114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Так игра из курсового проекта берёт слова из файла и дописывает итог партии в другой файл.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6613855" cy="3047999"/>
          </a:xfrm>
          <a:prstGeom prst="roundRect">
            <a:avLst>
              <a:gd name="adj" fmla="val 3600"/>
            </a:avLst>
          </a:prstGeom>
          <a:solidFill>
            <a:srgbClr val="2B2B2B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solidFill>
                  <a:srgbClr val="CC7832"/>
                </a:solidFill>
                <a:latin typeface="Consolas"/>
              </a:rPr>
              <a:t>with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8888C6"/>
                </a:solidFill>
                <a:latin typeface="Consolas"/>
              </a:rPr>
              <a:t>open</a:t>
            </a:r>
            <a:r>
              <a:rPr sz="1400">
                <a:solidFill>
                  <a:srgbClr val="A9B7C6"/>
                </a:solidFill>
                <a:latin typeface="Consolas"/>
              </a:rPr>
              <a:t>(</a:t>
            </a:r>
            <a:r>
              <a:rPr sz="1400">
                <a:solidFill>
                  <a:srgbClr val="6A8759"/>
                </a:solidFill>
                <a:latin typeface="Consolas"/>
              </a:rPr>
              <a:t>'</a:t>
            </a:r>
            <a:r>
              <a:rPr sz="1400">
                <a:solidFill>
                  <a:srgbClr val="6A8759"/>
                </a:solidFill>
                <a:latin typeface="Consolas"/>
              </a:rPr>
              <a:t>words.txt</a:t>
            </a:r>
            <a:r>
              <a:rPr sz="1400">
                <a:solidFill>
                  <a:srgbClr val="6A8759"/>
                </a:solidFill>
                <a:latin typeface="Consolas"/>
              </a:rPr>
              <a:t>'</a:t>
            </a:r>
            <a:r>
              <a:rPr sz="1400">
                <a:solidFill>
                  <a:srgbClr val="A9B7C6"/>
                </a:solidFill>
                <a:latin typeface="Consolas"/>
              </a:rPr>
              <a:t>,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6A8759"/>
                </a:solidFill>
                <a:latin typeface="Consolas"/>
              </a:rPr>
              <a:t>'</a:t>
            </a:r>
            <a:r>
              <a:rPr sz="1400">
                <a:solidFill>
                  <a:srgbClr val="6A8759"/>
                </a:solidFill>
                <a:latin typeface="Consolas"/>
              </a:rPr>
              <a:t>r</a:t>
            </a:r>
            <a:r>
              <a:rPr sz="1400">
                <a:solidFill>
                  <a:srgbClr val="6A8759"/>
                </a:solidFill>
                <a:latin typeface="Consolas"/>
              </a:rPr>
              <a:t>'</a:t>
            </a:r>
            <a:r>
              <a:rPr sz="1400">
                <a:solidFill>
                  <a:srgbClr val="A9B7C6"/>
                </a:solidFill>
                <a:latin typeface="Consolas"/>
              </a:rPr>
              <a:t>,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A9B7C6"/>
                </a:solidFill>
                <a:latin typeface="Consolas"/>
              </a:rPr>
              <a:t>encoding</a:t>
            </a:r>
            <a:r>
              <a:rPr sz="1400">
                <a:solidFill>
                  <a:srgbClr val="A9B7C6"/>
                </a:solidFill>
                <a:latin typeface="Consolas"/>
              </a:rPr>
              <a:t>=</a:t>
            </a:r>
            <a:r>
              <a:rPr sz="1400">
                <a:solidFill>
                  <a:srgbClr val="6A8759"/>
                </a:solidFill>
                <a:latin typeface="Consolas"/>
              </a:rPr>
              <a:t>'</a:t>
            </a:r>
            <a:r>
              <a:rPr sz="1400">
                <a:solidFill>
                  <a:srgbClr val="6A8759"/>
                </a:solidFill>
                <a:latin typeface="Consolas"/>
              </a:rPr>
              <a:t>utf-8</a:t>
            </a:r>
            <a:r>
              <a:rPr sz="1400">
                <a:solidFill>
                  <a:srgbClr val="6A8759"/>
                </a:solidFill>
                <a:latin typeface="Consolas"/>
              </a:rPr>
              <a:t>'</a:t>
            </a:r>
            <a:r>
              <a:rPr sz="1400">
                <a:solidFill>
                  <a:srgbClr val="A9B7C6"/>
                </a:solidFill>
                <a:latin typeface="Consolas"/>
              </a:rPr>
              <a:t>)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CC7832"/>
                </a:solidFill>
                <a:latin typeface="Consolas"/>
              </a:rPr>
              <a:t>as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A9B7C6"/>
                </a:solidFill>
                <a:latin typeface="Consolas"/>
              </a:rPr>
              <a:t>f</a:t>
            </a:r>
            <a:r>
              <a:rPr sz="14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solidFill>
                  <a:srgbClr val="A9B7C6"/>
                </a:solidFill>
                <a:latin typeface="Consolas"/>
              </a:rPr>
              <a:t>    </a:t>
            </a:r>
            <a:r>
              <a:rPr sz="1400">
                <a:solidFill>
                  <a:srgbClr val="A9B7C6"/>
                </a:solidFill>
                <a:latin typeface="Consolas"/>
              </a:rPr>
              <a:t>words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A9B7C6"/>
                </a:solidFill>
                <a:latin typeface="Consolas"/>
              </a:rPr>
              <a:t>=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A9B7C6"/>
                </a:solidFill>
                <a:latin typeface="Consolas"/>
              </a:rPr>
              <a:t>[</a:t>
            </a:r>
            <a:r>
              <a:rPr sz="1400">
                <a:solidFill>
                  <a:srgbClr val="A9B7C6"/>
                </a:solidFill>
                <a:latin typeface="Consolas"/>
              </a:rPr>
              <a:t>line</a:t>
            </a:r>
            <a:r>
              <a:rPr sz="1400">
                <a:solidFill>
                  <a:srgbClr val="A9B7C6"/>
                </a:solidFill>
                <a:latin typeface="Consolas"/>
              </a:rPr>
              <a:t>.</a:t>
            </a:r>
            <a:r>
              <a:rPr sz="1400">
                <a:solidFill>
                  <a:srgbClr val="A9B7C6"/>
                </a:solidFill>
                <a:latin typeface="Consolas"/>
              </a:rPr>
              <a:t>strip</a:t>
            </a:r>
            <a:r>
              <a:rPr sz="1400">
                <a:solidFill>
                  <a:srgbClr val="A9B7C6"/>
                </a:solidFill>
                <a:latin typeface="Consolas"/>
              </a:rPr>
              <a:t>(</a:t>
            </a:r>
            <a:r>
              <a:rPr sz="1400">
                <a:solidFill>
                  <a:srgbClr val="A9B7C6"/>
                </a:solidFill>
                <a:latin typeface="Consolas"/>
              </a:rPr>
              <a:t>)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CC7832"/>
                </a:solidFill>
                <a:latin typeface="Consolas"/>
              </a:rPr>
              <a:t>for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A9B7C6"/>
                </a:solidFill>
                <a:latin typeface="Consolas"/>
              </a:rPr>
              <a:t>line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CC7832"/>
                </a:solidFill>
                <a:latin typeface="Consolas"/>
              </a:rPr>
              <a:t>in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A9B7C6"/>
                </a:solidFill>
                <a:latin typeface="Consolas"/>
              </a:rPr>
              <a:t>f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CC7832"/>
                </a:solidFill>
                <a:latin typeface="Consolas"/>
              </a:rPr>
              <a:t>if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A9B7C6"/>
                </a:solidFill>
                <a:latin typeface="Consolas"/>
              </a:rPr>
              <a:t>line</a:t>
            </a:r>
            <a:r>
              <a:rPr sz="1400">
                <a:solidFill>
                  <a:srgbClr val="A9B7C6"/>
                </a:solidFill>
                <a:latin typeface="Consolas"/>
              </a:rPr>
              <a:t>.</a:t>
            </a:r>
            <a:r>
              <a:rPr sz="1400">
                <a:solidFill>
                  <a:srgbClr val="A9B7C6"/>
                </a:solidFill>
                <a:latin typeface="Consolas"/>
              </a:rPr>
              <a:t>strip</a:t>
            </a:r>
            <a:r>
              <a:rPr sz="1400">
                <a:solidFill>
                  <a:srgbClr val="A9B7C6"/>
                </a:solidFill>
                <a:latin typeface="Consolas"/>
              </a:rPr>
              <a:t>(</a:t>
            </a:r>
            <a:r>
              <a:rPr sz="1400">
                <a:solidFill>
                  <a:srgbClr val="A9B7C6"/>
                </a:solidFill>
                <a:latin typeface="Consolas"/>
              </a:rPr>
              <a:t>)</a:t>
            </a:r>
            <a:r>
              <a:rPr sz="1400">
                <a:solidFill>
                  <a:srgbClr val="A9B7C6"/>
                </a:solidFill>
                <a:latin typeface="Consolas"/>
              </a:rPr>
              <a:t>]</a:t>
            </a:r>
          </a:p>
          <a:p>
            <a:pPr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solidFill>
                  <a:srgbClr val="808080"/>
                </a:solidFill>
                <a:latin typeface="Consolas"/>
              </a:rPr>
              <a:t># в игре слово выбирает random.choice(words)</a:t>
            </a:r>
          </a:p>
          <a:p>
            <a:pPr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solidFill>
                  <a:srgbClr val="A9B7C6"/>
                </a:solidFill>
                <a:latin typeface="Consolas"/>
              </a:rPr>
              <a:t>secret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A9B7C6"/>
                </a:solidFill>
                <a:latin typeface="Consolas"/>
              </a:rPr>
              <a:t>=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8888C6"/>
                </a:solidFill>
                <a:latin typeface="Consolas"/>
              </a:rPr>
              <a:t>max</a:t>
            </a:r>
            <a:r>
              <a:rPr sz="1400">
                <a:solidFill>
                  <a:srgbClr val="A9B7C6"/>
                </a:solidFill>
                <a:latin typeface="Consolas"/>
              </a:rPr>
              <a:t>(</a:t>
            </a:r>
            <a:r>
              <a:rPr sz="1400">
                <a:solidFill>
                  <a:srgbClr val="A9B7C6"/>
                </a:solidFill>
                <a:latin typeface="Consolas"/>
              </a:rPr>
              <a:t>words</a:t>
            </a:r>
            <a:r>
              <a:rPr sz="1400">
                <a:solidFill>
                  <a:srgbClr val="A9B7C6"/>
                </a:solidFill>
                <a:latin typeface="Consolas"/>
              </a:rPr>
              <a:t>,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A9B7C6"/>
                </a:solidFill>
                <a:latin typeface="Consolas"/>
              </a:rPr>
              <a:t>key</a:t>
            </a:r>
            <a:r>
              <a:rPr sz="1400">
                <a:solidFill>
                  <a:srgbClr val="A9B7C6"/>
                </a:solidFill>
                <a:latin typeface="Consolas"/>
              </a:rPr>
              <a:t>=</a:t>
            </a:r>
            <a:r>
              <a:rPr sz="1400">
                <a:solidFill>
                  <a:srgbClr val="8888C6"/>
                </a:solidFill>
                <a:latin typeface="Consolas"/>
              </a:rPr>
              <a:t>len</a:t>
            </a:r>
            <a:r>
              <a:rPr sz="14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solidFill>
                  <a:srgbClr val="8888C6"/>
                </a:solidFill>
                <a:latin typeface="Consolas"/>
              </a:rPr>
              <a:t>print</a:t>
            </a:r>
            <a:r>
              <a:rPr sz="1400">
                <a:solidFill>
                  <a:srgbClr val="A9B7C6"/>
                </a:solidFill>
                <a:latin typeface="Consolas"/>
              </a:rPr>
              <a:t>(</a:t>
            </a:r>
            <a:r>
              <a:rPr sz="1400">
                <a:solidFill>
                  <a:srgbClr val="6A8759"/>
                </a:solidFill>
                <a:latin typeface="Consolas"/>
              </a:rPr>
              <a:t>'</a:t>
            </a:r>
            <a:r>
              <a:rPr sz="1400">
                <a:solidFill>
                  <a:srgbClr val="6A8759"/>
                </a:solidFill>
                <a:latin typeface="Consolas"/>
              </a:rPr>
              <a:t>Слов в файле:</a:t>
            </a:r>
            <a:r>
              <a:rPr sz="1400">
                <a:solidFill>
                  <a:srgbClr val="6A8759"/>
                </a:solidFill>
                <a:latin typeface="Consolas"/>
              </a:rPr>
              <a:t>'</a:t>
            </a:r>
            <a:r>
              <a:rPr sz="1400">
                <a:solidFill>
                  <a:srgbClr val="A9B7C6"/>
                </a:solidFill>
                <a:latin typeface="Consolas"/>
              </a:rPr>
              <a:t>,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8888C6"/>
                </a:solidFill>
                <a:latin typeface="Consolas"/>
              </a:rPr>
              <a:t>len</a:t>
            </a:r>
            <a:r>
              <a:rPr sz="1400">
                <a:solidFill>
                  <a:srgbClr val="A9B7C6"/>
                </a:solidFill>
                <a:latin typeface="Consolas"/>
              </a:rPr>
              <a:t>(</a:t>
            </a:r>
            <a:r>
              <a:rPr sz="1400">
                <a:solidFill>
                  <a:srgbClr val="A9B7C6"/>
                </a:solidFill>
                <a:latin typeface="Consolas"/>
              </a:rPr>
              <a:t>words</a:t>
            </a:r>
            <a:r>
              <a:rPr sz="1400">
                <a:solidFill>
                  <a:srgbClr val="A9B7C6"/>
                </a:solidFill>
                <a:latin typeface="Consolas"/>
              </a:rPr>
              <a:t>)</a:t>
            </a:r>
            <a:r>
              <a:rPr sz="14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solidFill>
                  <a:srgbClr val="8888C6"/>
                </a:solidFill>
                <a:latin typeface="Consolas"/>
              </a:rPr>
              <a:t>print</a:t>
            </a:r>
            <a:r>
              <a:rPr sz="1400">
                <a:solidFill>
                  <a:srgbClr val="A9B7C6"/>
                </a:solidFill>
                <a:latin typeface="Consolas"/>
              </a:rPr>
              <a:t>(</a:t>
            </a:r>
            <a:r>
              <a:rPr sz="1400">
                <a:solidFill>
                  <a:srgbClr val="6A8759"/>
                </a:solidFill>
                <a:latin typeface="Consolas"/>
              </a:rPr>
              <a:t>'</a:t>
            </a:r>
            <a:r>
              <a:rPr sz="1400">
                <a:solidFill>
                  <a:srgbClr val="6A8759"/>
                </a:solidFill>
                <a:latin typeface="Consolas"/>
              </a:rPr>
              <a:t>Загадано букв:</a:t>
            </a:r>
            <a:r>
              <a:rPr sz="1400">
                <a:solidFill>
                  <a:srgbClr val="6A8759"/>
                </a:solidFill>
                <a:latin typeface="Consolas"/>
              </a:rPr>
              <a:t>'</a:t>
            </a:r>
            <a:r>
              <a:rPr sz="1400">
                <a:solidFill>
                  <a:srgbClr val="A9B7C6"/>
                </a:solidFill>
                <a:latin typeface="Consolas"/>
              </a:rPr>
              <a:t>,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8888C6"/>
                </a:solidFill>
                <a:latin typeface="Consolas"/>
              </a:rPr>
              <a:t>len</a:t>
            </a:r>
            <a:r>
              <a:rPr sz="1400">
                <a:solidFill>
                  <a:srgbClr val="A9B7C6"/>
                </a:solidFill>
                <a:latin typeface="Consolas"/>
              </a:rPr>
              <a:t>(</a:t>
            </a:r>
            <a:r>
              <a:rPr sz="1400">
                <a:solidFill>
                  <a:srgbClr val="A9B7C6"/>
                </a:solidFill>
                <a:latin typeface="Consolas"/>
              </a:rPr>
              <a:t>secret</a:t>
            </a:r>
            <a:r>
              <a:rPr sz="1400">
                <a:solidFill>
                  <a:srgbClr val="A9B7C6"/>
                </a:solidFill>
                <a:latin typeface="Consolas"/>
              </a:rPr>
              <a:t>)</a:t>
            </a:r>
            <a:r>
              <a:rPr sz="14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solidFill>
                  <a:srgbClr val="CC7832"/>
                </a:solidFill>
                <a:latin typeface="Consolas"/>
              </a:rPr>
              <a:t>with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8888C6"/>
                </a:solidFill>
                <a:latin typeface="Consolas"/>
              </a:rPr>
              <a:t>open</a:t>
            </a:r>
            <a:r>
              <a:rPr sz="1400">
                <a:solidFill>
                  <a:srgbClr val="A9B7C6"/>
                </a:solidFill>
                <a:latin typeface="Consolas"/>
              </a:rPr>
              <a:t>(</a:t>
            </a:r>
            <a:r>
              <a:rPr sz="1400">
                <a:solidFill>
                  <a:srgbClr val="6A8759"/>
                </a:solidFill>
                <a:latin typeface="Consolas"/>
              </a:rPr>
              <a:t>'</a:t>
            </a:r>
            <a:r>
              <a:rPr sz="1400">
                <a:solidFill>
                  <a:srgbClr val="6A8759"/>
                </a:solidFill>
                <a:latin typeface="Consolas"/>
              </a:rPr>
              <a:t>results.txt</a:t>
            </a:r>
            <a:r>
              <a:rPr sz="1400">
                <a:solidFill>
                  <a:srgbClr val="6A8759"/>
                </a:solidFill>
                <a:latin typeface="Consolas"/>
              </a:rPr>
              <a:t>'</a:t>
            </a:r>
            <a:r>
              <a:rPr sz="1400">
                <a:solidFill>
                  <a:srgbClr val="A9B7C6"/>
                </a:solidFill>
                <a:latin typeface="Consolas"/>
              </a:rPr>
              <a:t>,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6A8759"/>
                </a:solidFill>
                <a:latin typeface="Consolas"/>
              </a:rPr>
              <a:t>'</a:t>
            </a:r>
            <a:r>
              <a:rPr sz="1400">
                <a:solidFill>
                  <a:srgbClr val="6A8759"/>
                </a:solidFill>
                <a:latin typeface="Consolas"/>
              </a:rPr>
              <a:t>a</a:t>
            </a:r>
            <a:r>
              <a:rPr sz="1400">
                <a:solidFill>
                  <a:srgbClr val="6A8759"/>
                </a:solidFill>
                <a:latin typeface="Consolas"/>
              </a:rPr>
              <a:t>'</a:t>
            </a:r>
            <a:r>
              <a:rPr sz="1400">
                <a:solidFill>
                  <a:srgbClr val="A9B7C6"/>
                </a:solidFill>
                <a:latin typeface="Consolas"/>
              </a:rPr>
              <a:t>,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A9B7C6"/>
                </a:solidFill>
                <a:latin typeface="Consolas"/>
              </a:rPr>
              <a:t>encoding</a:t>
            </a:r>
            <a:r>
              <a:rPr sz="1400">
                <a:solidFill>
                  <a:srgbClr val="A9B7C6"/>
                </a:solidFill>
                <a:latin typeface="Consolas"/>
              </a:rPr>
              <a:t>=</a:t>
            </a:r>
            <a:r>
              <a:rPr sz="1400">
                <a:solidFill>
                  <a:srgbClr val="6A8759"/>
                </a:solidFill>
                <a:latin typeface="Consolas"/>
              </a:rPr>
              <a:t>'</a:t>
            </a:r>
            <a:r>
              <a:rPr sz="1400">
                <a:solidFill>
                  <a:srgbClr val="6A8759"/>
                </a:solidFill>
                <a:latin typeface="Consolas"/>
              </a:rPr>
              <a:t>utf-8</a:t>
            </a:r>
            <a:r>
              <a:rPr sz="1400">
                <a:solidFill>
                  <a:srgbClr val="6A8759"/>
                </a:solidFill>
                <a:latin typeface="Consolas"/>
              </a:rPr>
              <a:t>'</a:t>
            </a:r>
            <a:r>
              <a:rPr sz="1400">
                <a:solidFill>
                  <a:srgbClr val="A9B7C6"/>
                </a:solidFill>
                <a:latin typeface="Consolas"/>
              </a:rPr>
              <a:t>)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CC7832"/>
                </a:solidFill>
                <a:latin typeface="Consolas"/>
              </a:rPr>
              <a:t>as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A9B7C6"/>
                </a:solidFill>
                <a:latin typeface="Consolas"/>
              </a:rPr>
              <a:t>f</a:t>
            </a:r>
            <a:r>
              <a:rPr sz="14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solidFill>
                  <a:srgbClr val="A9B7C6"/>
                </a:solidFill>
                <a:latin typeface="Consolas"/>
              </a:rPr>
              <a:t>    </a:t>
            </a:r>
            <a:r>
              <a:rPr sz="1400">
                <a:solidFill>
                  <a:srgbClr val="A9B7C6"/>
                </a:solidFill>
                <a:latin typeface="Consolas"/>
              </a:rPr>
              <a:t>f</a:t>
            </a:r>
            <a:r>
              <a:rPr sz="1400">
                <a:solidFill>
                  <a:srgbClr val="A9B7C6"/>
                </a:solidFill>
                <a:latin typeface="Consolas"/>
              </a:rPr>
              <a:t>.</a:t>
            </a:r>
            <a:r>
              <a:rPr sz="1400">
                <a:solidFill>
                  <a:srgbClr val="A9B7C6"/>
                </a:solidFill>
                <a:latin typeface="Consolas"/>
              </a:rPr>
              <a:t>write</a:t>
            </a:r>
            <a:r>
              <a:rPr sz="1400">
                <a:solidFill>
                  <a:srgbClr val="A9B7C6"/>
                </a:solidFill>
                <a:latin typeface="Consolas"/>
              </a:rPr>
              <a:t>(</a:t>
            </a:r>
            <a:r>
              <a:rPr sz="1400">
                <a:solidFill>
                  <a:srgbClr val="6A8759"/>
                </a:solidFill>
                <a:latin typeface="Consolas"/>
              </a:rPr>
              <a:t>f</a:t>
            </a:r>
            <a:r>
              <a:rPr sz="1400">
                <a:solidFill>
                  <a:srgbClr val="6A8759"/>
                </a:solidFill>
                <a:latin typeface="Consolas"/>
              </a:rPr>
              <a:t>'</a:t>
            </a:r>
            <a:r>
              <a:rPr sz="1400">
                <a:solidFill>
                  <a:srgbClr val="A9B7C6"/>
                </a:solidFill>
                <a:latin typeface="Consolas"/>
              </a:rPr>
              <a:t>{</a:t>
            </a:r>
            <a:r>
              <a:rPr sz="1400">
                <a:solidFill>
                  <a:srgbClr val="A9B7C6"/>
                </a:solidFill>
                <a:latin typeface="Consolas"/>
              </a:rPr>
              <a:t>secret</a:t>
            </a:r>
            <a:r>
              <a:rPr sz="1400">
                <a:solidFill>
                  <a:srgbClr val="A9B7C6"/>
                </a:solidFill>
                <a:latin typeface="Consolas"/>
              </a:rPr>
              <a:t>}</a:t>
            </a:r>
            <a:r>
              <a:rPr sz="1400">
                <a:solidFill>
                  <a:srgbClr val="6A8759"/>
                </a:solidFill>
                <a:latin typeface="Consolas"/>
              </a:rPr>
              <a:t>: победа</a:t>
            </a:r>
            <a:r>
              <a:rPr sz="1400">
                <a:solidFill>
                  <a:srgbClr val="6A8759"/>
                </a:solidFill>
                <a:latin typeface="Consolas"/>
              </a:rPr>
              <a:t>\n</a:t>
            </a:r>
            <a:r>
              <a:rPr sz="1400">
                <a:solidFill>
                  <a:srgbClr val="6A8759"/>
                </a:solidFill>
                <a:latin typeface="Consolas"/>
              </a:rPr>
              <a:t>'</a:t>
            </a:r>
            <a:r>
              <a:rPr sz="14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solidFill>
                  <a:srgbClr val="CC7832"/>
                </a:solidFill>
                <a:latin typeface="Consolas"/>
              </a:rPr>
              <a:t>with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8888C6"/>
                </a:solidFill>
                <a:latin typeface="Consolas"/>
              </a:rPr>
              <a:t>open</a:t>
            </a:r>
            <a:r>
              <a:rPr sz="1400">
                <a:solidFill>
                  <a:srgbClr val="A9B7C6"/>
                </a:solidFill>
                <a:latin typeface="Consolas"/>
              </a:rPr>
              <a:t>(</a:t>
            </a:r>
            <a:r>
              <a:rPr sz="1400">
                <a:solidFill>
                  <a:srgbClr val="6A8759"/>
                </a:solidFill>
                <a:latin typeface="Consolas"/>
              </a:rPr>
              <a:t>'</a:t>
            </a:r>
            <a:r>
              <a:rPr sz="1400">
                <a:solidFill>
                  <a:srgbClr val="6A8759"/>
                </a:solidFill>
                <a:latin typeface="Consolas"/>
              </a:rPr>
              <a:t>results.txt</a:t>
            </a:r>
            <a:r>
              <a:rPr sz="1400">
                <a:solidFill>
                  <a:srgbClr val="6A8759"/>
                </a:solidFill>
                <a:latin typeface="Consolas"/>
              </a:rPr>
              <a:t>'</a:t>
            </a:r>
            <a:r>
              <a:rPr sz="1400">
                <a:solidFill>
                  <a:srgbClr val="A9B7C6"/>
                </a:solidFill>
                <a:latin typeface="Consolas"/>
              </a:rPr>
              <a:t>,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6A8759"/>
                </a:solidFill>
                <a:latin typeface="Consolas"/>
              </a:rPr>
              <a:t>'</a:t>
            </a:r>
            <a:r>
              <a:rPr sz="1400">
                <a:solidFill>
                  <a:srgbClr val="6A8759"/>
                </a:solidFill>
                <a:latin typeface="Consolas"/>
              </a:rPr>
              <a:t>r</a:t>
            </a:r>
            <a:r>
              <a:rPr sz="1400">
                <a:solidFill>
                  <a:srgbClr val="6A8759"/>
                </a:solidFill>
                <a:latin typeface="Consolas"/>
              </a:rPr>
              <a:t>'</a:t>
            </a:r>
            <a:r>
              <a:rPr sz="1400">
                <a:solidFill>
                  <a:srgbClr val="A9B7C6"/>
                </a:solidFill>
                <a:latin typeface="Consolas"/>
              </a:rPr>
              <a:t>,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A9B7C6"/>
                </a:solidFill>
                <a:latin typeface="Consolas"/>
              </a:rPr>
              <a:t>encoding</a:t>
            </a:r>
            <a:r>
              <a:rPr sz="1400">
                <a:solidFill>
                  <a:srgbClr val="A9B7C6"/>
                </a:solidFill>
                <a:latin typeface="Consolas"/>
              </a:rPr>
              <a:t>=</a:t>
            </a:r>
            <a:r>
              <a:rPr sz="1400">
                <a:solidFill>
                  <a:srgbClr val="6A8759"/>
                </a:solidFill>
                <a:latin typeface="Consolas"/>
              </a:rPr>
              <a:t>'</a:t>
            </a:r>
            <a:r>
              <a:rPr sz="1400">
                <a:solidFill>
                  <a:srgbClr val="6A8759"/>
                </a:solidFill>
                <a:latin typeface="Consolas"/>
              </a:rPr>
              <a:t>utf-8</a:t>
            </a:r>
            <a:r>
              <a:rPr sz="1400">
                <a:solidFill>
                  <a:srgbClr val="6A8759"/>
                </a:solidFill>
                <a:latin typeface="Consolas"/>
              </a:rPr>
              <a:t>'</a:t>
            </a:r>
            <a:r>
              <a:rPr sz="1400">
                <a:solidFill>
                  <a:srgbClr val="A9B7C6"/>
                </a:solidFill>
                <a:latin typeface="Consolas"/>
              </a:rPr>
              <a:t>)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CC7832"/>
                </a:solidFill>
                <a:latin typeface="Consolas"/>
              </a:rPr>
              <a:t>as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A9B7C6"/>
                </a:solidFill>
                <a:latin typeface="Consolas"/>
              </a:rPr>
              <a:t>f</a:t>
            </a:r>
            <a:r>
              <a:rPr sz="14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solidFill>
                  <a:srgbClr val="A9B7C6"/>
                </a:solidFill>
                <a:latin typeface="Consolas"/>
              </a:rPr>
              <a:t>    </a:t>
            </a:r>
            <a:r>
              <a:rPr sz="1400">
                <a:solidFill>
                  <a:srgbClr val="8888C6"/>
                </a:solidFill>
                <a:latin typeface="Consolas"/>
              </a:rPr>
              <a:t>print</a:t>
            </a:r>
            <a:r>
              <a:rPr sz="1400">
                <a:solidFill>
                  <a:srgbClr val="A9B7C6"/>
                </a:solidFill>
                <a:latin typeface="Consolas"/>
              </a:rPr>
              <a:t>(</a:t>
            </a:r>
            <a:r>
              <a:rPr sz="1400">
                <a:solidFill>
                  <a:srgbClr val="A9B7C6"/>
                </a:solidFill>
                <a:latin typeface="Consolas"/>
              </a:rPr>
              <a:t>f</a:t>
            </a:r>
            <a:r>
              <a:rPr sz="1400">
                <a:solidFill>
                  <a:srgbClr val="A9B7C6"/>
                </a:solidFill>
                <a:latin typeface="Consolas"/>
              </a:rPr>
              <a:t>.</a:t>
            </a:r>
            <a:r>
              <a:rPr sz="1400">
                <a:solidFill>
                  <a:srgbClr val="A9B7C6"/>
                </a:solidFill>
                <a:latin typeface="Consolas"/>
              </a:rPr>
              <a:t>read</a:t>
            </a:r>
            <a:r>
              <a:rPr sz="1400">
                <a:solidFill>
                  <a:srgbClr val="A9B7C6"/>
                </a:solidFill>
                <a:latin typeface="Consolas"/>
              </a:rPr>
              <a:t>(</a:t>
            </a:r>
            <a:r>
              <a:rPr sz="1400">
                <a:solidFill>
                  <a:srgbClr val="A9B7C6"/>
                </a:solidFill>
                <a:latin typeface="Consolas"/>
              </a:rPr>
              <a:t>)</a:t>
            </a:r>
            <a:r>
              <a:rPr sz="1400">
                <a:solidFill>
                  <a:srgbClr val="A9B7C6"/>
                </a:solidFill>
                <a:latin typeface="Consolas"/>
              </a:rPr>
              <a:t>.</a:t>
            </a:r>
            <a:r>
              <a:rPr sz="1400">
                <a:solidFill>
                  <a:srgbClr val="A9B7C6"/>
                </a:solidFill>
                <a:latin typeface="Consolas"/>
              </a:rPr>
              <a:t>strip</a:t>
            </a:r>
            <a:r>
              <a:rPr sz="1400">
                <a:solidFill>
                  <a:srgbClr val="A9B7C6"/>
                </a:solidFill>
                <a:latin typeface="Consolas"/>
              </a:rPr>
              <a:t>(</a:t>
            </a:r>
            <a:r>
              <a:rPr sz="1400">
                <a:solidFill>
                  <a:srgbClr val="A9B7C6"/>
                </a:solidFill>
                <a:latin typeface="Consolas"/>
              </a:rPr>
              <a:t>)</a:t>
            </a:r>
            <a:r>
              <a:rPr sz="1400">
                <a:solidFill>
                  <a:srgbClr val="A9B7C6"/>
                </a:solidFill>
                <a:latin typeface="Consolas"/>
              </a:rPr>
              <a:t>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36815" y="1828800"/>
            <a:ext cx="4206240" cy="11430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20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Вывод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Слов в файле: 5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Загадано букв: 8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картошка: победа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JSON: словари и списки в файле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5 ·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206240" cy="5029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JSON это текстовый формат для словарей, списков, чисел и строк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F5F8B"/>
                </a:solidFill>
                <a:latin typeface="Consolas"/>
              </a:rPr>
              <a:t>json.dump(data, f)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записывает,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json.load(f)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читает обратно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F5F8B"/>
                </a:solidFill>
                <a:latin typeface="Consolas"/>
              </a:rPr>
              <a:t>ensure_ascii=False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оставляет русские буквы буквами, а не кодами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F5F8B"/>
                </a:solidFill>
                <a:latin typeface="Consolas"/>
              </a:rPr>
              <a:t>indent=2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добавляет отступы: файл станет читаемым для человека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Годится для рекордов, настроек и списка вопросов викторины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199" y="1325880"/>
            <a:ext cx="6613855" cy="3246120"/>
          </a:xfrm>
          <a:prstGeom prst="roundRect">
            <a:avLst>
              <a:gd name="adj" fmla="val 3380"/>
            </a:avLst>
          </a:prstGeom>
          <a:solidFill>
            <a:srgbClr val="2B2B2B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0"/>
              </a:spcAft>
              <a:defRPr sz="1500">
                <a:latin typeface="Consolas"/>
              </a:defRPr>
            </a:pPr>
            <a:r>
              <a:rPr sz="1500">
                <a:solidFill>
                  <a:srgbClr val="CC7832"/>
                </a:solidFill>
                <a:latin typeface="Consolas"/>
              </a:rPr>
              <a:t>import</a:t>
            </a:r>
            <a:r>
              <a:rPr sz="1500">
                <a:solidFill>
                  <a:srgbClr val="A9B7C6"/>
                </a:solidFill>
                <a:latin typeface="Consolas"/>
              </a:rPr>
              <a:t> </a:t>
            </a:r>
            <a:r>
              <a:rPr sz="1500">
                <a:solidFill>
                  <a:srgbClr val="A9B7C6"/>
                </a:solidFill>
                <a:latin typeface="Consolas"/>
              </a:rPr>
              <a:t>json</a:t>
            </a:r>
          </a:p>
          <a:p>
            <a:pPr>
              <a:spcAft>
                <a:spcPts val="0"/>
              </a:spcAft>
              <a:defRPr sz="1500">
                <a:latin typeface="Consolas"/>
              </a:defRPr>
            </a:pPr>
            <a:r>
              <a:rPr sz="15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500">
                <a:latin typeface="Consolas"/>
              </a:defRPr>
            </a:pPr>
            <a:r>
              <a:rPr sz="1500">
                <a:solidFill>
                  <a:srgbClr val="A9B7C6"/>
                </a:solidFill>
                <a:latin typeface="Consolas"/>
              </a:rPr>
              <a:t>records</a:t>
            </a:r>
            <a:r>
              <a:rPr sz="1500">
                <a:solidFill>
                  <a:srgbClr val="A9B7C6"/>
                </a:solidFill>
                <a:latin typeface="Consolas"/>
              </a:rPr>
              <a:t> </a:t>
            </a:r>
            <a:r>
              <a:rPr sz="1500">
                <a:solidFill>
                  <a:srgbClr val="A9B7C6"/>
                </a:solidFill>
                <a:latin typeface="Consolas"/>
              </a:rPr>
              <a:t>=</a:t>
            </a:r>
            <a:r>
              <a:rPr sz="1500">
                <a:solidFill>
                  <a:srgbClr val="A9B7C6"/>
                </a:solidFill>
                <a:latin typeface="Consolas"/>
              </a:rPr>
              <a:t> </a:t>
            </a:r>
            <a:r>
              <a:rPr sz="1500">
                <a:solidFill>
                  <a:srgbClr val="A9B7C6"/>
                </a:solidFill>
                <a:latin typeface="Consolas"/>
              </a:rPr>
              <a:t>[</a:t>
            </a:r>
            <a:r>
              <a:rPr sz="1500">
                <a:solidFill>
                  <a:srgbClr val="A9B7C6"/>
                </a:solidFill>
                <a:latin typeface="Consolas"/>
              </a:rPr>
              <a:t>{</a:t>
            </a:r>
            <a:r>
              <a:rPr sz="1500">
                <a:solidFill>
                  <a:srgbClr val="6A8759"/>
                </a:solidFill>
                <a:latin typeface="Consolas"/>
              </a:rPr>
              <a:t>'</a:t>
            </a:r>
            <a:r>
              <a:rPr sz="1500">
                <a:solidFill>
                  <a:srgbClr val="6A8759"/>
                </a:solidFill>
                <a:latin typeface="Consolas"/>
              </a:rPr>
              <a:t>name</a:t>
            </a:r>
            <a:r>
              <a:rPr sz="1500">
                <a:solidFill>
                  <a:srgbClr val="6A8759"/>
                </a:solidFill>
                <a:latin typeface="Consolas"/>
              </a:rPr>
              <a:t>'</a:t>
            </a:r>
            <a:r>
              <a:rPr sz="1500">
                <a:solidFill>
                  <a:srgbClr val="A9B7C6"/>
                </a:solidFill>
                <a:latin typeface="Consolas"/>
              </a:rPr>
              <a:t>:</a:t>
            </a:r>
            <a:r>
              <a:rPr sz="1500">
                <a:solidFill>
                  <a:srgbClr val="A9B7C6"/>
                </a:solidFill>
                <a:latin typeface="Consolas"/>
              </a:rPr>
              <a:t> </a:t>
            </a:r>
            <a:r>
              <a:rPr sz="1500">
                <a:solidFill>
                  <a:srgbClr val="6A8759"/>
                </a:solidFill>
                <a:latin typeface="Consolas"/>
              </a:rPr>
              <a:t>'</a:t>
            </a:r>
            <a:r>
              <a:rPr sz="1500">
                <a:solidFill>
                  <a:srgbClr val="6A8759"/>
                </a:solidFill>
                <a:latin typeface="Consolas"/>
              </a:rPr>
              <a:t>Аня</a:t>
            </a:r>
            <a:r>
              <a:rPr sz="1500">
                <a:solidFill>
                  <a:srgbClr val="6A8759"/>
                </a:solidFill>
                <a:latin typeface="Consolas"/>
              </a:rPr>
              <a:t>'</a:t>
            </a:r>
            <a:r>
              <a:rPr sz="1500">
                <a:solidFill>
                  <a:srgbClr val="A9B7C6"/>
                </a:solidFill>
                <a:latin typeface="Consolas"/>
              </a:rPr>
              <a:t>,</a:t>
            </a:r>
            <a:r>
              <a:rPr sz="1500">
                <a:solidFill>
                  <a:srgbClr val="A9B7C6"/>
                </a:solidFill>
                <a:latin typeface="Consolas"/>
              </a:rPr>
              <a:t> </a:t>
            </a:r>
            <a:r>
              <a:rPr sz="1500">
                <a:solidFill>
                  <a:srgbClr val="6A8759"/>
                </a:solidFill>
                <a:latin typeface="Consolas"/>
              </a:rPr>
              <a:t>'</a:t>
            </a:r>
            <a:r>
              <a:rPr sz="1500">
                <a:solidFill>
                  <a:srgbClr val="6A8759"/>
                </a:solidFill>
                <a:latin typeface="Consolas"/>
              </a:rPr>
              <a:t>score</a:t>
            </a:r>
            <a:r>
              <a:rPr sz="1500">
                <a:solidFill>
                  <a:srgbClr val="6A8759"/>
                </a:solidFill>
                <a:latin typeface="Consolas"/>
              </a:rPr>
              <a:t>'</a:t>
            </a:r>
            <a:r>
              <a:rPr sz="1500">
                <a:solidFill>
                  <a:srgbClr val="A9B7C6"/>
                </a:solidFill>
                <a:latin typeface="Consolas"/>
              </a:rPr>
              <a:t>:</a:t>
            </a:r>
            <a:r>
              <a:rPr sz="1500">
                <a:solidFill>
                  <a:srgbClr val="A9B7C6"/>
                </a:solidFill>
                <a:latin typeface="Consolas"/>
              </a:rPr>
              <a:t> </a:t>
            </a:r>
            <a:r>
              <a:rPr sz="1500">
                <a:solidFill>
                  <a:srgbClr val="6897BB"/>
                </a:solidFill>
                <a:latin typeface="Consolas"/>
              </a:rPr>
              <a:t>12</a:t>
            </a:r>
            <a:r>
              <a:rPr sz="1500">
                <a:solidFill>
                  <a:srgbClr val="A9B7C6"/>
                </a:solidFill>
                <a:latin typeface="Consolas"/>
              </a:rPr>
              <a:t>}</a:t>
            </a:r>
            <a:r>
              <a:rPr sz="1500">
                <a:solidFill>
                  <a:srgbClr val="A9B7C6"/>
                </a:solidFill>
                <a:latin typeface="Consolas"/>
              </a:rPr>
              <a:t>]</a:t>
            </a:r>
          </a:p>
          <a:p>
            <a:pPr>
              <a:spcAft>
                <a:spcPts val="0"/>
              </a:spcAft>
              <a:defRPr sz="1500">
                <a:latin typeface="Consolas"/>
              </a:defRPr>
            </a:pPr>
            <a:r>
              <a:rPr sz="1500">
                <a:solidFill>
                  <a:srgbClr val="CC7832"/>
                </a:solidFill>
                <a:latin typeface="Consolas"/>
              </a:rPr>
              <a:t>with</a:t>
            </a:r>
            <a:r>
              <a:rPr sz="1500">
                <a:solidFill>
                  <a:srgbClr val="A9B7C6"/>
                </a:solidFill>
                <a:latin typeface="Consolas"/>
              </a:rPr>
              <a:t> </a:t>
            </a:r>
            <a:r>
              <a:rPr sz="1500">
                <a:solidFill>
                  <a:srgbClr val="8888C6"/>
                </a:solidFill>
                <a:latin typeface="Consolas"/>
              </a:rPr>
              <a:t>open</a:t>
            </a:r>
            <a:r>
              <a:rPr sz="1500">
                <a:solidFill>
                  <a:srgbClr val="A9B7C6"/>
                </a:solidFill>
                <a:latin typeface="Consolas"/>
              </a:rPr>
              <a:t>(</a:t>
            </a:r>
            <a:r>
              <a:rPr sz="1500">
                <a:solidFill>
                  <a:srgbClr val="6A8759"/>
                </a:solidFill>
                <a:latin typeface="Consolas"/>
              </a:rPr>
              <a:t>'</a:t>
            </a:r>
            <a:r>
              <a:rPr sz="1500">
                <a:solidFill>
                  <a:srgbClr val="6A8759"/>
                </a:solidFill>
                <a:latin typeface="Consolas"/>
              </a:rPr>
              <a:t>records.json</a:t>
            </a:r>
            <a:r>
              <a:rPr sz="1500">
                <a:solidFill>
                  <a:srgbClr val="6A8759"/>
                </a:solidFill>
                <a:latin typeface="Consolas"/>
              </a:rPr>
              <a:t>'</a:t>
            </a:r>
            <a:r>
              <a:rPr sz="1500">
                <a:solidFill>
                  <a:srgbClr val="A9B7C6"/>
                </a:solidFill>
                <a:latin typeface="Consolas"/>
              </a:rPr>
              <a:t>,</a:t>
            </a:r>
            <a:r>
              <a:rPr sz="1500">
                <a:solidFill>
                  <a:srgbClr val="A9B7C6"/>
                </a:solidFill>
                <a:latin typeface="Consolas"/>
              </a:rPr>
              <a:t> </a:t>
            </a:r>
            <a:r>
              <a:rPr sz="1500">
                <a:solidFill>
                  <a:srgbClr val="6A8759"/>
                </a:solidFill>
                <a:latin typeface="Consolas"/>
              </a:rPr>
              <a:t>'</a:t>
            </a:r>
            <a:r>
              <a:rPr sz="1500">
                <a:solidFill>
                  <a:srgbClr val="6A8759"/>
                </a:solidFill>
                <a:latin typeface="Consolas"/>
              </a:rPr>
              <a:t>w</a:t>
            </a:r>
            <a:r>
              <a:rPr sz="1500">
                <a:solidFill>
                  <a:srgbClr val="6A8759"/>
                </a:solidFill>
                <a:latin typeface="Consolas"/>
              </a:rPr>
              <a:t>'</a:t>
            </a:r>
            <a:r>
              <a:rPr sz="1500">
                <a:solidFill>
                  <a:srgbClr val="A9B7C6"/>
                </a:solidFill>
                <a:latin typeface="Consolas"/>
              </a:rPr>
              <a:t>,</a:t>
            </a:r>
            <a:r>
              <a:rPr sz="1500">
                <a:solidFill>
                  <a:srgbClr val="A9B7C6"/>
                </a:solidFill>
                <a:latin typeface="Consolas"/>
              </a:rPr>
              <a:t> </a:t>
            </a:r>
            <a:r>
              <a:rPr sz="1500">
                <a:solidFill>
                  <a:srgbClr val="A9B7C6"/>
                </a:solidFill>
                <a:latin typeface="Consolas"/>
              </a:rPr>
              <a:t>encoding</a:t>
            </a:r>
            <a:r>
              <a:rPr sz="1500">
                <a:solidFill>
                  <a:srgbClr val="A9B7C6"/>
                </a:solidFill>
                <a:latin typeface="Consolas"/>
              </a:rPr>
              <a:t>=</a:t>
            </a:r>
            <a:r>
              <a:rPr sz="1500">
                <a:solidFill>
                  <a:srgbClr val="6A8759"/>
                </a:solidFill>
                <a:latin typeface="Consolas"/>
              </a:rPr>
              <a:t>'</a:t>
            </a:r>
            <a:r>
              <a:rPr sz="1500">
                <a:solidFill>
                  <a:srgbClr val="6A8759"/>
                </a:solidFill>
                <a:latin typeface="Consolas"/>
              </a:rPr>
              <a:t>utf-8</a:t>
            </a:r>
            <a:r>
              <a:rPr sz="1500">
                <a:solidFill>
                  <a:srgbClr val="6A8759"/>
                </a:solidFill>
                <a:latin typeface="Consolas"/>
              </a:rPr>
              <a:t>'</a:t>
            </a:r>
            <a:r>
              <a:rPr sz="1500">
                <a:solidFill>
                  <a:srgbClr val="A9B7C6"/>
                </a:solidFill>
                <a:latin typeface="Consolas"/>
              </a:rPr>
              <a:t>)</a:t>
            </a:r>
            <a:r>
              <a:rPr sz="1500">
                <a:solidFill>
                  <a:srgbClr val="A9B7C6"/>
                </a:solidFill>
                <a:latin typeface="Consolas"/>
              </a:rPr>
              <a:t> </a:t>
            </a:r>
            <a:r>
              <a:rPr sz="1500">
                <a:solidFill>
                  <a:srgbClr val="CC7832"/>
                </a:solidFill>
                <a:latin typeface="Consolas"/>
              </a:rPr>
              <a:t>as</a:t>
            </a:r>
            <a:r>
              <a:rPr sz="1500">
                <a:solidFill>
                  <a:srgbClr val="A9B7C6"/>
                </a:solidFill>
                <a:latin typeface="Consolas"/>
              </a:rPr>
              <a:t> </a:t>
            </a:r>
            <a:r>
              <a:rPr sz="1500">
                <a:solidFill>
                  <a:srgbClr val="A9B7C6"/>
                </a:solidFill>
                <a:latin typeface="Consolas"/>
              </a:rPr>
              <a:t>f</a:t>
            </a:r>
            <a:r>
              <a:rPr sz="15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500">
                <a:latin typeface="Consolas"/>
              </a:defRPr>
            </a:pPr>
            <a:r>
              <a:rPr sz="1500">
                <a:solidFill>
                  <a:srgbClr val="A9B7C6"/>
                </a:solidFill>
                <a:latin typeface="Consolas"/>
              </a:rPr>
              <a:t>    </a:t>
            </a:r>
            <a:r>
              <a:rPr sz="1500">
                <a:solidFill>
                  <a:srgbClr val="A9B7C6"/>
                </a:solidFill>
                <a:latin typeface="Consolas"/>
              </a:rPr>
              <a:t>json</a:t>
            </a:r>
            <a:r>
              <a:rPr sz="1500">
                <a:solidFill>
                  <a:srgbClr val="A9B7C6"/>
                </a:solidFill>
                <a:latin typeface="Consolas"/>
              </a:rPr>
              <a:t>.</a:t>
            </a:r>
            <a:r>
              <a:rPr sz="1500">
                <a:solidFill>
                  <a:srgbClr val="A9B7C6"/>
                </a:solidFill>
                <a:latin typeface="Consolas"/>
              </a:rPr>
              <a:t>dump</a:t>
            </a:r>
            <a:r>
              <a:rPr sz="1500">
                <a:solidFill>
                  <a:srgbClr val="A9B7C6"/>
                </a:solidFill>
                <a:latin typeface="Consolas"/>
              </a:rPr>
              <a:t>(</a:t>
            </a:r>
            <a:r>
              <a:rPr sz="1500">
                <a:solidFill>
                  <a:srgbClr val="A9B7C6"/>
                </a:solidFill>
                <a:latin typeface="Consolas"/>
              </a:rPr>
              <a:t>records</a:t>
            </a:r>
            <a:r>
              <a:rPr sz="1500">
                <a:solidFill>
                  <a:srgbClr val="A9B7C6"/>
                </a:solidFill>
                <a:latin typeface="Consolas"/>
              </a:rPr>
              <a:t>,</a:t>
            </a:r>
            <a:r>
              <a:rPr sz="1500">
                <a:solidFill>
                  <a:srgbClr val="A9B7C6"/>
                </a:solidFill>
                <a:latin typeface="Consolas"/>
              </a:rPr>
              <a:t> </a:t>
            </a:r>
            <a:r>
              <a:rPr sz="1500">
                <a:solidFill>
                  <a:srgbClr val="A9B7C6"/>
                </a:solidFill>
                <a:latin typeface="Consolas"/>
              </a:rPr>
              <a:t>f</a:t>
            </a:r>
            <a:r>
              <a:rPr sz="1500">
                <a:solidFill>
                  <a:srgbClr val="A9B7C6"/>
                </a:solidFill>
                <a:latin typeface="Consolas"/>
              </a:rPr>
              <a:t>,</a:t>
            </a:r>
            <a:r>
              <a:rPr sz="1500">
                <a:solidFill>
                  <a:srgbClr val="A9B7C6"/>
                </a:solidFill>
                <a:latin typeface="Consolas"/>
              </a:rPr>
              <a:t> </a:t>
            </a:r>
            <a:r>
              <a:rPr sz="1500">
                <a:solidFill>
                  <a:srgbClr val="A9B7C6"/>
                </a:solidFill>
                <a:latin typeface="Consolas"/>
              </a:rPr>
              <a:t>ensure_ascii</a:t>
            </a:r>
            <a:r>
              <a:rPr sz="1500">
                <a:solidFill>
                  <a:srgbClr val="A9B7C6"/>
                </a:solidFill>
                <a:latin typeface="Consolas"/>
              </a:rPr>
              <a:t>=</a:t>
            </a:r>
            <a:r>
              <a:rPr sz="1500">
                <a:solidFill>
                  <a:srgbClr val="CC7832"/>
                </a:solidFill>
                <a:latin typeface="Consolas"/>
              </a:rPr>
              <a:t>False</a:t>
            </a:r>
            <a:r>
              <a:rPr sz="15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500">
                <a:latin typeface="Consolas"/>
              </a:defRPr>
            </a:pPr>
            <a:r>
              <a:rPr sz="15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500">
                <a:latin typeface="Consolas"/>
              </a:defRPr>
            </a:pPr>
            <a:r>
              <a:rPr sz="1500">
                <a:solidFill>
                  <a:srgbClr val="CC7832"/>
                </a:solidFill>
                <a:latin typeface="Consolas"/>
              </a:rPr>
              <a:t>with</a:t>
            </a:r>
            <a:r>
              <a:rPr sz="1500">
                <a:solidFill>
                  <a:srgbClr val="A9B7C6"/>
                </a:solidFill>
                <a:latin typeface="Consolas"/>
              </a:rPr>
              <a:t> </a:t>
            </a:r>
            <a:r>
              <a:rPr sz="1500">
                <a:solidFill>
                  <a:srgbClr val="8888C6"/>
                </a:solidFill>
                <a:latin typeface="Consolas"/>
              </a:rPr>
              <a:t>open</a:t>
            </a:r>
            <a:r>
              <a:rPr sz="1500">
                <a:solidFill>
                  <a:srgbClr val="A9B7C6"/>
                </a:solidFill>
                <a:latin typeface="Consolas"/>
              </a:rPr>
              <a:t>(</a:t>
            </a:r>
            <a:r>
              <a:rPr sz="1500">
                <a:solidFill>
                  <a:srgbClr val="6A8759"/>
                </a:solidFill>
                <a:latin typeface="Consolas"/>
              </a:rPr>
              <a:t>'</a:t>
            </a:r>
            <a:r>
              <a:rPr sz="1500">
                <a:solidFill>
                  <a:srgbClr val="6A8759"/>
                </a:solidFill>
                <a:latin typeface="Consolas"/>
              </a:rPr>
              <a:t>records.json</a:t>
            </a:r>
            <a:r>
              <a:rPr sz="1500">
                <a:solidFill>
                  <a:srgbClr val="6A8759"/>
                </a:solidFill>
                <a:latin typeface="Consolas"/>
              </a:rPr>
              <a:t>'</a:t>
            </a:r>
            <a:r>
              <a:rPr sz="1500">
                <a:solidFill>
                  <a:srgbClr val="A9B7C6"/>
                </a:solidFill>
                <a:latin typeface="Consolas"/>
              </a:rPr>
              <a:t>,</a:t>
            </a:r>
            <a:r>
              <a:rPr sz="1500">
                <a:solidFill>
                  <a:srgbClr val="A9B7C6"/>
                </a:solidFill>
                <a:latin typeface="Consolas"/>
              </a:rPr>
              <a:t> </a:t>
            </a:r>
            <a:r>
              <a:rPr sz="1500">
                <a:solidFill>
                  <a:srgbClr val="6A8759"/>
                </a:solidFill>
                <a:latin typeface="Consolas"/>
              </a:rPr>
              <a:t>'</a:t>
            </a:r>
            <a:r>
              <a:rPr sz="1500">
                <a:solidFill>
                  <a:srgbClr val="6A8759"/>
                </a:solidFill>
                <a:latin typeface="Consolas"/>
              </a:rPr>
              <a:t>r</a:t>
            </a:r>
            <a:r>
              <a:rPr sz="1500">
                <a:solidFill>
                  <a:srgbClr val="6A8759"/>
                </a:solidFill>
                <a:latin typeface="Consolas"/>
              </a:rPr>
              <a:t>'</a:t>
            </a:r>
            <a:r>
              <a:rPr sz="1500">
                <a:solidFill>
                  <a:srgbClr val="A9B7C6"/>
                </a:solidFill>
                <a:latin typeface="Consolas"/>
              </a:rPr>
              <a:t>,</a:t>
            </a:r>
            <a:r>
              <a:rPr sz="1500">
                <a:solidFill>
                  <a:srgbClr val="A9B7C6"/>
                </a:solidFill>
                <a:latin typeface="Consolas"/>
              </a:rPr>
              <a:t> </a:t>
            </a:r>
            <a:r>
              <a:rPr sz="1500">
                <a:solidFill>
                  <a:srgbClr val="A9B7C6"/>
                </a:solidFill>
                <a:latin typeface="Consolas"/>
              </a:rPr>
              <a:t>encoding</a:t>
            </a:r>
            <a:r>
              <a:rPr sz="1500">
                <a:solidFill>
                  <a:srgbClr val="A9B7C6"/>
                </a:solidFill>
                <a:latin typeface="Consolas"/>
              </a:rPr>
              <a:t>=</a:t>
            </a:r>
            <a:r>
              <a:rPr sz="1500">
                <a:solidFill>
                  <a:srgbClr val="6A8759"/>
                </a:solidFill>
                <a:latin typeface="Consolas"/>
              </a:rPr>
              <a:t>'</a:t>
            </a:r>
            <a:r>
              <a:rPr sz="1500">
                <a:solidFill>
                  <a:srgbClr val="6A8759"/>
                </a:solidFill>
                <a:latin typeface="Consolas"/>
              </a:rPr>
              <a:t>utf-8</a:t>
            </a:r>
            <a:r>
              <a:rPr sz="1500">
                <a:solidFill>
                  <a:srgbClr val="6A8759"/>
                </a:solidFill>
                <a:latin typeface="Consolas"/>
              </a:rPr>
              <a:t>'</a:t>
            </a:r>
            <a:r>
              <a:rPr sz="1500">
                <a:solidFill>
                  <a:srgbClr val="A9B7C6"/>
                </a:solidFill>
                <a:latin typeface="Consolas"/>
              </a:rPr>
              <a:t>)</a:t>
            </a:r>
            <a:r>
              <a:rPr sz="1500">
                <a:solidFill>
                  <a:srgbClr val="A9B7C6"/>
                </a:solidFill>
                <a:latin typeface="Consolas"/>
              </a:rPr>
              <a:t> </a:t>
            </a:r>
            <a:r>
              <a:rPr sz="1500">
                <a:solidFill>
                  <a:srgbClr val="CC7832"/>
                </a:solidFill>
                <a:latin typeface="Consolas"/>
              </a:rPr>
              <a:t>as</a:t>
            </a:r>
            <a:r>
              <a:rPr sz="1500">
                <a:solidFill>
                  <a:srgbClr val="A9B7C6"/>
                </a:solidFill>
                <a:latin typeface="Consolas"/>
              </a:rPr>
              <a:t> </a:t>
            </a:r>
            <a:r>
              <a:rPr sz="1500">
                <a:solidFill>
                  <a:srgbClr val="A9B7C6"/>
                </a:solidFill>
                <a:latin typeface="Consolas"/>
              </a:rPr>
              <a:t>f</a:t>
            </a:r>
            <a:r>
              <a:rPr sz="15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500">
                <a:latin typeface="Consolas"/>
              </a:defRPr>
            </a:pPr>
            <a:r>
              <a:rPr sz="1500">
                <a:solidFill>
                  <a:srgbClr val="A9B7C6"/>
                </a:solidFill>
                <a:latin typeface="Consolas"/>
              </a:rPr>
              <a:t>    </a:t>
            </a:r>
            <a:r>
              <a:rPr sz="1500">
                <a:solidFill>
                  <a:srgbClr val="8888C6"/>
                </a:solidFill>
                <a:latin typeface="Consolas"/>
              </a:rPr>
              <a:t>print</a:t>
            </a:r>
            <a:r>
              <a:rPr sz="1500">
                <a:solidFill>
                  <a:srgbClr val="A9B7C6"/>
                </a:solidFill>
                <a:latin typeface="Consolas"/>
              </a:rPr>
              <a:t>(</a:t>
            </a:r>
            <a:r>
              <a:rPr sz="1500">
                <a:solidFill>
                  <a:srgbClr val="A9B7C6"/>
                </a:solidFill>
                <a:latin typeface="Consolas"/>
              </a:rPr>
              <a:t>f</a:t>
            </a:r>
            <a:r>
              <a:rPr sz="1500">
                <a:solidFill>
                  <a:srgbClr val="A9B7C6"/>
                </a:solidFill>
                <a:latin typeface="Consolas"/>
              </a:rPr>
              <a:t>.</a:t>
            </a:r>
            <a:r>
              <a:rPr sz="1500">
                <a:solidFill>
                  <a:srgbClr val="A9B7C6"/>
                </a:solidFill>
                <a:latin typeface="Consolas"/>
              </a:rPr>
              <a:t>read</a:t>
            </a:r>
            <a:r>
              <a:rPr sz="1500">
                <a:solidFill>
                  <a:srgbClr val="A9B7C6"/>
                </a:solidFill>
                <a:latin typeface="Consolas"/>
              </a:rPr>
              <a:t>(</a:t>
            </a:r>
            <a:r>
              <a:rPr sz="1500">
                <a:solidFill>
                  <a:srgbClr val="A9B7C6"/>
                </a:solidFill>
                <a:latin typeface="Consolas"/>
              </a:rPr>
              <a:t>)</a:t>
            </a:r>
            <a:r>
              <a:rPr sz="15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500">
                <a:latin typeface="Consolas"/>
              </a:defRPr>
            </a:pPr>
            <a:r>
              <a:rPr sz="15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500">
                <a:latin typeface="Consolas"/>
              </a:defRPr>
            </a:pPr>
            <a:r>
              <a:rPr sz="1500">
                <a:solidFill>
                  <a:srgbClr val="CC7832"/>
                </a:solidFill>
                <a:latin typeface="Consolas"/>
              </a:rPr>
              <a:t>with</a:t>
            </a:r>
            <a:r>
              <a:rPr sz="1500">
                <a:solidFill>
                  <a:srgbClr val="A9B7C6"/>
                </a:solidFill>
                <a:latin typeface="Consolas"/>
              </a:rPr>
              <a:t> </a:t>
            </a:r>
            <a:r>
              <a:rPr sz="1500">
                <a:solidFill>
                  <a:srgbClr val="8888C6"/>
                </a:solidFill>
                <a:latin typeface="Consolas"/>
              </a:rPr>
              <a:t>open</a:t>
            </a:r>
            <a:r>
              <a:rPr sz="1500">
                <a:solidFill>
                  <a:srgbClr val="A9B7C6"/>
                </a:solidFill>
                <a:latin typeface="Consolas"/>
              </a:rPr>
              <a:t>(</a:t>
            </a:r>
            <a:r>
              <a:rPr sz="1500">
                <a:solidFill>
                  <a:srgbClr val="6A8759"/>
                </a:solidFill>
                <a:latin typeface="Consolas"/>
              </a:rPr>
              <a:t>'</a:t>
            </a:r>
            <a:r>
              <a:rPr sz="1500">
                <a:solidFill>
                  <a:srgbClr val="6A8759"/>
                </a:solidFill>
                <a:latin typeface="Consolas"/>
              </a:rPr>
              <a:t>records.json</a:t>
            </a:r>
            <a:r>
              <a:rPr sz="1500">
                <a:solidFill>
                  <a:srgbClr val="6A8759"/>
                </a:solidFill>
                <a:latin typeface="Consolas"/>
              </a:rPr>
              <a:t>'</a:t>
            </a:r>
            <a:r>
              <a:rPr sz="1500">
                <a:solidFill>
                  <a:srgbClr val="A9B7C6"/>
                </a:solidFill>
                <a:latin typeface="Consolas"/>
              </a:rPr>
              <a:t>,</a:t>
            </a:r>
            <a:r>
              <a:rPr sz="1500">
                <a:solidFill>
                  <a:srgbClr val="A9B7C6"/>
                </a:solidFill>
                <a:latin typeface="Consolas"/>
              </a:rPr>
              <a:t> </a:t>
            </a:r>
            <a:r>
              <a:rPr sz="1500">
                <a:solidFill>
                  <a:srgbClr val="6A8759"/>
                </a:solidFill>
                <a:latin typeface="Consolas"/>
              </a:rPr>
              <a:t>'</a:t>
            </a:r>
            <a:r>
              <a:rPr sz="1500">
                <a:solidFill>
                  <a:srgbClr val="6A8759"/>
                </a:solidFill>
                <a:latin typeface="Consolas"/>
              </a:rPr>
              <a:t>r</a:t>
            </a:r>
            <a:r>
              <a:rPr sz="1500">
                <a:solidFill>
                  <a:srgbClr val="6A8759"/>
                </a:solidFill>
                <a:latin typeface="Consolas"/>
              </a:rPr>
              <a:t>'</a:t>
            </a:r>
            <a:r>
              <a:rPr sz="1500">
                <a:solidFill>
                  <a:srgbClr val="A9B7C6"/>
                </a:solidFill>
                <a:latin typeface="Consolas"/>
              </a:rPr>
              <a:t>,</a:t>
            </a:r>
            <a:r>
              <a:rPr sz="1500">
                <a:solidFill>
                  <a:srgbClr val="A9B7C6"/>
                </a:solidFill>
                <a:latin typeface="Consolas"/>
              </a:rPr>
              <a:t> </a:t>
            </a:r>
            <a:r>
              <a:rPr sz="1500">
                <a:solidFill>
                  <a:srgbClr val="A9B7C6"/>
                </a:solidFill>
                <a:latin typeface="Consolas"/>
              </a:rPr>
              <a:t>encoding</a:t>
            </a:r>
            <a:r>
              <a:rPr sz="1500">
                <a:solidFill>
                  <a:srgbClr val="A9B7C6"/>
                </a:solidFill>
                <a:latin typeface="Consolas"/>
              </a:rPr>
              <a:t>=</a:t>
            </a:r>
            <a:r>
              <a:rPr sz="1500">
                <a:solidFill>
                  <a:srgbClr val="6A8759"/>
                </a:solidFill>
                <a:latin typeface="Consolas"/>
              </a:rPr>
              <a:t>'</a:t>
            </a:r>
            <a:r>
              <a:rPr sz="1500">
                <a:solidFill>
                  <a:srgbClr val="6A8759"/>
                </a:solidFill>
                <a:latin typeface="Consolas"/>
              </a:rPr>
              <a:t>utf-8</a:t>
            </a:r>
            <a:r>
              <a:rPr sz="1500">
                <a:solidFill>
                  <a:srgbClr val="6A8759"/>
                </a:solidFill>
                <a:latin typeface="Consolas"/>
              </a:rPr>
              <a:t>'</a:t>
            </a:r>
            <a:r>
              <a:rPr sz="1500">
                <a:solidFill>
                  <a:srgbClr val="A9B7C6"/>
                </a:solidFill>
                <a:latin typeface="Consolas"/>
              </a:rPr>
              <a:t>)</a:t>
            </a:r>
            <a:r>
              <a:rPr sz="1500">
                <a:solidFill>
                  <a:srgbClr val="A9B7C6"/>
                </a:solidFill>
                <a:latin typeface="Consolas"/>
              </a:rPr>
              <a:t> </a:t>
            </a:r>
            <a:r>
              <a:rPr sz="1500">
                <a:solidFill>
                  <a:srgbClr val="CC7832"/>
                </a:solidFill>
                <a:latin typeface="Consolas"/>
              </a:rPr>
              <a:t>as</a:t>
            </a:r>
            <a:r>
              <a:rPr sz="1500">
                <a:solidFill>
                  <a:srgbClr val="A9B7C6"/>
                </a:solidFill>
                <a:latin typeface="Consolas"/>
              </a:rPr>
              <a:t> </a:t>
            </a:r>
            <a:r>
              <a:rPr sz="1500">
                <a:solidFill>
                  <a:srgbClr val="A9B7C6"/>
                </a:solidFill>
                <a:latin typeface="Consolas"/>
              </a:rPr>
              <a:t>f</a:t>
            </a:r>
            <a:r>
              <a:rPr sz="15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500">
                <a:latin typeface="Consolas"/>
              </a:defRPr>
            </a:pPr>
            <a:r>
              <a:rPr sz="1500">
                <a:solidFill>
                  <a:srgbClr val="A9B7C6"/>
                </a:solidFill>
                <a:latin typeface="Consolas"/>
              </a:rPr>
              <a:t>    </a:t>
            </a:r>
            <a:r>
              <a:rPr sz="1500">
                <a:solidFill>
                  <a:srgbClr val="A9B7C6"/>
                </a:solidFill>
                <a:latin typeface="Consolas"/>
              </a:rPr>
              <a:t>loaded</a:t>
            </a:r>
            <a:r>
              <a:rPr sz="1500">
                <a:solidFill>
                  <a:srgbClr val="A9B7C6"/>
                </a:solidFill>
                <a:latin typeface="Consolas"/>
              </a:rPr>
              <a:t> </a:t>
            </a:r>
            <a:r>
              <a:rPr sz="1500">
                <a:solidFill>
                  <a:srgbClr val="A9B7C6"/>
                </a:solidFill>
                <a:latin typeface="Consolas"/>
              </a:rPr>
              <a:t>=</a:t>
            </a:r>
            <a:r>
              <a:rPr sz="1500">
                <a:solidFill>
                  <a:srgbClr val="A9B7C6"/>
                </a:solidFill>
                <a:latin typeface="Consolas"/>
              </a:rPr>
              <a:t> </a:t>
            </a:r>
            <a:r>
              <a:rPr sz="1500">
                <a:solidFill>
                  <a:srgbClr val="A9B7C6"/>
                </a:solidFill>
                <a:latin typeface="Consolas"/>
              </a:rPr>
              <a:t>json</a:t>
            </a:r>
            <a:r>
              <a:rPr sz="1500">
                <a:solidFill>
                  <a:srgbClr val="A9B7C6"/>
                </a:solidFill>
                <a:latin typeface="Consolas"/>
              </a:rPr>
              <a:t>.</a:t>
            </a:r>
            <a:r>
              <a:rPr sz="1500">
                <a:solidFill>
                  <a:srgbClr val="A9B7C6"/>
                </a:solidFill>
                <a:latin typeface="Consolas"/>
              </a:rPr>
              <a:t>load</a:t>
            </a:r>
            <a:r>
              <a:rPr sz="1500">
                <a:solidFill>
                  <a:srgbClr val="A9B7C6"/>
                </a:solidFill>
                <a:latin typeface="Consolas"/>
              </a:rPr>
              <a:t>(</a:t>
            </a:r>
            <a:r>
              <a:rPr sz="1500">
                <a:solidFill>
                  <a:srgbClr val="A9B7C6"/>
                </a:solidFill>
                <a:latin typeface="Consolas"/>
              </a:rPr>
              <a:t>f</a:t>
            </a:r>
            <a:r>
              <a:rPr sz="15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500">
                <a:latin typeface="Consolas"/>
              </a:defRPr>
            </a:pPr>
            <a:r>
              <a:rPr sz="15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500">
                <a:latin typeface="Consolas"/>
              </a:defRPr>
            </a:pPr>
            <a:r>
              <a:rPr sz="1500">
                <a:solidFill>
                  <a:srgbClr val="8888C6"/>
                </a:solidFill>
                <a:latin typeface="Consolas"/>
              </a:rPr>
              <a:t>print</a:t>
            </a:r>
            <a:r>
              <a:rPr sz="1500">
                <a:solidFill>
                  <a:srgbClr val="A9B7C6"/>
                </a:solidFill>
                <a:latin typeface="Consolas"/>
              </a:rPr>
              <a:t>(</a:t>
            </a:r>
            <a:r>
              <a:rPr sz="1500">
                <a:solidFill>
                  <a:srgbClr val="A9B7C6"/>
                </a:solidFill>
                <a:latin typeface="Consolas"/>
              </a:rPr>
              <a:t>loaded</a:t>
            </a:r>
            <a:r>
              <a:rPr sz="1500">
                <a:solidFill>
                  <a:srgbClr val="A9B7C6"/>
                </a:solidFill>
                <a:latin typeface="Consolas"/>
              </a:rPr>
              <a:t>[</a:t>
            </a:r>
            <a:r>
              <a:rPr sz="1500">
                <a:solidFill>
                  <a:srgbClr val="6897BB"/>
                </a:solidFill>
                <a:latin typeface="Consolas"/>
              </a:rPr>
              <a:t>0</a:t>
            </a:r>
            <a:r>
              <a:rPr sz="1500">
                <a:solidFill>
                  <a:srgbClr val="A9B7C6"/>
                </a:solidFill>
                <a:latin typeface="Consolas"/>
              </a:rPr>
              <a:t>]</a:t>
            </a:r>
            <a:r>
              <a:rPr sz="1500">
                <a:solidFill>
                  <a:srgbClr val="A9B7C6"/>
                </a:solidFill>
                <a:latin typeface="Consolas"/>
              </a:rPr>
              <a:t>[</a:t>
            </a:r>
            <a:r>
              <a:rPr sz="1500">
                <a:solidFill>
                  <a:srgbClr val="6A8759"/>
                </a:solidFill>
                <a:latin typeface="Consolas"/>
              </a:rPr>
              <a:t>'</a:t>
            </a:r>
            <a:r>
              <a:rPr sz="1500">
                <a:solidFill>
                  <a:srgbClr val="6A8759"/>
                </a:solidFill>
                <a:latin typeface="Consolas"/>
              </a:rPr>
              <a:t>name</a:t>
            </a:r>
            <a:r>
              <a:rPr sz="1500">
                <a:solidFill>
                  <a:srgbClr val="6A8759"/>
                </a:solidFill>
                <a:latin typeface="Consolas"/>
              </a:rPr>
              <a:t>'</a:t>
            </a:r>
            <a:r>
              <a:rPr sz="1500">
                <a:solidFill>
                  <a:srgbClr val="A9B7C6"/>
                </a:solidFill>
                <a:latin typeface="Consolas"/>
              </a:rPr>
              <a:t>]</a:t>
            </a:r>
            <a:r>
              <a:rPr sz="1500">
                <a:solidFill>
                  <a:srgbClr val="A9B7C6"/>
                </a:solidFill>
                <a:latin typeface="Consolas"/>
              </a:rPr>
              <a:t>,</a:t>
            </a:r>
            <a:r>
              <a:rPr sz="1500">
                <a:solidFill>
                  <a:srgbClr val="A9B7C6"/>
                </a:solidFill>
                <a:latin typeface="Consolas"/>
              </a:rPr>
              <a:t> </a:t>
            </a:r>
            <a:r>
              <a:rPr sz="1500">
                <a:solidFill>
                  <a:srgbClr val="A9B7C6"/>
                </a:solidFill>
                <a:latin typeface="Consolas"/>
              </a:rPr>
              <a:t>loaded</a:t>
            </a:r>
            <a:r>
              <a:rPr sz="1500">
                <a:solidFill>
                  <a:srgbClr val="A9B7C6"/>
                </a:solidFill>
                <a:latin typeface="Consolas"/>
              </a:rPr>
              <a:t>[</a:t>
            </a:r>
            <a:r>
              <a:rPr sz="1500">
                <a:solidFill>
                  <a:srgbClr val="6897BB"/>
                </a:solidFill>
                <a:latin typeface="Consolas"/>
              </a:rPr>
              <a:t>0</a:t>
            </a:r>
            <a:r>
              <a:rPr sz="1500">
                <a:solidFill>
                  <a:srgbClr val="A9B7C6"/>
                </a:solidFill>
                <a:latin typeface="Consolas"/>
              </a:rPr>
              <a:t>]</a:t>
            </a:r>
            <a:r>
              <a:rPr sz="1500">
                <a:solidFill>
                  <a:srgbClr val="A9B7C6"/>
                </a:solidFill>
                <a:latin typeface="Consolas"/>
              </a:rPr>
              <a:t>[</a:t>
            </a:r>
            <a:r>
              <a:rPr sz="1500">
                <a:solidFill>
                  <a:srgbClr val="6A8759"/>
                </a:solidFill>
                <a:latin typeface="Consolas"/>
              </a:rPr>
              <a:t>'</a:t>
            </a:r>
            <a:r>
              <a:rPr sz="1500">
                <a:solidFill>
                  <a:srgbClr val="6A8759"/>
                </a:solidFill>
                <a:latin typeface="Consolas"/>
              </a:rPr>
              <a:t>score</a:t>
            </a:r>
            <a:r>
              <a:rPr sz="1500">
                <a:solidFill>
                  <a:srgbClr val="6A8759"/>
                </a:solidFill>
                <a:latin typeface="Consolas"/>
              </a:rPr>
              <a:t>'</a:t>
            </a:r>
            <a:r>
              <a:rPr sz="1500">
                <a:solidFill>
                  <a:srgbClr val="A9B7C6"/>
                </a:solidFill>
                <a:latin typeface="Consolas"/>
              </a:rPr>
              <a:t>]</a:t>
            </a:r>
            <a:r>
              <a:rPr sz="1500">
                <a:solidFill>
                  <a:srgbClr val="A9B7C6"/>
                </a:solidFill>
                <a:latin typeface="Consolas"/>
              </a:rPr>
              <a:t> </a:t>
            </a:r>
            <a:r>
              <a:rPr sz="1500">
                <a:solidFill>
                  <a:srgbClr val="A9B7C6"/>
                </a:solidFill>
                <a:latin typeface="Consolas"/>
              </a:rPr>
              <a:t>+</a:t>
            </a:r>
            <a:r>
              <a:rPr sz="1500">
                <a:solidFill>
                  <a:srgbClr val="A9B7C6"/>
                </a:solidFill>
                <a:latin typeface="Consolas"/>
              </a:rPr>
              <a:t> </a:t>
            </a:r>
            <a:r>
              <a:rPr sz="1500">
                <a:solidFill>
                  <a:srgbClr val="6897BB"/>
                </a:solidFill>
                <a:latin typeface="Consolas"/>
              </a:rPr>
              <a:t>1</a:t>
            </a:r>
            <a:r>
              <a:rPr sz="1500">
                <a:solidFill>
                  <a:srgbClr val="A9B7C6"/>
                </a:solidFill>
                <a:latin typeface="Consolas"/>
              </a:rPr>
              <a:t>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199" y="4754880"/>
            <a:ext cx="6613855" cy="9296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20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Вывод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[{"name": "Аня", "score": 12}]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Аня 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Попробуй сам №3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5 · 15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11094415" cy="3342640"/>
          </a:xfrm>
          <a:prstGeom prst="roundRect">
            <a:avLst>
              <a:gd name="adj" fmla="val 3282"/>
            </a:avLst>
          </a:prstGeom>
          <a:solidFill>
            <a:srgbClr val="FFF4CC"/>
          </a:solidFill>
          <a:ln>
            <a:noFill/>
          </a:ln>
        </p:spPr>
        <p:txBody>
          <a:bodyPr rtlCol="0" anchor="t" wrap="square" lIns="365760" rIns="365760" tIns="320040" bIns="109728">
            <a:noAutofit/>
          </a:bodyPr>
          <a:lstStyle/>
          <a:p>
            <a:pPr algn="l">
              <a:spcAft>
                <a:spcPts val="1600"/>
              </a:spcAft>
              <a:defRPr sz="2000"/>
            </a:pPr>
            <a:r>
              <a:rPr sz="2000" b="0" i="0">
                <a:solidFill>
                  <a:srgbClr val="1A1A1A"/>
                </a:solidFill>
                <a:latin typeface="Arial"/>
              </a:rPr>
              <a:t>1.  Сохраните в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settings.json</a:t>
            </a:r>
            <a:r>
              <a:rPr sz="2000" b="0" i="0">
                <a:solidFill>
                  <a:srgbClr val="1A1A1A"/>
                </a:solidFill>
                <a:latin typeface="Arial"/>
              </a:rPr>
              <a:t> словарь с вашим именем и любимым числом.</a:t>
            </a:r>
          </a:p>
          <a:p>
            <a:pPr>
              <a:spcAft>
                <a:spcPts val="1600"/>
              </a:spcAft>
              <a:defRPr sz="2000"/>
            </a:pPr>
            <a:r>
              <a:rPr sz="2000" b="0" i="0">
                <a:solidFill>
                  <a:srgbClr val="1A1A1A"/>
                </a:solidFill>
                <a:latin typeface="Arial"/>
              </a:rPr>
              <a:t>2.  Прочитайте файл обратно через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json.load</a:t>
            </a:r>
            <a:r>
              <a:rPr sz="2000" b="0" i="0">
                <a:solidFill>
                  <a:srgbClr val="1A1A1A"/>
                </a:solidFill>
                <a:latin typeface="Arial"/>
              </a:rPr>
              <a:t> и напечатайте оба значения.</a:t>
            </a:r>
          </a:p>
          <a:p>
            <a:pPr>
              <a:spcAft>
                <a:spcPts val="1600"/>
              </a:spcAft>
              <a:defRPr sz="2000"/>
            </a:pPr>
            <a:r>
              <a:rPr sz="2000" b="0" i="0">
                <a:solidFill>
                  <a:srgbClr val="1A1A1A"/>
                </a:solidFill>
                <a:latin typeface="Arial"/>
              </a:rPr>
              <a:t>3.  Добавьте в словарь ключ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theme</a:t>
            </a:r>
            <a:r>
              <a:rPr sz="2000" b="0" i="0">
                <a:solidFill>
                  <a:srgbClr val="1A1A1A"/>
                </a:solidFill>
                <a:latin typeface="Arial"/>
              </a:rPr>
              <a:t> со значением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dark</a:t>
            </a:r>
            <a:r>
              <a:rPr sz="2000" b="0" i="0">
                <a:solidFill>
                  <a:srgbClr val="1A1A1A"/>
                </a:solidFill>
                <a:latin typeface="Arial"/>
              </a:rPr>
              <a:t> и перезапишите файл.</a:t>
            </a:r>
          </a:p>
          <a:p>
            <a:pPr>
              <a:spcAft>
                <a:spcPts val="1600"/>
              </a:spcAft>
              <a:defRPr sz="2000"/>
            </a:pPr>
            <a:r>
              <a:rPr sz="2000" b="0" i="0">
                <a:solidFill>
                  <a:srgbClr val="1A1A1A"/>
                </a:solidFill>
                <a:latin typeface="Arial"/>
              </a:rPr>
              <a:t>4.  Кто закончил: допишите в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json.dump</a:t>
            </a:r>
            <a:r>
              <a:rPr sz="2000" b="0" i="0">
                <a:solidFill>
                  <a:srgbClr val="1A1A1A"/>
                </a:solidFill>
                <a:latin typeface="Arial"/>
              </a:rPr>
              <a:t> аргумент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indent=2</a:t>
            </a:r>
            <a:r>
              <a:rPr sz="2000" b="0" i="0">
                <a:solidFill>
                  <a:srgbClr val="1A1A1A"/>
                </a:solidFill>
                <a:latin typeface="Arial"/>
              </a:rPr>
              <a:t> и сравните файл до и после.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421132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300"/>
            </a:pPr>
            <a:r>
              <a:rPr sz="1300" b="0" i="0">
                <a:solidFill>
                  <a:srgbClr val="5F6B7A"/>
                </a:solidFill>
                <a:latin typeface="Arial"/>
              </a:rPr>
              <a:t>≈ 4 минут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Внешние библиотеки и pip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5 ·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206240" cy="5029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На PyPI сотни тысяч чужих библиотек, ставит их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pip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Ставятся они в виртуальное окружение проекта, его создал PyCharm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Проще всего окно </a:t>
            </a:r>
            <a:r>
              <a:rPr sz="1800" b="1" i="0">
                <a:solidFill>
                  <a:srgbClr val="1A1A1A"/>
                </a:solidFill>
                <a:latin typeface="Arial"/>
              </a:rPr>
              <a:t>Python Packages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внизу PyCharm: найти пакет и нажать Install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То же самое из терминала PyCharm (Alt+F12), команды слева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F5F8B"/>
                </a:solidFill>
                <a:latin typeface="Consolas"/>
              </a:rPr>
              <a:t>requirements.txt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это список библиотек проекта: по нему всё поставится на другом компьютере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199" y="1325880"/>
            <a:ext cx="6613855" cy="2468879"/>
          </a:xfrm>
          <a:prstGeom prst="roundRect">
            <a:avLst>
              <a:gd name="adj" fmla="val 4444"/>
            </a:avLst>
          </a:prstGeom>
          <a:solidFill>
            <a:srgbClr val="2B2B2B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808080"/>
                </a:solidFill>
                <a:latin typeface="Consolas"/>
              </a:rPr>
              <a:t># терминал PyCharm, Alt+F12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pip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install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rich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pip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8888C6"/>
                </a:solidFill>
                <a:latin typeface="Consolas"/>
              </a:rPr>
              <a:t>list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pip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freeze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&gt;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requirements</a:t>
            </a:r>
            <a:r>
              <a:rPr sz="1800">
                <a:solidFill>
                  <a:srgbClr val="A9B7C6"/>
                </a:solidFill>
                <a:latin typeface="Consolas"/>
              </a:rPr>
              <a:t>.</a:t>
            </a:r>
            <a:r>
              <a:rPr sz="1800">
                <a:solidFill>
                  <a:srgbClr val="A9B7C6"/>
                </a:solidFill>
                <a:latin typeface="Consolas"/>
              </a:rPr>
              <a:t>txt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808080"/>
                </a:solidFill>
                <a:latin typeface="Consolas"/>
              </a:rPr>
              <a:t># на чужом компьютере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pip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install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-</a:t>
            </a:r>
            <a:r>
              <a:rPr sz="1800">
                <a:solidFill>
                  <a:srgbClr val="A9B7C6"/>
                </a:solidFill>
                <a:latin typeface="Consolas"/>
              </a:rPr>
              <a:t>r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requirements</a:t>
            </a:r>
            <a:r>
              <a:rPr sz="1800">
                <a:solidFill>
                  <a:srgbClr val="A9B7C6"/>
                </a:solidFill>
                <a:latin typeface="Consolas"/>
              </a:rPr>
              <a:t>.</a:t>
            </a:r>
            <a:r>
              <a:rPr sz="1800">
                <a:solidFill>
                  <a:srgbClr val="A9B7C6"/>
                </a:solidFill>
                <a:latin typeface="Consolas"/>
              </a:rPr>
              <a:t>txt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Библиотека rich: цветной вывод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5 ·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415" cy="4114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rich заменяет print на умный: разметка в квадратных скобках, таблицы, полосы загрузки.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11094415" cy="2285999"/>
          </a:xfrm>
          <a:prstGeom prst="roundRect">
            <a:avLst>
              <a:gd name="adj" fmla="val 4800"/>
            </a:avLst>
          </a:prstGeom>
          <a:solidFill>
            <a:srgbClr val="2B2B2B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0"/>
              </a:spcAft>
              <a:defRPr sz="1200">
                <a:latin typeface="Consolas"/>
              </a:defRPr>
            </a:pPr>
            <a:r>
              <a:rPr sz="1200">
                <a:solidFill>
                  <a:srgbClr val="CC7832"/>
                </a:solidFill>
                <a:latin typeface="Consolas"/>
              </a:rPr>
              <a:t>from</a:t>
            </a:r>
            <a:r>
              <a:rPr sz="1200">
                <a:solidFill>
                  <a:srgbClr val="A9B7C6"/>
                </a:solidFill>
                <a:latin typeface="Consolas"/>
              </a:rPr>
              <a:t> </a:t>
            </a:r>
            <a:r>
              <a:rPr sz="1200">
                <a:solidFill>
                  <a:srgbClr val="A9B7C6"/>
                </a:solidFill>
                <a:latin typeface="Consolas"/>
              </a:rPr>
              <a:t>rich</a:t>
            </a:r>
            <a:r>
              <a:rPr sz="1200">
                <a:solidFill>
                  <a:srgbClr val="A9B7C6"/>
                </a:solidFill>
                <a:latin typeface="Consolas"/>
              </a:rPr>
              <a:t> </a:t>
            </a:r>
            <a:r>
              <a:rPr sz="1200">
                <a:solidFill>
                  <a:srgbClr val="CC7832"/>
                </a:solidFill>
                <a:latin typeface="Consolas"/>
              </a:rPr>
              <a:t>import</a:t>
            </a:r>
            <a:r>
              <a:rPr sz="1200">
                <a:solidFill>
                  <a:srgbClr val="A9B7C6"/>
                </a:solidFill>
                <a:latin typeface="Consolas"/>
              </a:rPr>
              <a:t> </a:t>
            </a:r>
            <a:r>
              <a:rPr sz="1200">
                <a:solidFill>
                  <a:srgbClr val="8888C6"/>
                </a:solidFill>
                <a:latin typeface="Consolas"/>
              </a:rPr>
              <a:t>print</a:t>
            </a:r>
          </a:p>
          <a:p>
            <a:pPr>
              <a:spcAft>
                <a:spcPts val="0"/>
              </a:spcAft>
              <a:defRPr sz="1200">
                <a:latin typeface="Consolas"/>
              </a:defRPr>
            </a:pPr>
            <a:r>
              <a:rPr sz="1200">
                <a:solidFill>
                  <a:srgbClr val="CC7832"/>
                </a:solidFill>
                <a:latin typeface="Consolas"/>
              </a:rPr>
              <a:t>from</a:t>
            </a:r>
            <a:r>
              <a:rPr sz="1200">
                <a:solidFill>
                  <a:srgbClr val="A9B7C6"/>
                </a:solidFill>
                <a:latin typeface="Consolas"/>
              </a:rPr>
              <a:t> </a:t>
            </a:r>
            <a:r>
              <a:rPr sz="1200">
                <a:solidFill>
                  <a:srgbClr val="A9B7C6"/>
                </a:solidFill>
                <a:latin typeface="Consolas"/>
              </a:rPr>
              <a:t>rich</a:t>
            </a:r>
            <a:r>
              <a:rPr sz="1200">
                <a:solidFill>
                  <a:srgbClr val="A9B7C6"/>
                </a:solidFill>
                <a:latin typeface="Consolas"/>
              </a:rPr>
              <a:t>.</a:t>
            </a:r>
            <a:r>
              <a:rPr sz="1200">
                <a:solidFill>
                  <a:srgbClr val="A9B7C6"/>
                </a:solidFill>
                <a:latin typeface="Consolas"/>
              </a:rPr>
              <a:t>table</a:t>
            </a:r>
            <a:r>
              <a:rPr sz="1200">
                <a:solidFill>
                  <a:srgbClr val="A9B7C6"/>
                </a:solidFill>
                <a:latin typeface="Consolas"/>
              </a:rPr>
              <a:t> </a:t>
            </a:r>
            <a:r>
              <a:rPr sz="1200">
                <a:solidFill>
                  <a:srgbClr val="CC7832"/>
                </a:solidFill>
                <a:latin typeface="Consolas"/>
              </a:rPr>
              <a:t>import</a:t>
            </a:r>
            <a:r>
              <a:rPr sz="1200">
                <a:solidFill>
                  <a:srgbClr val="A9B7C6"/>
                </a:solidFill>
                <a:latin typeface="Consolas"/>
              </a:rPr>
              <a:t> </a:t>
            </a:r>
            <a:r>
              <a:rPr sz="1200">
                <a:solidFill>
                  <a:srgbClr val="A9B7C6"/>
                </a:solidFill>
                <a:latin typeface="Consolas"/>
              </a:rPr>
              <a:t>Table</a:t>
            </a:r>
          </a:p>
          <a:p>
            <a:pPr>
              <a:spcAft>
                <a:spcPts val="0"/>
              </a:spcAft>
              <a:defRPr sz="1200">
                <a:latin typeface="Consolas"/>
              </a:defRPr>
            </a:pPr>
            <a:r>
              <a:rPr sz="12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200">
                <a:latin typeface="Consolas"/>
              </a:defRPr>
            </a:pPr>
            <a:r>
              <a:rPr sz="1200">
                <a:solidFill>
                  <a:srgbClr val="8888C6"/>
                </a:solidFill>
                <a:latin typeface="Consolas"/>
              </a:rPr>
              <a:t>print</a:t>
            </a:r>
            <a:r>
              <a:rPr sz="1200">
                <a:solidFill>
                  <a:srgbClr val="A9B7C6"/>
                </a:solidFill>
                <a:latin typeface="Consolas"/>
              </a:rPr>
              <a:t>(</a:t>
            </a:r>
            <a:r>
              <a:rPr sz="1200">
                <a:solidFill>
                  <a:srgbClr val="6A8759"/>
                </a:solidFill>
                <a:latin typeface="Consolas"/>
              </a:rPr>
              <a:t>'</a:t>
            </a:r>
            <a:r>
              <a:rPr sz="1200">
                <a:solidFill>
                  <a:srgbClr val="6A8759"/>
                </a:solidFill>
                <a:latin typeface="Consolas"/>
              </a:rPr>
              <a:t>[bold green]Победа![/bold green] Осталось [cyan]3[/cyan] попытки</a:t>
            </a:r>
            <a:r>
              <a:rPr sz="1200">
                <a:solidFill>
                  <a:srgbClr val="6A8759"/>
                </a:solidFill>
                <a:latin typeface="Consolas"/>
              </a:rPr>
              <a:t>'</a:t>
            </a:r>
            <a:r>
              <a:rPr sz="12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200">
                <a:latin typeface="Consolas"/>
              </a:defRPr>
            </a:pPr>
            <a:r>
              <a:rPr sz="12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200">
                <a:latin typeface="Consolas"/>
              </a:defRPr>
            </a:pPr>
            <a:r>
              <a:rPr sz="1200">
                <a:solidFill>
                  <a:srgbClr val="A9B7C6"/>
                </a:solidFill>
                <a:latin typeface="Consolas"/>
              </a:rPr>
              <a:t>table</a:t>
            </a:r>
            <a:r>
              <a:rPr sz="1200">
                <a:solidFill>
                  <a:srgbClr val="A9B7C6"/>
                </a:solidFill>
                <a:latin typeface="Consolas"/>
              </a:rPr>
              <a:t> </a:t>
            </a:r>
            <a:r>
              <a:rPr sz="1200">
                <a:solidFill>
                  <a:srgbClr val="A9B7C6"/>
                </a:solidFill>
                <a:latin typeface="Consolas"/>
              </a:rPr>
              <a:t>=</a:t>
            </a:r>
            <a:r>
              <a:rPr sz="1200">
                <a:solidFill>
                  <a:srgbClr val="A9B7C6"/>
                </a:solidFill>
                <a:latin typeface="Consolas"/>
              </a:rPr>
              <a:t> </a:t>
            </a:r>
            <a:r>
              <a:rPr sz="1200">
                <a:solidFill>
                  <a:srgbClr val="A9B7C6"/>
                </a:solidFill>
                <a:latin typeface="Consolas"/>
              </a:rPr>
              <a:t>Table</a:t>
            </a:r>
            <a:r>
              <a:rPr sz="1200">
                <a:solidFill>
                  <a:srgbClr val="A9B7C6"/>
                </a:solidFill>
                <a:latin typeface="Consolas"/>
              </a:rPr>
              <a:t>(</a:t>
            </a:r>
            <a:r>
              <a:rPr sz="1200">
                <a:solidFill>
                  <a:srgbClr val="A9B7C6"/>
                </a:solidFill>
                <a:latin typeface="Consolas"/>
              </a:rPr>
              <a:t>title</a:t>
            </a:r>
            <a:r>
              <a:rPr sz="1200">
                <a:solidFill>
                  <a:srgbClr val="A9B7C6"/>
                </a:solidFill>
                <a:latin typeface="Consolas"/>
              </a:rPr>
              <a:t>=</a:t>
            </a:r>
            <a:r>
              <a:rPr sz="1200">
                <a:solidFill>
                  <a:srgbClr val="6A8759"/>
                </a:solidFill>
                <a:latin typeface="Consolas"/>
              </a:rPr>
              <a:t>'</a:t>
            </a:r>
            <a:r>
              <a:rPr sz="1200">
                <a:solidFill>
                  <a:srgbClr val="6A8759"/>
                </a:solidFill>
                <a:latin typeface="Consolas"/>
              </a:rPr>
              <a:t>Рекорды</a:t>
            </a:r>
            <a:r>
              <a:rPr sz="1200">
                <a:solidFill>
                  <a:srgbClr val="6A8759"/>
                </a:solidFill>
                <a:latin typeface="Consolas"/>
              </a:rPr>
              <a:t>'</a:t>
            </a:r>
            <a:r>
              <a:rPr sz="12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200">
                <a:latin typeface="Consolas"/>
              </a:defRPr>
            </a:pPr>
            <a:r>
              <a:rPr sz="1200">
                <a:solidFill>
                  <a:srgbClr val="A9B7C6"/>
                </a:solidFill>
                <a:latin typeface="Consolas"/>
              </a:rPr>
              <a:t>table</a:t>
            </a:r>
            <a:r>
              <a:rPr sz="1200">
                <a:solidFill>
                  <a:srgbClr val="A9B7C6"/>
                </a:solidFill>
                <a:latin typeface="Consolas"/>
              </a:rPr>
              <a:t>.</a:t>
            </a:r>
            <a:r>
              <a:rPr sz="1200">
                <a:solidFill>
                  <a:srgbClr val="A9B7C6"/>
                </a:solidFill>
                <a:latin typeface="Consolas"/>
              </a:rPr>
              <a:t>add_column</a:t>
            </a:r>
            <a:r>
              <a:rPr sz="1200">
                <a:solidFill>
                  <a:srgbClr val="A9B7C6"/>
                </a:solidFill>
                <a:latin typeface="Consolas"/>
              </a:rPr>
              <a:t>(</a:t>
            </a:r>
            <a:r>
              <a:rPr sz="1200">
                <a:solidFill>
                  <a:srgbClr val="6A8759"/>
                </a:solidFill>
                <a:latin typeface="Consolas"/>
              </a:rPr>
              <a:t>'</a:t>
            </a:r>
            <a:r>
              <a:rPr sz="1200">
                <a:solidFill>
                  <a:srgbClr val="6A8759"/>
                </a:solidFill>
                <a:latin typeface="Consolas"/>
              </a:rPr>
              <a:t>Игрок</a:t>
            </a:r>
            <a:r>
              <a:rPr sz="1200">
                <a:solidFill>
                  <a:srgbClr val="6A8759"/>
                </a:solidFill>
                <a:latin typeface="Consolas"/>
              </a:rPr>
              <a:t>'</a:t>
            </a:r>
            <a:r>
              <a:rPr sz="12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200">
                <a:latin typeface="Consolas"/>
              </a:defRPr>
            </a:pPr>
            <a:r>
              <a:rPr sz="1200">
                <a:solidFill>
                  <a:srgbClr val="A9B7C6"/>
                </a:solidFill>
                <a:latin typeface="Consolas"/>
              </a:rPr>
              <a:t>table</a:t>
            </a:r>
            <a:r>
              <a:rPr sz="1200">
                <a:solidFill>
                  <a:srgbClr val="A9B7C6"/>
                </a:solidFill>
                <a:latin typeface="Consolas"/>
              </a:rPr>
              <a:t>.</a:t>
            </a:r>
            <a:r>
              <a:rPr sz="1200">
                <a:solidFill>
                  <a:srgbClr val="A9B7C6"/>
                </a:solidFill>
                <a:latin typeface="Consolas"/>
              </a:rPr>
              <a:t>add_column</a:t>
            </a:r>
            <a:r>
              <a:rPr sz="1200">
                <a:solidFill>
                  <a:srgbClr val="A9B7C6"/>
                </a:solidFill>
                <a:latin typeface="Consolas"/>
              </a:rPr>
              <a:t>(</a:t>
            </a:r>
            <a:r>
              <a:rPr sz="1200">
                <a:solidFill>
                  <a:srgbClr val="6A8759"/>
                </a:solidFill>
                <a:latin typeface="Consolas"/>
              </a:rPr>
              <a:t>'</a:t>
            </a:r>
            <a:r>
              <a:rPr sz="1200">
                <a:solidFill>
                  <a:srgbClr val="6A8759"/>
                </a:solidFill>
                <a:latin typeface="Consolas"/>
              </a:rPr>
              <a:t>Очки</a:t>
            </a:r>
            <a:r>
              <a:rPr sz="1200">
                <a:solidFill>
                  <a:srgbClr val="6A8759"/>
                </a:solidFill>
                <a:latin typeface="Consolas"/>
              </a:rPr>
              <a:t>'</a:t>
            </a:r>
            <a:r>
              <a:rPr sz="1200">
                <a:solidFill>
                  <a:srgbClr val="A9B7C6"/>
                </a:solidFill>
                <a:latin typeface="Consolas"/>
              </a:rPr>
              <a:t>,</a:t>
            </a:r>
            <a:r>
              <a:rPr sz="1200">
                <a:solidFill>
                  <a:srgbClr val="A9B7C6"/>
                </a:solidFill>
                <a:latin typeface="Consolas"/>
              </a:rPr>
              <a:t> </a:t>
            </a:r>
            <a:r>
              <a:rPr sz="1200">
                <a:solidFill>
                  <a:srgbClr val="A9B7C6"/>
                </a:solidFill>
                <a:latin typeface="Consolas"/>
              </a:rPr>
              <a:t>justify</a:t>
            </a:r>
            <a:r>
              <a:rPr sz="1200">
                <a:solidFill>
                  <a:srgbClr val="A9B7C6"/>
                </a:solidFill>
                <a:latin typeface="Consolas"/>
              </a:rPr>
              <a:t>=</a:t>
            </a:r>
            <a:r>
              <a:rPr sz="1200">
                <a:solidFill>
                  <a:srgbClr val="6A8759"/>
                </a:solidFill>
                <a:latin typeface="Consolas"/>
              </a:rPr>
              <a:t>'</a:t>
            </a:r>
            <a:r>
              <a:rPr sz="1200">
                <a:solidFill>
                  <a:srgbClr val="6A8759"/>
                </a:solidFill>
                <a:latin typeface="Consolas"/>
              </a:rPr>
              <a:t>right</a:t>
            </a:r>
            <a:r>
              <a:rPr sz="1200">
                <a:solidFill>
                  <a:srgbClr val="6A8759"/>
                </a:solidFill>
                <a:latin typeface="Consolas"/>
              </a:rPr>
              <a:t>'</a:t>
            </a:r>
            <a:r>
              <a:rPr sz="12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200">
                <a:latin typeface="Consolas"/>
              </a:defRPr>
            </a:pPr>
            <a:r>
              <a:rPr sz="1200">
                <a:solidFill>
                  <a:srgbClr val="A9B7C6"/>
                </a:solidFill>
                <a:latin typeface="Consolas"/>
              </a:rPr>
              <a:t>table</a:t>
            </a:r>
            <a:r>
              <a:rPr sz="1200">
                <a:solidFill>
                  <a:srgbClr val="A9B7C6"/>
                </a:solidFill>
                <a:latin typeface="Consolas"/>
              </a:rPr>
              <a:t>.</a:t>
            </a:r>
            <a:r>
              <a:rPr sz="1200">
                <a:solidFill>
                  <a:srgbClr val="A9B7C6"/>
                </a:solidFill>
                <a:latin typeface="Consolas"/>
              </a:rPr>
              <a:t>add_row</a:t>
            </a:r>
            <a:r>
              <a:rPr sz="1200">
                <a:solidFill>
                  <a:srgbClr val="A9B7C6"/>
                </a:solidFill>
                <a:latin typeface="Consolas"/>
              </a:rPr>
              <a:t>(</a:t>
            </a:r>
            <a:r>
              <a:rPr sz="1200">
                <a:solidFill>
                  <a:srgbClr val="6A8759"/>
                </a:solidFill>
                <a:latin typeface="Consolas"/>
              </a:rPr>
              <a:t>'</a:t>
            </a:r>
            <a:r>
              <a:rPr sz="1200">
                <a:solidFill>
                  <a:srgbClr val="6A8759"/>
                </a:solidFill>
                <a:latin typeface="Consolas"/>
              </a:rPr>
              <a:t>Аня</a:t>
            </a:r>
            <a:r>
              <a:rPr sz="1200">
                <a:solidFill>
                  <a:srgbClr val="6A8759"/>
                </a:solidFill>
                <a:latin typeface="Consolas"/>
              </a:rPr>
              <a:t>'</a:t>
            </a:r>
            <a:r>
              <a:rPr sz="1200">
                <a:solidFill>
                  <a:srgbClr val="A9B7C6"/>
                </a:solidFill>
                <a:latin typeface="Consolas"/>
              </a:rPr>
              <a:t>,</a:t>
            </a:r>
            <a:r>
              <a:rPr sz="1200">
                <a:solidFill>
                  <a:srgbClr val="A9B7C6"/>
                </a:solidFill>
                <a:latin typeface="Consolas"/>
              </a:rPr>
              <a:t> </a:t>
            </a:r>
            <a:r>
              <a:rPr sz="1200">
                <a:solidFill>
                  <a:srgbClr val="6A8759"/>
                </a:solidFill>
                <a:latin typeface="Consolas"/>
              </a:rPr>
              <a:t>'</a:t>
            </a:r>
            <a:r>
              <a:rPr sz="1200">
                <a:solidFill>
                  <a:srgbClr val="6A8759"/>
                </a:solidFill>
                <a:latin typeface="Consolas"/>
              </a:rPr>
              <a:t>12</a:t>
            </a:r>
            <a:r>
              <a:rPr sz="1200">
                <a:solidFill>
                  <a:srgbClr val="6A8759"/>
                </a:solidFill>
                <a:latin typeface="Consolas"/>
              </a:rPr>
              <a:t>'</a:t>
            </a:r>
            <a:r>
              <a:rPr sz="12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200">
                <a:latin typeface="Consolas"/>
              </a:defRPr>
            </a:pPr>
            <a:r>
              <a:rPr sz="1200">
                <a:solidFill>
                  <a:srgbClr val="A9B7C6"/>
                </a:solidFill>
                <a:latin typeface="Consolas"/>
              </a:rPr>
              <a:t>table</a:t>
            </a:r>
            <a:r>
              <a:rPr sz="1200">
                <a:solidFill>
                  <a:srgbClr val="A9B7C6"/>
                </a:solidFill>
                <a:latin typeface="Consolas"/>
              </a:rPr>
              <a:t>.</a:t>
            </a:r>
            <a:r>
              <a:rPr sz="1200">
                <a:solidFill>
                  <a:srgbClr val="A9B7C6"/>
                </a:solidFill>
                <a:latin typeface="Consolas"/>
              </a:rPr>
              <a:t>add_row</a:t>
            </a:r>
            <a:r>
              <a:rPr sz="1200">
                <a:solidFill>
                  <a:srgbClr val="A9B7C6"/>
                </a:solidFill>
                <a:latin typeface="Consolas"/>
              </a:rPr>
              <a:t>(</a:t>
            </a:r>
            <a:r>
              <a:rPr sz="1200">
                <a:solidFill>
                  <a:srgbClr val="6A8759"/>
                </a:solidFill>
                <a:latin typeface="Consolas"/>
              </a:rPr>
              <a:t>'</a:t>
            </a:r>
            <a:r>
              <a:rPr sz="1200">
                <a:solidFill>
                  <a:srgbClr val="6A8759"/>
                </a:solidFill>
                <a:latin typeface="Consolas"/>
              </a:rPr>
              <a:t>Игорь</a:t>
            </a:r>
            <a:r>
              <a:rPr sz="1200">
                <a:solidFill>
                  <a:srgbClr val="6A8759"/>
                </a:solidFill>
                <a:latin typeface="Consolas"/>
              </a:rPr>
              <a:t>'</a:t>
            </a:r>
            <a:r>
              <a:rPr sz="1200">
                <a:solidFill>
                  <a:srgbClr val="A9B7C6"/>
                </a:solidFill>
                <a:latin typeface="Consolas"/>
              </a:rPr>
              <a:t>,</a:t>
            </a:r>
            <a:r>
              <a:rPr sz="1200">
                <a:solidFill>
                  <a:srgbClr val="A9B7C6"/>
                </a:solidFill>
                <a:latin typeface="Consolas"/>
              </a:rPr>
              <a:t> </a:t>
            </a:r>
            <a:r>
              <a:rPr sz="1200">
                <a:solidFill>
                  <a:srgbClr val="6A8759"/>
                </a:solidFill>
                <a:latin typeface="Consolas"/>
              </a:rPr>
              <a:t>'</a:t>
            </a:r>
            <a:r>
              <a:rPr sz="1200">
                <a:solidFill>
                  <a:srgbClr val="6A8759"/>
                </a:solidFill>
                <a:latin typeface="Consolas"/>
              </a:rPr>
              <a:t>9</a:t>
            </a:r>
            <a:r>
              <a:rPr sz="1200">
                <a:solidFill>
                  <a:srgbClr val="6A8759"/>
                </a:solidFill>
                <a:latin typeface="Consolas"/>
              </a:rPr>
              <a:t>'</a:t>
            </a:r>
            <a:r>
              <a:rPr sz="12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200">
                <a:latin typeface="Consolas"/>
              </a:defRPr>
            </a:pPr>
            <a:r>
              <a:rPr sz="1200">
                <a:solidFill>
                  <a:srgbClr val="8888C6"/>
                </a:solidFill>
                <a:latin typeface="Consolas"/>
              </a:rPr>
              <a:t>print</a:t>
            </a:r>
            <a:r>
              <a:rPr sz="1200">
                <a:solidFill>
                  <a:srgbClr val="A9B7C6"/>
                </a:solidFill>
                <a:latin typeface="Consolas"/>
              </a:rPr>
              <a:t>(</a:t>
            </a:r>
            <a:r>
              <a:rPr sz="1200">
                <a:solidFill>
                  <a:srgbClr val="A9B7C6"/>
                </a:solidFill>
                <a:latin typeface="Consolas"/>
              </a:rPr>
              <a:t>table</a:t>
            </a:r>
            <a:r>
              <a:rPr sz="1200">
                <a:solidFill>
                  <a:srgbClr val="A9B7C6"/>
                </a:solidFill>
                <a:latin typeface="Consolas"/>
              </a:rPr>
              <a:t>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4297680"/>
            <a:ext cx="11094415" cy="1965960"/>
          </a:xfrm>
          <a:prstGeom prst="roundRect">
            <a:avLst>
              <a:gd name="adj" fmla="val 5581"/>
            </a:avLst>
          </a:prstGeom>
          <a:solidFill>
            <a:srgbClr val="F4F6F8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20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Вывод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1A1A1A"/>
                </a:solidFill>
                <a:latin typeface="Consolas"/>
              </a:rPr>
              <a:t>Победа! Осталось 3 попытки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1A1A1A"/>
                </a:solidFill>
                <a:latin typeface="Consolas"/>
              </a:rPr>
              <a:t>    Рекорды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1A1A1A"/>
                </a:solidFill>
                <a:latin typeface="Consolas"/>
              </a:rPr>
              <a:t>┏━━━━━━━┳━━━━━━┓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1A1A1A"/>
                </a:solidFill>
                <a:latin typeface="Consolas"/>
              </a:rPr>
              <a:t>┃ Игрок ┃ Очки ┃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1A1A1A"/>
                </a:solidFill>
                <a:latin typeface="Consolas"/>
              </a:rPr>
              <a:t>┡━━━━━━━╇━━━━━━┩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1A1A1A"/>
                </a:solidFill>
                <a:latin typeface="Consolas"/>
              </a:rPr>
              <a:t>│ Аня   │   12 │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1A1A1A"/>
                </a:solidFill>
                <a:latin typeface="Consolas"/>
              </a:rPr>
              <a:t>│ Игорь │    9 │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1A1A1A"/>
                </a:solidFill>
                <a:latin typeface="Consolas"/>
              </a:rPr>
              <a:t>└───────┴──────┘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Частые ошибки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5 · 18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4206240" cy="487680"/>
          </a:xfrm>
          <a:prstGeom prst="roundRect">
            <a:avLst>
              <a:gd name="adj" fmla="val 8000"/>
            </a:avLst>
          </a:prstGeom>
          <a:solidFill>
            <a:srgbClr val="FDECEC"/>
          </a:solidFill>
          <a:ln>
            <a:noFill/>
          </a:ln>
        </p:spPr>
        <p:txBody>
          <a:bodyPr rtlCol="0" anchor="ctr" wrap="square" lIns="137160" rIns="137160" tIns="54864" bIns="54864">
            <a:noAutofit/>
          </a:bodyPr>
          <a:lstStyle/>
          <a:p>
            <a:pPr algn="l">
              <a:spcAft>
                <a:spcPts val="0"/>
              </a:spcAft>
              <a:defRPr sz="1300"/>
            </a:pPr>
            <a:r>
              <a:rPr sz="1300" b="0" i="0">
                <a:solidFill>
                  <a:srgbClr val="A61B1B"/>
                </a:solidFill>
                <a:latin typeface="Consolas"/>
              </a:rPr>
              <a:t>open('слова.txt')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199" y="1325880"/>
            <a:ext cx="6613855" cy="487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spcAft>
                <a:spcPts val="0"/>
              </a:spcAft>
              <a:defRPr sz="1600"/>
            </a:pPr>
            <a:r>
              <a:rPr sz="1600" b="0" i="0">
                <a:solidFill>
                  <a:srgbClr val="1A1A1A"/>
                </a:solidFill>
                <a:latin typeface="Arial"/>
              </a:rPr>
              <a:t>Без </a:t>
            </a:r>
            <a:r>
              <a:rPr sz="1600" b="0" i="0">
                <a:solidFill>
                  <a:srgbClr val="1F5F8B"/>
                </a:solidFill>
                <a:latin typeface="Consolas"/>
              </a:rPr>
              <a:t>encoding='utf-8'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русский текст на Windows читается кракозябрами.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50720"/>
            <a:ext cx="4206240" cy="487680"/>
          </a:xfrm>
          <a:prstGeom prst="roundRect">
            <a:avLst>
              <a:gd name="adj" fmla="val 8000"/>
            </a:avLst>
          </a:prstGeom>
          <a:solidFill>
            <a:srgbClr val="FDECEC"/>
          </a:solidFill>
          <a:ln>
            <a:noFill/>
          </a:ln>
        </p:spPr>
        <p:txBody>
          <a:bodyPr rtlCol="0" anchor="ctr" wrap="square" lIns="137160" rIns="137160" tIns="54864" bIns="54864">
            <a:noAutofit/>
          </a:bodyPr>
          <a:lstStyle/>
          <a:p>
            <a:pPr algn="l">
              <a:spcAft>
                <a:spcPts val="0"/>
              </a:spcAft>
              <a:defRPr sz="1300"/>
            </a:pPr>
            <a:r>
              <a:rPr sz="1300" b="0" i="0">
                <a:solidFill>
                  <a:srgbClr val="A61B1B"/>
                </a:solidFill>
                <a:latin typeface="Consolas"/>
              </a:rPr>
              <a:t>FileNotFoundError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199" y="1950720"/>
            <a:ext cx="6613855" cy="487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spcAft>
                <a:spcPts val="0"/>
              </a:spcAft>
              <a:defRPr sz="1600"/>
            </a:pPr>
            <a:r>
              <a:rPr sz="1600" b="0" i="0">
                <a:solidFill>
                  <a:srgbClr val="1A1A1A"/>
                </a:solidFill>
                <a:latin typeface="Arial"/>
              </a:rPr>
              <a:t>Файл ищется относительно рабочей папки. Кладите его рядом с </a:t>
            </a:r>
            <a:r>
              <a:rPr sz="1600" b="0" i="0">
                <a:solidFill>
                  <a:srgbClr val="1F5F8B"/>
                </a:solidFill>
                <a:latin typeface="Consolas"/>
              </a:rPr>
              <a:t>main.py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и запускайте проект из PyCharm.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75560"/>
            <a:ext cx="4206240" cy="457200"/>
          </a:xfrm>
          <a:prstGeom prst="roundRect">
            <a:avLst>
              <a:gd name="adj" fmla="val 8000"/>
            </a:avLst>
          </a:prstGeom>
          <a:solidFill>
            <a:srgbClr val="FDECEC"/>
          </a:solidFill>
          <a:ln>
            <a:noFill/>
          </a:ln>
        </p:spPr>
        <p:txBody>
          <a:bodyPr rtlCol="0" anchor="ctr" wrap="square" lIns="137160" rIns="137160" tIns="54864" bIns="54864">
            <a:noAutofit/>
          </a:bodyPr>
          <a:lstStyle/>
          <a:p>
            <a:pPr algn="l">
              <a:spcAft>
                <a:spcPts val="0"/>
              </a:spcAft>
              <a:defRPr sz="1300"/>
            </a:pPr>
            <a:r>
              <a:rPr sz="1300" b="0" i="0">
                <a:solidFill>
                  <a:srgbClr val="A61B1B"/>
                </a:solidFill>
                <a:latin typeface="Consolas"/>
              </a:rPr>
              <a:t>f = open(path)</a:t>
            </a:r>
          </a:p>
          <a:p>
            <a:pPr>
              <a:spcAft>
                <a:spcPts val="0"/>
              </a:spcAft>
              <a:defRPr sz="1300"/>
            </a:pPr>
            <a:r>
              <a:rPr sz="1300" b="0" i="0">
                <a:solidFill>
                  <a:srgbClr val="A61B1B"/>
                </a:solidFill>
                <a:latin typeface="Consolas"/>
              </a:rPr>
              <a:t>f.read()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199" y="2575560"/>
            <a:ext cx="6613855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spcAft>
                <a:spcPts val="0"/>
              </a:spcAft>
              <a:defRPr sz="1600"/>
            </a:pPr>
            <a:r>
              <a:rPr sz="1600" b="0" i="0">
                <a:solidFill>
                  <a:srgbClr val="1A1A1A"/>
                </a:solidFill>
                <a:latin typeface="Arial"/>
              </a:rPr>
              <a:t>Файл забыли закрыть. </a:t>
            </a:r>
            <a:r>
              <a:rPr sz="1600" b="0" i="0">
                <a:solidFill>
                  <a:srgbClr val="1F5F8B"/>
                </a:solidFill>
                <a:latin typeface="Consolas"/>
              </a:rPr>
              <a:t>with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закрывает его сам, даже при ошибке.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169919"/>
            <a:ext cx="4206240" cy="487680"/>
          </a:xfrm>
          <a:prstGeom prst="roundRect">
            <a:avLst>
              <a:gd name="adj" fmla="val 8000"/>
            </a:avLst>
          </a:prstGeom>
          <a:solidFill>
            <a:srgbClr val="FDECEC"/>
          </a:solidFill>
          <a:ln>
            <a:noFill/>
          </a:ln>
        </p:spPr>
        <p:txBody>
          <a:bodyPr rtlCol="0" anchor="ctr" wrap="square" lIns="137160" rIns="137160" tIns="54864" bIns="54864">
            <a:noAutofit/>
          </a:bodyPr>
          <a:lstStyle/>
          <a:p>
            <a:pPr algn="l">
              <a:spcAft>
                <a:spcPts val="0"/>
              </a:spcAft>
              <a:defRPr sz="1300"/>
            </a:pPr>
            <a:r>
              <a:rPr sz="1300" b="0" i="0">
                <a:solidFill>
                  <a:srgbClr val="A61B1B"/>
                </a:solidFill>
                <a:latin typeface="Consolas"/>
              </a:rPr>
              <a:t>except: pass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199" y="3169919"/>
            <a:ext cx="6613855" cy="487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spcAft>
                <a:spcPts val="0"/>
              </a:spcAft>
              <a:defRPr sz="1600"/>
            </a:pPr>
            <a:r>
              <a:rPr sz="1600" b="0" i="0">
                <a:solidFill>
                  <a:srgbClr val="1A1A1A"/>
                </a:solidFill>
                <a:latin typeface="Arial"/>
              </a:rPr>
              <a:t>Ошибка проглочена молча, программа делает вид, что всё хорошо. Ловите конкретный тип и печатайте сообщение.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794759"/>
            <a:ext cx="4206240" cy="457200"/>
          </a:xfrm>
          <a:prstGeom prst="roundRect">
            <a:avLst>
              <a:gd name="adj" fmla="val 8000"/>
            </a:avLst>
          </a:prstGeom>
          <a:solidFill>
            <a:srgbClr val="FDECEC"/>
          </a:solidFill>
          <a:ln>
            <a:noFill/>
          </a:ln>
        </p:spPr>
        <p:txBody>
          <a:bodyPr rtlCol="0" anchor="ctr" wrap="square" lIns="137160" rIns="137160" tIns="54864" bIns="54864">
            <a:noAutofit/>
          </a:bodyPr>
          <a:lstStyle/>
          <a:p>
            <a:pPr algn="l">
              <a:spcAft>
                <a:spcPts val="0"/>
              </a:spcAft>
              <a:defRPr sz="1300"/>
            </a:pPr>
            <a:r>
              <a:rPr sz="1300" b="0" i="0">
                <a:solidFill>
                  <a:srgbClr val="A61B1B"/>
                </a:solidFill>
                <a:latin typeface="Consolas"/>
              </a:rPr>
              <a:t>data = f.read()</a:t>
            </a:r>
          </a:p>
          <a:p>
            <a:pPr>
              <a:spcAft>
                <a:spcPts val="0"/>
              </a:spcAft>
              <a:defRPr sz="1300"/>
            </a:pPr>
            <a:r>
              <a:rPr sz="1300" b="0" i="0">
                <a:solidFill>
                  <a:srgbClr val="A61B1B"/>
                </a:solidFill>
                <a:latin typeface="Consolas"/>
              </a:rPr>
              <a:t>more = f.read()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199" y="3794759"/>
            <a:ext cx="6613855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spcAft>
                <a:spcPts val="0"/>
              </a:spcAft>
              <a:defRPr sz="1600"/>
            </a:pPr>
            <a:r>
              <a:rPr sz="1600" b="0" i="0">
                <a:solidFill>
                  <a:srgbClr val="1A1A1A"/>
                </a:solidFill>
                <a:latin typeface="Arial"/>
              </a:rPr>
              <a:t>Второй раз вернётся пустая строка: файл уже прочитан до конца.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389120"/>
            <a:ext cx="4206240" cy="457200"/>
          </a:xfrm>
          <a:prstGeom prst="roundRect">
            <a:avLst>
              <a:gd name="adj" fmla="val 8000"/>
            </a:avLst>
          </a:prstGeom>
          <a:solidFill>
            <a:srgbClr val="FDECEC"/>
          </a:solidFill>
          <a:ln>
            <a:noFill/>
          </a:ln>
        </p:spPr>
        <p:txBody>
          <a:bodyPr rtlCol="0" anchor="ctr" wrap="square" lIns="137160" rIns="137160" tIns="54864" bIns="54864">
            <a:noAutofit/>
          </a:bodyPr>
          <a:lstStyle/>
          <a:p>
            <a:pPr algn="l">
              <a:spcAft>
                <a:spcPts val="0"/>
              </a:spcAft>
              <a:defRPr sz="1300"/>
            </a:pPr>
            <a:r>
              <a:rPr sz="1300" b="0" i="0">
                <a:solidFill>
                  <a:srgbClr val="A61B1B"/>
                </a:solidFill>
                <a:latin typeface="Consolas"/>
              </a:rPr>
              <a:t>f.write(word)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199" y="4389120"/>
            <a:ext cx="6613855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spcAft>
                <a:spcPts val="0"/>
              </a:spcAft>
              <a:defRPr sz="1600"/>
            </a:pPr>
            <a:r>
              <a:rPr sz="1600" b="0" i="0">
                <a:solidFill>
                  <a:srgbClr val="1A1A1A"/>
                </a:solidFill>
                <a:latin typeface="Arial"/>
              </a:rPr>
              <a:t>Без </a:t>
            </a:r>
            <a:r>
              <a:rPr sz="1600" b="0" i="0">
                <a:solidFill>
                  <a:srgbClr val="1F5F8B"/>
                </a:solidFill>
                <a:latin typeface="Consolas"/>
              </a:rPr>
              <a:t>'\n'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все слова склеятся в одну длинную строку.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Итоги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5 ·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4937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256032" indent="-256032">
              <a:spcAft>
                <a:spcPts val="1400"/>
              </a:spcAft>
              <a:buClr>
                <a:srgbClr val="306998"/>
              </a:buClr>
              <a:buChar char="✓"/>
              <a:defRPr sz="2000"/>
            </a:pPr>
            <a:r>
              <a:rPr sz="2000" b="0" i="0">
                <a:solidFill>
                  <a:srgbClr val="1A1A1A"/>
                </a:solidFill>
                <a:latin typeface="Arial"/>
              </a:rPr>
              <a:t>Traceback читается снизу вверх: тип, сообщение, строка.</a:t>
            </a:r>
          </a:p>
          <a:p>
            <a:pPr marL="256032" indent="-256032">
              <a:spcAft>
                <a:spcPts val="1400"/>
              </a:spcAft>
              <a:buClr>
                <a:srgbClr val="306998"/>
              </a:buClr>
              <a:buChar char="✓"/>
              <a:defRPr sz="2000"/>
            </a:pPr>
            <a:r>
              <a:rPr sz="2000" b="0" i="0">
                <a:solidFill>
                  <a:srgbClr val="1F5F8B"/>
                </a:solidFill>
                <a:latin typeface="Consolas"/>
              </a:rPr>
              <a:t>try</a:t>
            </a:r>
            <a:r>
              <a:rPr sz="2000" b="0" i="0">
                <a:solidFill>
                  <a:srgbClr val="1A1A1A"/>
                </a:solidFill>
                <a:latin typeface="Arial"/>
              </a:rPr>
              <a:t> /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except</a:t>
            </a:r>
            <a:r>
              <a:rPr sz="2000" b="0" i="0">
                <a:solidFill>
                  <a:srgbClr val="1A1A1A"/>
                </a:solidFill>
                <a:latin typeface="Arial"/>
              </a:rPr>
              <a:t> ловит исключение, и программа продолжает работу.</a:t>
            </a:r>
          </a:p>
          <a:p>
            <a:pPr marL="256032" indent="-256032">
              <a:spcAft>
                <a:spcPts val="1400"/>
              </a:spcAft>
              <a:buClr>
                <a:srgbClr val="306998"/>
              </a:buClr>
              <a:buChar char="✓"/>
              <a:defRPr sz="2000"/>
            </a:pPr>
            <a:r>
              <a:rPr sz="2000" b="0" i="0">
                <a:solidFill>
                  <a:srgbClr val="1A1A1A"/>
                </a:solidFill>
                <a:latin typeface="Arial"/>
              </a:rPr>
              <a:t>Ловим конкретный тип: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ValueError</a:t>
            </a:r>
            <a:r>
              <a:rPr sz="2000" b="0" i="0">
                <a:solidFill>
                  <a:srgbClr val="1A1A1A"/>
                </a:solidFill>
                <a:latin typeface="Arial"/>
              </a:rPr>
              <a:t>,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ZeroDivisionError</a:t>
            </a:r>
            <a:r>
              <a:rPr sz="2000" b="0" i="0">
                <a:solidFill>
                  <a:srgbClr val="1A1A1A"/>
                </a:solidFill>
                <a:latin typeface="Arial"/>
              </a:rPr>
              <a:t>,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FileNotFoundError</a:t>
            </a:r>
            <a:r>
              <a:rPr sz="20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56032" indent="-256032">
              <a:spcAft>
                <a:spcPts val="1400"/>
              </a:spcAft>
              <a:buClr>
                <a:srgbClr val="306998"/>
              </a:buClr>
              <a:buChar char="✓"/>
              <a:defRPr sz="2000"/>
            </a:pPr>
            <a:r>
              <a:rPr sz="2000" b="0" i="0">
                <a:solidFill>
                  <a:srgbClr val="1F5F8B"/>
                </a:solidFill>
                <a:latin typeface="Consolas"/>
              </a:rPr>
              <a:t>raise ValueError(...)</a:t>
            </a:r>
            <a:r>
              <a:rPr sz="2000" b="0" i="0">
                <a:solidFill>
                  <a:srgbClr val="1A1A1A"/>
                </a:solidFill>
                <a:latin typeface="Arial"/>
              </a:rPr>
              <a:t> бросает исключение, когда данные не годятся.</a:t>
            </a:r>
          </a:p>
          <a:p>
            <a:pPr marL="256032" indent="-256032">
              <a:spcAft>
                <a:spcPts val="1400"/>
              </a:spcAft>
              <a:buClr>
                <a:srgbClr val="306998"/>
              </a:buClr>
              <a:buChar char="✓"/>
              <a:defRPr sz="2000"/>
            </a:pPr>
            <a:r>
              <a:rPr sz="2000" b="0" i="0">
                <a:solidFill>
                  <a:srgbClr val="1A1A1A"/>
                </a:solidFill>
                <a:latin typeface="Arial"/>
              </a:rPr>
              <a:t>Файлы открываем через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with open(путь, режим, encoding='utf-8')</a:t>
            </a:r>
            <a:r>
              <a:rPr sz="20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56032" indent="-256032">
              <a:spcAft>
                <a:spcPts val="1400"/>
              </a:spcAft>
              <a:buClr>
                <a:srgbClr val="306998"/>
              </a:buClr>
              <a:buChar char="✓"/>
              <a:defRPr sz="2000"/>
            </a:pPr>
            <a:r>
              <a:rPr sz="2000" b="0" i="0">
                <a:solidFill>
                  <a:srgbClr val="1A1A1A"/>
                </a:solidFill>
                <a:latin typeface="Arial"/>
              </a:rPr>
              <a:t>Словари и списки хранятся в JSON, чужие библиотеки ставит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pip</a:t>
            </a:r>
            <a:r>
              <a:rPr sz="20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Задачи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5 ·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415" cy="10637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300"/>
              </a:spcAft>
            </a:pPr>
            <a:r>
              <a:rPr sz="1700" b="1">
                <a:solidFill>
                  <a:srgbClr val="1A1A1A"/>
                </a:solidFill>
                <a:latin typeface="Arial"/>
              </a:rPr>
              <a:t>1. </a:t>
            </a:r>
            <a:r>
              <a:rPr sz="1700" b="1">
                <a:solidFill>
                  <a:srgbClr val="C99700"/>
                </a:solidFill>
                <a:latin typeface="Arial"/>
              </a:rPr>
              <a:t>★ </a:t>
            </a:r>
            <a:r>
              <a:rPr sz="1700" b="1">
                <a:solidFill>
                  <a:srgbClr val="1A1A1A"/>
                </a:solidFill>
                <a:latin typeface="Arial"/>
              </a:rPr>
              <a:t>Безопасный калькулятор</a:t>
            </a:r>
          </a:p>
          <a:p>
            <a:pPr>
              <a:spcAft>
                <a:spcPts val="0"/>
              </a:spcAft>
              <a:defRPr sz="1500"/>
            </a:pPr>
            <a:r>
              <a:rPr sz="1500" b="0" i="0">
                <a:solidFill>
                  <a:srgbClr val="1A1A1A"/>
                </a:solidFill>
                <a:latin typeface="Arial"/>
              </a:rPr>
              <a:t>Прочитайте два целых числа и знак операции (</a:t>
            </a:r>
            <a:r>
              <a:rPr sz="1500" b="0" i="0">
                <a:solidFill>
                  <a:srgbClr val="1F5F8B"/>
                </a:solidFill>
                <a:latin typeface="Consolas"/>
              </a:rPr>
              <a:t>+</a:t>
            </a:r>
            <a:r>
              <a:rPr sz="15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500" b="0" i="0">
                <a:solidFill>
                  <a:srgbClr val="1F5F8B"/>
                </a:solidFill>
                <a:latin typeface="Consolas"/>
              </a:rPr>
              <a:t>-</a:t>
            </a:r>
            <a:r>
              <a:rPr sz="15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500" b="0" i="0">
                <a:solidFill>
                  <a:srgbClr val="1F5F8B"/>
                </a:solidFill>
                <a:latin typeface="Consolas"/>
              </a:rPr>
              <a:t>*</a:t>
            </a:r>
            <a:r>
              <a:rPr sz="15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500" b="0" i="0">
                <a:solidFill>
                  <a:srgbClr val="1F5F8B"/>
                </a:solidFill>
                <a:latin typeface="Consolas"/>
              </a:rPr>
              <a:t>/</a:t>
            </a:r>
            <a:r>
              <a:rPr sz="1500" b="0" i="0">
                <a:solidFill>
                  <a:srgbClr val="1A1A1A"/>
                </a:solidFill>
                <a:latin typeface="Arial"/>
              </a:rPr>
              <a:t>), каждое значение с новой строки. Напечатайте строку вида </a:t>
            </a:r>
            <a:r>
              <a:rPr sz="1500" b="0" i="0">
                <a:solidFill>
                  <a:srgbClr val="1F5F8B"/>
                </a:solidFill>
                <a:latin typeface="Consolas"/>
              </a:rPr>
              <a:t>12 / 4 = 3.0</a:t>
            </a:r>
            <a:r>
              <a:rPr sz="1500" b="0" i="0">
                <a:solidFill>
                  <a:srgbClr val="1A1A1A"/>
                </a:solidFill>
                <a:latin typeface="Arial"/>
              </a:rPr>
              <a:t>. Если вместо числа ввели что-то другое, напечатайте </a:t>
            </a:r>
            <a:r>
              <a:rPr sz="1500" b="0" i="0">
                <a:solidFill>
                  <a:srgbClr val="1F5F8B"/>
                </a:solidFill>
                <a:latin typeface="Consolas"/>
              </a:rPr>
              <a:t>Нужно целое число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и спросите это же значение заново. При делении на ноль напечатайте </a:t>
            </a:r>
            <a:r>
              <a:rPr sz="1500" b="0" i="0">
                <a:solidFill>
                  <a:srgbClr val="1F5F8B"/>
                </a:solidFill>
                <a:latin typeface="Consolas"/>
              </a:rPr>
              <a:t>На ноль делить нельзя</a:t>
            </a:r>
            <a:r>
              <a:rPr sz="15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89632"/>
            <a:ext cx="5364327" cy="11338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Ввод:  12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4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/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Вывод: 12 / 4 = 3.0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78727" y="2389632"/>
            <a:ext cx="5364327" cy="11338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Ввод:  пять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5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2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*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Вывод: Нужно целое число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5 * 2 =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97808"/>
            <a:ext cx="11094415" cy="8351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300"/>
              </a:spcAft>
            </a:pPr>
            <a:r>
              <a:rPr sz="1700" b="1">
                <a:solidFill>
                  <a:srgbClr val="1A1A1A"/>
                </a:solidFill>
                <a:latin typeface="Arial"/>
              </a:rPr>
              <a:t>2. </a:t>
            </a:r>
            <a:r>
              <a:rPr sz="1700" b="1">
                <a:solidFill>
                  <a:srgbClr val="C99700"/>
                </a:solidFill>
                <a:latin typeface="Arial"/>
              </a:rPr>
              <a:t>★★ </a:t>
            </a:r>
            <a:r>
              <a:rPr sz="1700" b="1">
                <a:solidFill>
                  <a:srgbClr val="1A1A1A"/>
                </a:solidFill>
                <a:latin typeface="Arial"/>
              </a:rPr>
              <a:t>Статистика файла</a:t>
            </a:r>
          </a:p>
          <a:p>
            <a:pPr>
              <a:spcAft>
                <a:spcPts val="0"/>
              </a:spcAft>
              <a:defRPr sz="1500"/>
            </a:pPr>
            <a:r>
              <a:rPr sz="1500" b="0" i="0">
                <a:solidFill>
                  <a:srgbClr val="1A1A1A"/>
                </a:solidFill>
                <a:latin typeface="Arial"/>
              </a:rPr>
              <a:t>Прочитайте имя файла и напечатайте число строк, слов и символов, а также самое частое слово с числом повторов. Если файла нет, напечатайте </a:t>
            </a:r>
            <a:r>
              <a:rPr sz="1500" b="0" i="0">
                <a:solidFill>
                  <a:srgbClr val="1F5F8B"/>
                </a:solidFill>
                <a:latin typeface="Consolas"/>
              </a:rPr>
              <a:t>Файл не найден</a:t>
            </a:r>
            <a:r>
              <a:rPr sz="1500" b="0" i="0">
                <a:solidFill>
                  <a:srgbClr val="1A1A1A"/>
                </a:solidFill>
                <a:latin typeface="Arial"/>
              </a:rPr>
              <a:t>. Файл </a:t>
            </a:r>
            <a:r>
              <a:rPr sz="1500" b="0" i="0">
                <a:solidFill>
                  <a:srgbClr val="1F5F8B"/>
                </a:solidFill>
                <a:latin typeface="Consolas"/>
              </a:rPr>
              <a:t>text.txt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лежит рядом с решением.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632960"/>
            <a:ext cx="5364327" cy="9509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Ввод:  text.txt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Вывод: Строк: 3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Слов: 15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Символов: 84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Чаще всего: код (3)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78727" y="4632960"/>
            <a:ext cx="5364327" cy="9509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Ввод:  нет.txt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Вывод: Файл не найден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Задачи (продолжение)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5 ·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415" cy="10637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300"/>
              </a:spcAft>
            </a:pPr>
            <a:r>
              <a:rPr sz="1700" b="1">
                <a:solidFill>
                  <a:srgbClr val="1A1A1A"/>
                </a:solidFill>
                <a:latin typeface="Arial"/>
              </a:rPr>
              <a:t>3. </a:t>
            </a:r>
            <a:r>
              <a:rPr sz="1700" b="1">
                <a:solidFill>
                  <a:srgbClr val="C99700"/>
                </a:solidFill>
                <a:latin typeface="Arial"/>
              </a:rPr>
              <a:t>★★ </a:t>
            </a:r>
            <a:r>
              <a:rPr sz="1700" b="1">
                <a:solidFill>
                  <a:srgbClr val="1A1A1A"/>
                </a:solidFill>
                <a:latin typeface="Arial"/>
              </a:rPr>
              <a:t>Дневник</a:t>
            </a:r>
          </a:p>
          <a:p>
            <a:pPr>
              <a:spcAft>
                <a:spcPts val="0"/>
              </a:spcAft>
              <a:defRPr sz="1500"/>
            </a:pPr>
            <a:r>
              <a:rPr sz="1500" b="0" i="0">
                <a:solidFill>
                  <a:srgbClr val="1A1A1A"/>
                </a:solidFill>
                <a:latin typeface="Arial"/>
              </a:rPr>
              <a:t>Программа выполняет команды по одной в строке: </a:t>
            </a:r>
            <a:r>
              <a:rPr sz="1500" b="0" i="0">
                <a:solidFill>
                  <a:srgbClr val="1F5F8B"/>
                </a:solidFill>
                <a:latin typeface="Consolas"/>
              </a:rPr>
              <a:t>add текст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дописывает запись в файл </a:t>
            </a:r>
            <a:r>
              <a:rPr sz="1500" b="0" i="0">
                <a:solidFill>
                  <a:srgbClr val="1F5F8B"/>
                </a:solidFill>
                <a:latin typeface="Consolas"/>
              </a:rPr>
              <a:t>diary.txt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и печатает </a:t>
            </a:r>
            <a:r>
              <a:rPr sz="1500" b="0" i="0">
                <a:solidFill>
                  <a:srgbClr val="1F5F8B"/>
                </a:solidFill>
                <a:latin typeface="Consolas"/>
              </a:rPr>
              <a:t>Добавлено</a:t>
            </a:r>
            <a:r>
              <a:rPr sz="1500" b="0" i="0">
                <a:solidFill>
                  <a:srgbClr val="1A1A1A"/>
                </a:solidFill>
                <a:latin typeface="Arial"/>
              </a:rPr>
              <a:t>; </a:t>
            </a:r>
            <a:r>
              <a:rPr sz="1500" b="0" i="0">
                <a:solidFill>
                  <a:srgbClr val="1F5F8B"/>
                </a:solidFill>
                <a:latin typeface="Consolas"/>
              </a:rPr>
              <a:t>show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печатает записи с номерами или </a:t>
            </a:r>
            <a:r>
              <a:rPr sz="1500" b="0" i="0">
                <a:solidFill>
                  <a:srgbClr val="1F5F8B"/>
                </a:solidFill>
                <a:latin typeface="Consolas"/>
              </a:rPr>
              <a:t>Дневник пуст</a:t>
            </a:r>
            <a:r>
              <a:rPr sz="1500" b="0" i="0">
                <a:solidFill>
                  <a:srgbClr val="1A1A1A"/>
                </a:solidFill>
                <a:latin typeface="Arial"/>
              </a:rPr>
              <a:t>; </a:t>
            </a:r>
            <a:r>
              <a:rPr sz="1500" b="0" i="0">
                <a:solidFill>
                  <a:srgbClr val="1F5F8B"/>
                </a:solidFill>
                <a:latin typeface="Consolas"/>
              </a:rPr>
              <a:t>clear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очищает файл и печатает </a:t>
            </a:r>
            <a:r>
              <a:rPr sz="1500" b="0" i="0">
                <a:solidFill>
                  <a:srgbClr val="1F5F8B"/>
                </a:solidFill>
                <a:latin typeface="Consolas"/>
              </a:rPr>
              <a:t>Дневник очищен</a:t>
            </a:r>
            <a:r>
              <a:rPr sz="1500" b="0" i="0">
                <a:solidFill>
                  <a:srgbClr val="1A1A1A"/>
                </a:solidFill>
                <a:latin typeface="Arial"/>
              </a:rPr>
              <a:t>; </a:t>
            </a:r>
            <a:r>
              <a:rPr sz="1500" b="0" i="0">
                <a:solidFill>
                  <a:srgbClr val="1F5F8B"/>
                </a:solidFill>
                <a:latin typeface="Consolas"/>
              </a:rPr>
              <a:t>stop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завершает работу.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89632"/>
            <a:ext cx="3291840" cy="9509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Ввод:  clear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add купить хлеб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add написать код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show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stop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2389632"/>
            <a:ext cx="7528255" cy="9509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Вывод: Дневник очищен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Добавлено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Добавлено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1. купить хлеб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2. написать код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614928"/>
            <a:ext cx="11094415" cy="10637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300"/>
              </a:spcAft>
            </a:pPr>
            <a:r>
              <a:rPr sz="1700" b="1">
                <a:solidFill>
                  <a:srgbClr val="1A1A1A"/>
                </a:solidFill>
                <a:latin typeface="Arial"/>
              </a:rPr>
              <a:t>4. </a:t>
            </a:r>
            <a:r>
              <a:rPr sz="1700" b="1">
                <a:solidFill>
                  <a:srgbClr val="C99700"/>
                </a:solidFill>
                <a:latin typeface="Arial"/>
              </a:rPr>
              <a:t>★★ </a:t>
            </a:r>
            <a:r>
              <a:rPr sz="1700" b="1">
                <a:solidFill>
                  <a:srgbClr val="1A1A1A"/>
                </a:solidFill>
                <a:latin typeface="Arial"/>
              </a:rPr>
              <a:t>Окружность в файле</a:t>
            </a:r>
          </a:p>
          <a:p>
            <a:pPr>
              <a:spcAft>
                <a:spcPts val="0"/>
              </a:spcAft>
              <a:defRPr sz="1500"/>
            </a:pPr>
            <a:r>
              <a:rPr sz="1500" b="0" i="0">
                <a:solidFill>
                  <a:srgbClr val="1A1A1A"/>
                </a:solidFill>
                <a:latin typeface="Arial"/>
              </a:rPr>
              <a:t>Прочитайте радиус </a:t>
            </a:r>
            <a:r>
              <a:rPr sz="1500" b="0" i="0">
                <a:solidFill>
                  <a:srgbClr val="1F5F8B"/>
                </a:solidFill>
                <a:latin typeface="Consolas"/>
              </a:rPr>
              <a:t>r</a:t>
            </a:r>
            <a:r>
              <a:rPr sz="1500" b="0" i="0">
                <a:solidFill>
                  <a:srgbClr val="1A1A1A"/>
                </a:solidFill>
                <a:latin typeface="Arial"/>
              </a:rPr>
              <a:t>. Запишите в файл </a:t>
            </a:r>
            <a:r>
              <a:rPr sz="1500" b="0" i="0">
                <a:solidFill>
                  <a:srgbClr val="1F5F8B"/>
                </a:solidFill>
                <a:latin typeface="Consolas"/>
              </a:rPr>
              <a:t>circle.txt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окружность из звёздочек: в точке (x, y) стоит звёздочка, если </a:t>
            </a:r>
            <a:r>
              <a:rPr sz="1500" b="0" i="0">
                <a:solidFill>
                  <a:srgbClr val="1F5F8B"/>
                </a:solidFill>
                <a:latin typeface="Consolas"/>
              </a:rPr>
              <a:t>abs(x * x + y * y - r * r) &lt;= r</a:t>
            </a:r>
            <a:r>
              <a:rPr sz="1500" b="0" i="0">
                <a:solidFill>
                  <a:srgbClr val="1A1A1A"/>
                </a:solidFill>
                <a:latin typeface="Arial"/>
              </a:rPr>
              <a:t>, иначе пробел. Координаты меняются от </a:t>
            </a:r>
            <a:r>
              <a:rPr sz="1500" b="0" i="0">
                <a:solidFill>
                  <a:srgbClr val="1F5F8B"/>
                </a:solidFill>
                <a:latin typeface="Consolas"/>
              </a:rPr>
              <a:t>-r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до </a:t>
            </a:r>
            <a:r>
              <a:rPr sz="1500" b="0" i="0">
                <a:solidFill>
                  <a:srgbClr val="1F5F8B"/>
                </a:solidFill>
                <a:latin typeface="Consolas"/>
              </a:rPr>
              <a:t>r</a:t>
            </a:r>
            <a:r>
              <a:rPr sz="1500" b="0" i="0">
                <a:solidFill>
                  <a:srgbClr val="1A1A1A"/>
                </a:solidFill>
                <a:latin typeface="Arial"/>
              </a:rPr>
              <a:t>. Затем напечатайте содержимое файла.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678680"/>
            <a:ext cx="3291840" cy="13167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Ввод: 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4678680"/>
            <a:ext cx="7528255" cy="13167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Вывод:   ***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 *   *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*     *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*     *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*     *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 *   *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  ***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Задачи (продолжение)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5 · 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415" cy="10637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300"/>
              </a:spcAft>
            </a:pPr>
            <a:r>
              <a:rPr sz="1700" b="1">
                <a:solidFill>
                  <a:srgbClr val="1A1A1A"/>
                </a:solidFill>
                <a:latin typeface="Arial"/>
              </a:rPr>
              <a:t>5. </a:t>
            </a:r>
            <a:r>
              <a:rPr sz="1700" b="1">
                <a:solidFill>
                  <a:srgbClr val="C99700"/>
                </a:solidFill>
                <a:latin typeface="Arial"/>
              </a:rPr>
              <a:t>★★★ </a:t>
            </a:r>
            <a:r>
              <a:rPr sz="1700" b="1">
                <a:solidFill>
                  <a:srgbClr val="1A1A1A"/>
                </a:solidFill>
                <a:latin typeface="Arial"/>
              </a:rPr>
              <a:t>Таблица рекордов</a:t>
            </a:r>
            <a:r>
              <a:rPr sz="1300">
                <a:solidFill>
                  <a:srgbClr val="5F6B7A"/>
                </a:solidFill>
                <a:latin typeface="Arial"/>
              </a:rPr>
              <a:t>   по желанию</a:t>
            </a:r>
          </a:p>
          <a:p>
            <a:pPr>
              <a:spcAft>
                <a:spcPts val="0"/>
              </a:spcAft>
              <a:defRPr sz="1500"/>
            </a:pPr>
            <a:r>
              <a:rPr sz="1500" b="0" i="0">
                <a:solidFill>
                  <a:srgbClr val="1A1A1A"/>
                </a:solidFill>
                <a:latin typeface="Arial"/>
              </a:rPr>
              <a:t>«Угадай число» от 1 до 100 за 7 попыток: прочитайте имя игрока, затем числа. После каждой попытки печатайте </a:t>
            </a:r>
            <a:r>
              <a:rPr sz="1500" b="0" i="0">
                <a:solidFill>
                  <a:srgbClr val="1F5F8B"/>
                </a:solidFill>
                <a:latin typeface="Consolas"/>
              </a:rPr>
              <a:t>Больше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или </a:t>
            </a:r>
            <a:r>
              <a:rPr sz="1500" b="0" i="0">
                <a:solidFill>
                  <a:srgbClr val="1F5F8B"/>
                </a:solidFill>
                <a:latin typeface="Consolas"/>
              </a:rPr>
              <a:t>Меньше</a:t>
            </a:r>
            <a:r>
              <a:rPr sz="1500" b="0" i="0">
                <a:solidFill>
                  <a:srgbClr val="1A1A1A"/>
                </a:solidFill>
                <a:latin typeface="Arial"/>
              </a:rPr>
              <a:t>. Итог партии допишите в </a:t>
            </a:r>
            <a:r>
              <a:rPr sz="1500" b="0" i="0">
                <a:solidFill>
                  <a:srgbClr val="1F5F8B"/>
                </a:solidFill>
                <a:latin typeface="Consolas"/>
              </a:rPr>
              <a:t>records.json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и напечатайте топ-5 по числу попыток. Файла может не быть: тогда начните список с нуля. Вывод зависит от загаданного числа.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89632"/>
            <a:ext cx="3291840" cy="14996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Ввод:  Аня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50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25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12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6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3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1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2389632"/>
            <a:ext cx="7528255" cy="14996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Вывод: Меньше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Меньше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Меньше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Угадано! Попыток: 4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Рекорды: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1. Аня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63567"/>
            <a:ext cx="11094415" cy="10637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300"/>
              </a:spcAft>
            </a:pPr>
            <a:r>
              <a:rPr sz="1700" b="1">
                <a:solidFill>
                  <a:srgbClr val="1A1A1A"/>
                </a:solidFill>
                <a:latin typeface="Arial"/>
              </a:rPr>
              <a:t>6. </a:t>
            </a:r>
            <a:r>
              <a:rPr sz="1700" b="1">
                <a:solidFill>
                  <a:srgbClr val="C99700"/>
                </a:solidFill>
                <a:latin typeface="Arial"/>
              </a:rPr>
              <a:t>★★ </a:t>
            </a:r>
            <a:r>
              <a:rPr sz="1700" b="1">
                <a:solidFill>
                  <a:srgbClr val="1A1A1A"/>
                </a:solidFill>
                <a:latin typeface="Arial"/>
              </a:rPr>
              <a:t>Цветной вывод с rich</a:t>
            </a:r>
            <a:r>
              <a:rPr sz="1300">
                <a:solidFill>
                  <a:srgbClr val="5F6B7A"/>
                </a:solidFill>
                <a:latin typeface="Arial"/>
              </a:rPr>
              <a:t>   по желанию</a:t>
            </a:r>
          </a:p>
          <a:p>
            <a:pPr>
              <a:spcAft>
                <a:spcPts val="0"/>
              </a:spcAft>
              <a:defRPr sz="1500"/>
            </a:pPr>
            <a:r>
              <a:rPr sz="1500" b="0" i="0">
                <a:solidFill>
                  <a:srgbClr val="1A1A1A"/>
                </a:solidFill>
                <a:latin typeface="Arial"/>
              </a:rPr>
              <a:t>Поставьте rich и раскрасьте калькулятор из задачи 1: ответ зелёным, сообщения об ошибках красным. Программа должна работать и без библиотеки: если импорт не удался, напечатайте, как её установить, и печатайте обычным </a:t>
            </a:r>
            <a:r>
              <a:rPr sz="1500" b="0" i="0">
                <a:solidFill>
                  <a:srgbClr val="1F5F8B"/>
                </a:solidFill>
                <a:latin typeface="Consolas"/>
              </a:rPr>
              <a:t>print</a:t>
            </a:r>
            <a:r>
              <a:rPr sz="15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227319"/>
            <a:ext cx="3291840" cy="585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Ввод:  12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4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5227319"/>
            <a:ext cx="7528255" cy="585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Вывод: 12 / 4 = 3.0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