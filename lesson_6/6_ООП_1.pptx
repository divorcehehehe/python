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начинается вторая половина курса: с этой пары и до конца мы описываем программу классами. Курсовой проект собирается ровно из этого.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минуты. Если про json не помнят, напомнить: json.dump пишет в файл, json.load читает.</a:t>
            </a:r>
          </a:p>
          <a:p/>
          <a:p>
            <a:r>
              <a:t>Ответы:</a:t>
            </a:r>
          </a:p>
          <a:p>
            <a:r>
              <a:t>1. Обернуть int(input()) в try/except ValueError и спрашивать заново в цикле while.</a:t>
            </a:r>
          </a:p>
          <a:p>
            <a:r>
              <a:t>2. with сам закрывает файл, даже если внутри блока случилась ошибка.</a:t>
            </a:r>
          </a:p>
          <a:p>
            <a:r>
              <a:t>3. json.dump(data, file) пишет объект в открытый файл, json.dumps(data) возвращает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что сломается слева, если в словаре опечатка в ключе? Ответ: узнаем только при запуске. Справа список оценок нельзя случайно потерять: он живёт внутри объекта.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Аналогия: класс это чертёж, объект это построенный по нему дом. Спросить, почему first == second даёт False: вернёмся к этому в частых ошибках.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имя self это соглашение, язык его не резервирует, но менять не принято. Показать в PyCharm, что подсказка по Ctrl+P не считает self аргументом вызова.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что напечатает print(bobik.bark) без скобок? Ответ: сам метод, что-то вроде &lt;bound method Dog.bark ...&gt;.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 по рядам. Две типичные ошибки: забыт self в списке параметров и обращение к grades без self внутри метода.</a:t>
            </a:r>
          </a:p>
          <a:p/>
          <a:p>
            <a:r>
              <a:t>Ответы:</a:t>
            </a:r>
          </a:p>
          <a:p>
            <a:r>
              <a:t>1. class Student:</a:t>
            </a:r>
          </a:p>
          <a:p>
            <a:r>
              <a:t>    def __init__(self, name, grades):</a:t>
            </a:r>
          </a:p>
          <a:p>
            <a:r>
              <a:t>        self.name = name</a:t>
            </a:r>
          </a:p>
          <a:p>
            <a:r>
              <a:t>        self.grades = grades</a:t>
            </a:r>
          </a:p>
          <a:p>
            <a:r>
              <a:t>2. def average(self):</a:t>
            </a:r>
          </a:p>
          <a:p>
            <a:r>
              <a:t>    return sum(self.grades) / len(self.grades)</a:t>
            </a:r>
          </a:p>
          <a:p>
            <a:r>
              <a:t>3. anya = Student('Аня', [5, 4, 5]); print(anya.average()) даёт 4.666666666666667, красивее print(round(anya.average(), 2))</a:t>
            </a:r>
          </a:p>
          <a:p>
            <a:r>
              <a:t>4. Получится &lt;__main__.Student object at 0x...&gt;: печатать объекты красиво научимся на следующем слайде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курсовом проекте __str__ обязателен в каждом классе. Хорошее правило: __str__ для пользователя, __repr__ для программиста.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Предупредить: изменяемый список в атрибуте класса будет общим для всех объектов, это частый источник загадочных ошибок. Списки заводим в __init__.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почему в __init__ пишут Student.count += 1, а не self.count += 1: второе создаст атрибут экземпляра и общий счётчик сломается.</a:t>
            </a:r>
          </a:p>
          <a:p/>
          <a:p>
            <a:r>
              <a:t>Ответы:</a:t>
            </a:r>
          </a:p>
          <a:p>
            <a:r>
              <a:t>1. def __str__(self): return f'{self.name}, средний балл {self.average():.2f}'</a:t>
            </a:r>
          </a:p>
          <a:p>
            <a:r>
              <a:t>2. count = 0 в теле класса, а в __init__ строка Student.count += 1</a:t>
            </a:r>
          </a:p>
          <a:p>
            <a:r>
              <a:t>3. print(anya) вызывает __str__ сам, скобок и .__str__() писать не нужно; после двух студентов Student.count даёт 2</a:t>
            </a:r>
          </a:p>
          <a:p>
            <a:r>
              <a:t>4. Student.count останется нулём: self.count += 1 читает атрибут класса, но записывает новый атрибут экземпляра, свой у каждого студента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Одной фразой: два подчёркивания это не защита, а способ не столкнуться именами в наследовании. Дальше смотрим, как проверять значения при записи.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 примера в demo/properties_1.py. Спросить: где здесь ошибка программы? Нигде, программа работает; ошибка в данных, и найдётся она далеко от этой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Снаружи всё те же person.age, код пользователя менять не нужно: в этом смысл. Если убрать setter, свойство станет только для чтения, это тоже часто нужно. Полный файл: demo/properties_2.py.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минуты, без углубления. Если спросят про functools.wraps, показать decorators_3.py и сказать, что она сохраняет имя и docstring исходной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почему balance не сделать обычным атрибутом? Потому что тогда его можно молча переписать и потерять историю операций.</a:t>
            </a:r>
          </a:p>
          <a:p/>
          <a:p>
            <a:r>
              <a:t>Ответы:</a:t>
            </a:r>
          </a:p>
          <a:p>
            <a:r>
              <a:t>1. class BankAccount:</a:t>
            </a:r>
          </a:p>
          <a:p>
            <a:r>
              <a:t>    def __init__(self, balance):</a:t>
            </a:r>
          </a:p>
          <a:p>
            <a:r>
              <a:t>        self.__balance = balance</a:t>
            </a:r>
          </a:p>
          <a:p>
            <a:r>
              <a:t>2. @property</a:t>
            </a:r>
          </a:p>
          <a:p>
            <a:r>
              <a:t>def balance(self):</a:t>
            </a:r>
          </a:p>
          <a:p>
            <a:r>
              <a:t>    return self.__balance</a:t>
            </a:r>
          </a:p>
          <a:p>
            <a:r>
              <a:t>Без setter присваивание account.balance = 100 даёт AttributeError</a:t>
            </a:r>
          </a:p>
          <a:p>
            <a:r>
              <a:t>3. def deposit(self, amount):</a:t>
            </a:r>
          </a:p>
          <a:p>
            <a:r>
              <a:t>    if amount &lt;= 0:</a:t>
            </a:r>
          </a:p>
          <a:p>
            <a:r>
              <a:t>        raise ValueError('Сумма должна быть положительной')</a:t>
            </a:r>
          </a:p>
          <a:p>
            <a:r>
              <a:t>    self.__balance += amount</a:t>
            </a:r>
          </a:p>
          <a:p/>
          <a:p>
            <a:r>
              <a:t>def withdraw(self, amount):</a:t>
            </a:r>
          </a:p>
          <a:p>
            <a:r>
              <a:t>    if amount &lt;= 0 or amount &gt; self.__balance:</a:t>
            </a:r>
          </a:p>
          <a:p>
            <a:r>
              <a:t>        raise ValueError('Недостаточно денег')</a:t>
            </a:r>
          </a:p>
          <a:p>
            <a:r>
              <a:t>    self.__balance -= amount</a:t>
            </a:r>
          </a:p>
          <a:p>
            <a:r>
              <a:t>4. Присваивание падает с AttributeError, потому что setter не описан: снаружи счёт можно только читать, а менять его позволено лишь методам класса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 PyCharm New, Python Package и New, Directory: разница в том, что пакет сразу получает __init__.py. Спросить, зачем вообще делить: чтобы файл не разросся до тысячи строк и чтобы имена классов было легко искать.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 if __name__: при запуске файла напрямую переменная __name__ равна '__main__', а при импорте это имя модуля. Значит, импорт main.py ничего не запустит. Готовый пример: demo/04_project_skeleton, запускается как python main.py из своей папки.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Первые две ошибки студенты сделают на паре обязательно, третью на следующей.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1–4 обязательные к следующей паре. Пятая задача это репетиция курсового: структура папок важнее красоты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ООП 1: классы и объекты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Описывать сущности программы классами и раскладывать их по файлам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Как прочитать число и не упасть, если ввели буквы?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Зачем нужен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with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при работе с файлом?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Что делает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json.dump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 чем он отличается от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json.dumps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Зачем ООП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Данные студента и действия над ними. Слева они лежат отдельно, справа вместе.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306998"/>
                </a:solidFill>
                <a:latin typeface="Arial"/>
              </a:rPr>
              <a:t>Словарь и функции рядом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10047" cy="2651759"/>
          </a:xfrm>
          <a:prstGeom prst="roundRect">
            <a:avLst>
              <a:gd name="adj" fmla="val 4137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student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{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name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Аня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grades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[</a:t>
            </a:r>
            <a:r>
              <a:rPr sz="1200">
                <a:solidFill>
                  <a:srgbClr val="6897BB"/>
                </a:solidFill>
                <a:latin typeface="Consolas"/>
              </a:rPr>
              <a:t>5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897BB"/>
                </a:solidFill>
                <a:latin typeface="Consolas"/>
              </a:rPr>
              <a:t>4</a:t>
            </a:r>
            <a:r>
              <a:rPr sz="1200">
                <a:solidFill>
                  <a:srgbClr val="A9B7C6"/>
                </a:solidFill>
                <a:latin typeface="Consolas"/>
              </a:rPr>
              <a:t>]</a:t>
            </a:r>
            <a:r>
              <a:rPr sz="12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CC7832"/>
                </a:solidFill>
                <a:latin typeface="Consolas"/>
              </a:rPr>
              <a:t>def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FFC66D"/>
                </a:solidFill>
                <a:latin typeface="Consolas"/>
              </a:rPr>
              <a:t>average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card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CC7832"/>
                </a:solidFill>
                <a:latin typeface="Consolas"/>
              </a:rPr>
              <a:t>return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8888C6"/>
                </a:solidFill>
                <a:latin typeface="Consolas"/>
              </a:rPr>
              <a:t>sum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card</a:t>
            </a:r>
            <a:r>
              <a:rPr sz="1200">
                <a:solidFill>
                  <a:srgbClr val="A9B7C6"/>
                </a:solidFill>
                <a:latin typeface="Consolas"/>
              </a:rPr>
              <a:t>[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grades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]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/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8888C6"/>
                </a:solidFill>
                <a:latin typeface="Consolas"/>
              </a:rPr>
              <a:t>len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card</a:t>
            </a:r>
            <a:r>
              <a:rPr sz="1200">
                <a:solidFill>
                  <a:srgbClr val="A9B7C6"/>
                </a:solidFill>
                <a:latin typeface="Consolas"/>
              </a:rPr>
              <a:t>[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grades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]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CC7832"/>
                </a:solidFill>
                <a:latin typeface="Consolas"/>
              </a:rPr>
              <a:t>def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FFC66D"/>
                </a:solidFill>
                <a:latin typeface="Consolas"/>
              </a:rPr>
              <a:t>add_grade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card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mark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A9B7C6"/>
                </a:solidFill>
                <a:latin typeface="Consolas"/>
              </a:rPr>
              <a:t>card</a:t>
            </a:r>
            <a:r>
              <a:rPr sz="1200">
                <a:solidFill>
                  <a:srgbClr val="A9B7C6"/>
                </a:solidFill>
                <a:latin typeface="Consolas"/>
              </a:rPr>
              <a:t>[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grades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]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append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mark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add_grade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student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897BB"/>
                </a:solidFill>
                <a:latin typeface="Consolas"/>
              </a:rPr>
              <a:t>3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8888C6"/>
                </a:solidFill>
                <a:latin typeface="Consolas"/>
              </a:rPr>
              <a:t>print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average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student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2E8B57"/>
                </a:solidFill>
                <a:latin typeface="Arial"/>
              </a:rPr>
              <a:t>Класс: данные и поведение вместе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240280"/>
            <a:ext cx="5410047" cy="3246120"/>
          </a:xfrm>
          <a:prstGeom prst="roundRect">
            <a:avLst>
              <a:gd name="adj" fmla="val 338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Student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B200B2"/>
                </a:solidFill>
                <a:latin typeface="Consolas"/>
              </a:rPr>
              <a:t>__init__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average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sum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/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len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add_grade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mark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grades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append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mark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anya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Student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Аня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[</a:t>
            </a:r>
            <a:r>
              <a:rPr sz="1300">
                <a:solidFill>
                  <a:srgbClr val="6897BB"/>
                </a:solidFill>
                <a:latin typeface="Consolas"/>
              </a:rPr>
              <a:t>5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897BB"/>
                </a:solidFill>
                <a:latin typeface="Consolas"/>
              </a:rPr>
              <a:t>4</a:t>
            </a:r>
            <a:r>
              <a:rPr sz="1300">
                <a:solidFill>
                  <a:srgbClr val="A9B7C6"/>
                </a:solidFill>
                <a:latin typeface="Consolas"/>
              </a:rPr>
              <a:t>]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anya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add_grade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897BB"/>
                </a:solidFill>
                <a:latin typeface="Consolas"/>
              </a:rPr>
              <a:t>3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anya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average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class и объект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Класс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описание: какие данные и какие действия есть у объекта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Объект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(экземпляр) это конкретный представитель класса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Имена классов пишутся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CapWords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Dog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BankAccount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WordManager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Вызов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Dog()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создаёт новый объект, каждый вызов даёт отдельный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Атрибут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данные объекта,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метод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его функция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pass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теле держит место, пока класс пустой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225040"/>
          </a:xfrm>
          <a:prstGeom prst="roundRect">
            <a:avLst>
              <a:gd name="adj" fmla="val 493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Dog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         </a:t>
            </a:r>
            <a:r>
              <a:rPr sz="1600">
                <a:solidFill>
                  <a:srgbClr val="808080"/>
                </a:solidFill>
                <a:latin typeface="Consolas"/>
              </a:rPr>
              <a:t># имя класса с большой буквы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pass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first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Dog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      </a:t>
            </a:r>
            <a:r>
              <a:rPr sz="1600">
                <a:solidFill>
                  <a:srgbClr val="808080"/>
                </a:solidFill>
                <a:latin typeface="Consolas"/>
              </a:rPr>
              <a:t># объект, экземпляр класса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second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Dog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     </a:t>
            </a:r>
            <a:r>
              <a:rPr sz="1600">
                <a:solidFill>
                  <a:srgbClr val="808080"/>
                </a:solidFill>
                <a:latin typeface="Consolas"/>
              </a:rPr>
              <a:t># ещё один, полностью отдельный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type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first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first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second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33799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'__main__.Dog'&gt;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__init__ и 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 создаёт объект: объект уже есть, метод его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заполняет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Первый параметр любого метода это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в нём лежит сам объект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self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обычный параметр, а не класс и не часть синтаксиса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PyCharm подставляет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сам, при вызове его не передают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Атрибуты появляются присваиванием: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self.name =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01752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class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Dog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B200B2"/>
                </a:solidFill>
                <a:latin typeface="Consolas"/>
              </a:rPr>
              <a:t>__init__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08080"/>
                </a:solidFill>
                <a:latin typeface="Consolas"/>
              </a:rPr>
              <a:t># атрибут объекта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bobik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Dog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Бобик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rex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Dog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Рекс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bobik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bobik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rex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rex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52628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Бобик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Рекс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Методы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это функция внутри класса, первый параметр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Вызов через точку: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bobik.bark()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скобки обязательны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 своим данным метод обращается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self.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может менять состояние объекта: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self.age += 1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может возвращать значение, как обычная функция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688080"/>
          </a:xfrm>
          <a:prstGeom prst="roundRect">
            <a:avLst>
              <a:gd name="adj" fmla="val 2975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class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Dog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__init__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bark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f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{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}</a:t>
            </a:r>
            <a:r>
              <a:rPr sz="1400">
                <a:solidFill>
                  <a:srgbClr val="6A8759"/>
                </a:solidFill>
                <a:latin typeface="Consolas"/>
              </a:rPr>
              <a:t>: гав!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birthday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+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      </a:t>
            </a:r>
            <a:r>
              <a:rPr sz="1400">
                <a:solidFill>
                  <a:srgbClr val="808080"/>
                </a:solidFill>
                <a:latin typeface="Consolas"/>
              </a:rPr>
              <a:t># меняем состояние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bobik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Dog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Бобик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3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bobik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bark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bobik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birthday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bobik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519684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Бобик: гав!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647440"/>
          </a:xfrm>
          <a:prstGeom prst="roundRect">
            <a:avLst>
              <a:gd name="adj" fmla="val 3008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Опишите класс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Student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 атрибутами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grades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(список оценок).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Добавьте метод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average()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который возвращает средний балл.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Создайте двух студентов с разными оценками и напечатайте их средние баллы.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Напечатайте самого студента: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print(anya)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Угадайте заранее, что получится.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516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__str__ и __repr__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Без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печать объекта даёт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&lt;__main__.Dog object at 0x...&gt;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строку для человека: её берут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f-строка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__repr__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для отладки: его показывают консоль и список объектов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есть только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__repr__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он работает и за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__str__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Внутри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а не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метод возвращает строку, а не печатает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703320"/>
          </a:xfrm>
          <a:prstGeom prst="roundRect">
            <a:avLst>
              <a:gd name="adj" fmla="val 2962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class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B200B2"/>
                </a:solidFill>
                <a:latin typeface="Consolas"/>
              </a:rPr>
              <a:t>__init__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name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age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name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age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age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B200B2"/>
                </a:solidFill>
                <a:latin typeface="Consolas"/>
              </a:rPr>
              <a:t>__str__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CC7832"/>
                </a:solidFill>
                <a:latin typeface="Consolas"/>
              </a:rPr>
              <a:t>return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f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Пёс </a:t>
            </a:r>
            <a:r>
              <a:rPr sz="1500">
                <a:solidFill>
                  <a:srgbClr val="A9B7C6"/>
                </a:solidFill>
                <a:latin typeface="Consolas"/>
              </a:rPr>
              <a:t>{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name</a:t>
            </a:r>
            <a:r>
              <a:rPr sz="1500">
                <a:solidFill>
                  <a:srgbClr val="A9B7C6"/>
                </a:solidFill>
                <a:latin typeface="Consolas"/>
              </a:rPr>
              <a:t>}</a:t>
            </a:r>
            <a:r>
              <a:rPr sz="1500">
                <a:solidFill>
                  <a:srgbClr val="6A8759"/>
                </a:solidFill>
                <a:latin typeface="Consolas"/>
              </a:rPr>
              <a:t>, возраст </a:t>
            </a:r>
            <a:r>
              <a:rPr sz="1500">
                <a:solidFill>
                  <a:srgbClr val="A9B7C6"/>
                </a:solidFill>
                <a:latin typeface="Consolas"/>
              </a:rPr>
              <a:t>{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age</a:t>
            </a:r>
            <a:r>
              <a:rPr sz="1500">
                <a:solidFill>
                  <a:srgbClr val="A9B7C6"/>
                </a:solidFill>
                <a:latin typeface="Consolas"/>
              </a:rPr>
              <a:t>}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B200B2"/>
                </a:solidFill>
                <a:latin typeface="Consolas"/>
              </a:rPr>
              <a:t>__repr__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CC7832"/>
                </a:solidFill>
                <a:latin typeface="Consolas"/>
              </a:rPr>
              <a:t>return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f</a:t>
            </a:r>
            <a:r>
              <a:rPr sz="1500">
                <a:solidFill>
                  <a:srgbClr val="6A8759"/>
                </a:solidFill>
                <a:latin typeface="Consolas"/>
              </a:rPr>
              <a:t>"</a:t>
            </a:r>
            <a:r>
              <a:rPr sz="1500">
                <a:solidFill>
                  <a:srgbClr val="6A8759"/>
                </a:solidFill>
                <a:latin typeface="Consolas"/>
              </a:rPr>
              <a:t>Dog(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{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name</a:t>
            </a:r>
            <a:r>
              <a:rPr sz="1500">
                <a:solidFill>
                  <a:srgbClr val="A9B7C6"/>
                </a:solidFill>
                <a:latin typeface="Consolas"/>
              </a:rPr>
              <a:t>}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, </a:t>
            </a:r>
            <a:r>
              <a:rPr sz="1500">
                <a:solidFill>
                  <a:srgbClr val="A9B7C6"/>
                </a:solidFill>
                <a:latin typeface="Consolas"/>
              </a:rPr>
              <a:t>{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age</a:t>
            </a:r>
            <a:r>
              <a:rPr sz="1500">
                <a:solidFill>
                  <a:srgbClr val="A9B7C6"/>
                </a:solidFill>
                <a:latin typeface="Consolas"/>
              </a:rPr>
              <a:t>}</a:t>
            </a:r>
            <a:r>
              <a:rPr sz="1500">
                <a:solidFill>
                  <a:srgbClr val="6A8759"/>
                </a:solidFill>
                <a:latin typeface="Consolas"/>
              </a:rPr>
              <a:t>)</a:t>
            </a:r>
            <a:r>
              <a:rPr sz="1500">
                <a:solidFill>
                  <a:srgbClr val="6A8759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bobik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Бобик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3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bobik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         </a:t>
            </a:r>
            <a:r>
              <a:rPr sz="1500">
                <a:solidFill>
                  <a:srgbClr val="808080"/>
                </a:solidFill>
                <a:latin typeface="Consolas"/>
              </a:rPr>
              <a:t># берёт __str__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A9B7C6"/>
                </a:solidFill>
                <a:latin typeface="Consolas"/>
              </a:rPr>
              <a:t>bobik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808080"/>
                </a:solidFill>
                <a:latin typeface="Consolas"/>
              </a:rPr>
              <a:t># список берёт __repr__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521208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Пёс Бобик, возраст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[Dog('Бобик', 3)]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Атрибуты класса и экземпляра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Атрибут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экземпляра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создаётся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self.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свой у каждого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Атрибут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класса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записан в теле класса: он один на всех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Годится для констант: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MAX_ATTEMPTS = 6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Читают как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Player.MAX_ATTEMPTS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self.MAX_ATTEMPTS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Счётчик созданных объектов удобно держать атрибутом класса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834639"/>
          </a:xfrm>
          <a:prstGeom prst="roundRect">
            <a:avLst>
              <a:gd name="adj" fmla="val 387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class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6</a:t>
            </a:r>
            <a:r>
              <a:rPr sz="1400">
                <a:solidFill>
                  <a:srgbClr val="A9B7C6"/>
                </a:solidFill>
                <a:latin typeface="Consolas"/>
              </a:rPr>
              <a:t>      </a:t>
            </a:r>
            <a:r>
              <a:rPr sz="1400">
                <a:solidFill>
                  <a:srgbClr val="808080"/>
                </a:solidFill>
                <a:latin typeface="Consolas"/>
              </a:rPr>
              <a:t># атрибут класса, один на всех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count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0</a:t>
            </a:r>
            <a:r>
              <a:rPr sz="1400">
                <a:solidFill>
                  <a:srgbClr val="A9B7C6"/>
                </a:solidFill>
                <a:latin typeface="Consolas"/>
              </a:rPr>
              <a:t>             </a:t>
            </a:r>
            <a:r>
              <a:rPr sz="1400">
                <a:solidFill>
                  <a:srgbClr val="808080"/>
                </a:solidFill>
                <a:latin typeface="Consolas"/>
              </a:rPr>
              <a:t># сколько игроков создали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__init__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  </a:t>
            </a:r>
            <a:r>
              <a:rPr sz="1400">
                <a:solidFill>
                  <a:srgbClr val="808080"/>
                </a:solidFill>
                <a:latin typeface="Consolas"/>
              </a:rPr>
              <a:t># свой у каждого объекта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count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+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anya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Аня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boris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Борис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count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anya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34340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647440"/>
          </a:xfrm>
          <a:prstGeom prst="roundRect">
            <a:avLst>
              <a:gd name="adj" fmla="val 3008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Добавьте в свой класс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Student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метод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«Аня, средний балл 4.67».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Заведите атрибут класса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count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считайте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сколько студентов создано.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Напечатайте студента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print(anya)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проверьте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Student.count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Замените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строку на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self.count += 1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Что теперь покажет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Student.count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516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4 минут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Инкапсуляция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Идея: снаружи пользуются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поведением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данные объект бережёт сам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_protected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 одним подчёркиванием это соглашение «снаружи не трогать»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__private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 двумя подчёркиваниями Python переименует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_Класс__имя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это name mangling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Запрета доступа нет ни там, ни там: Python доверяет программисту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Прятать стоит то, что легко сломать снаружи: баланс, здоровье, попытки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07920"/>
          </a:xfrm>
          <a:prstGeom prst="roundRect">
            <a:avLst>
              <a:gd name="adj" fmla="val 455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class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__init__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balance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_owner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Аня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         </a:t>
            </a:r>
            <a:r>
              <a:rPr sz="1400">
                <a:solidFill>
                  <a:srgbClr val="808080"/>
                </a:solidFill>
                <a:latin typeface="Consolas"/>
              </a:rPr>
              <a:t># просто соглашение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__balance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balance</a:t>
            </a: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808080"/>
                </a:solidFill>
                <a:latin typeface="Consolas"/>
              </a:rPr>
              <a:t># имя будет искажено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100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_owner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_Account__balance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 </a:t>
            </a:r>
            <a:r>
              <a:rPr sz="1400">
                <a:solidFill>
                  <a:srgbClr val="808080"/>
                </a:solidFill>
                <a:latin typeface="Consolas"/>
              </a:rPr>
              <a:t># всё равно можно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account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__balance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16680"/>
            <a:ext cx="6613855" cy="1097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Аня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100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AttributeError: 'Account' object has no attribute '__balance'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Проблема: атрибут открыт всем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Ничто не мешает записать в возраст чепуху, и объект об этом даже не узнает.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438912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class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B200B2"/>
                </a:solidFill>
                <a:latin typeface="Consolas"/>
              </a:rPr>
              <a:t>__init__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is_adult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94558D"/>
                </a:solidFill>
                <a:latin typeface="Consolas"/>
              </a:rPr>
              <a:t>self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Иван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100</a:t>
            </a:r>
            <a:r>
              <a:rPr sz="1800">
                <a:solidFill>
                  <a:srgbClr val="A9B7C6"/>
                </a:solidFill>
                <a:latin typeface="Consolas"/>
              </a:rPr>
              <a:t>          </a:t>
            </a:r>
            <a:r>
              <a:rPr sz="1800">
                <a:solidFill>
                  <a:srgbClr val="808080"/>
                </a:solidFill>
                <a:latin typeface="Consolas"/>
              </a:rPr>
              <a:t># никто не мешает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is_adult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много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      </a:t>
            </a:r>
            <a:r>
              <a:rPr sz="1800">
                <a:solidFill>
                  <a:srgbClr val="808080"/>
                </a:solidFill>
                <a:latin typeface="Consolas"/>
              </a:rPr>
              <a:t># и так тоже можно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person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-100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много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@property и setter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749039"/>
          </a:xfrm>
          <a:prstGeom prst="roundRect">
            <a:avLst>
              <a:gd name="adj" fmla="val 292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CC7832"/>
                </a:solidFill>
                <a:latin typeface="Consolas"/>
              </a:rPr>
              <a:t>class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Person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CC7832"/>
                </a:solidFill>
                <a:latin typeface="Consolas"/>
              </a:rPr>
              <a:t>def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B200B2"/>
                </a:solidFill>
                <a:latin typeface="Consolas"/>
              </a:rPr>
              <a:t>__init__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name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name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                </a:t>
            </a:r>
            <a:r>
              <a:rPr sz="1200">
                <a:solidFill>
                  <a:srgbClr val="808080"/>
                </a:solidFill>
                <a:latin typeface="Consolas"/>
              </a:rPr>
              <a:t># присваивание идёт в setter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BBB529"/>
                </a:solidFill>
                <a:latin typeface="Consolas"/>
              </a:rPr>
              <a:t>@property</a:t>
            </a:r>
            <a:r>
              <a:rPr sz="1200">
                <a:solidFill>
                  <a:srgbClr val="A9B7C6"/>
                </a:solidFill>
                <a:latin typeface="Consolas"/>
              </a:rPr>
              <a:t>                         </a:t>
            </a:r>
            <a:r>
              <a:rPr sz="1200">
                <a:solidFill>
                  <a:srgbClr val="808080"/>
                </a:solidFill>
                <a:latin typeface="Consolas"/>
              </a:rPr>
              <a:t># читаем person.age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CC7832"/>
                </a:solidFill>
                <a:latin typeface="Consolas"/>
              </a:rPr>
              <a:t>def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FFC66D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</a:t>
            </a:r>
            <a:r>
              <a:rPr sz="1200">
                <a:solidFill>
                  <a:srgbClr val="CC7832"/>
                </a:solidFill>
                <a:latin typeface="Consolas"/>
              </a:rPr>
              <a:t>return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__age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BBB529"/>
                </a:solidFill>
                <a:latin typeface="Consolas"/>
              </a:rPr>
              <a:t>@age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setter</a:t>
            </a:r>
            <a:r>
              <a:rPr sz="1200">
                <a:solidFill>
                  <a:srgbClr val="A9B7C6"/>
                </a:solidFill>
                <a:latin typeface="Consolas"/>
              </a:rPr>
              <a:t>                       </a:t>
            </a:r>
            <a:r>
              <a:rPr sz="1200">
                <a:solidFill>
                  <a:srgbClr val="808080"/>
                </a:solidFill>
                <a:latin typeface="Consolas"/>
              </a:rPr>
              <a:t># пишем person.age = ...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</a:t>
            </a:r>
            <a:r>
              <a:rPr sz="1200">
                <a:solidFill>
                  <a:srgbClr val="CC7832"/>
                </a:solidFill>
                <a:latin typeface="Consolas"/>
              </a:rPr>
              <a:t>def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FFC66D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value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</a:t>
            </a:r>
            <a:r>
              <a:rPr sz="1200">
                <a:solidFill>
                  <a:srgbClr val="CC7832"/>
                </a:solidFill>
                <a:latin typeface="Consolas"/>
              </a:rPr>
              <a:t>if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value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&lt;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897BB"/>
                </a:solidFill>
                <a:latin typeface="Consolas"/>
              </a:rPr>
              <a:t>0</a:t>
            </a:r>
            <a:r>
              <a:rPr sz="12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200">
                <a:solidFill>
                  <a:srgbClr val="CC7832"/>
                </a:solidFill>
                <a:latin typeface="Consolas"/>
              </a:rPr>
              <a:t>raise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ValueError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Возраст не может быть отрицательным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        </a:t>
            </a:r>
            <a:r>
              <a:rPr sz="1200">
                <a:solidFill>
                  <a:srgbClr val="94558D"/>
                </a:solidFill>
                <a:latin typeface="Consolas"/>
              </a:rPr>
              <a:t>self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__age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value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person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Person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Анна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897BB"/>
                </a:solidFill>
                <a:latin typeface="Consolas"/>
              </a:rPr>
              <a:t>30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8888C6"/>
                </a:solidFill>
                <a:latin typeface="Consolas"/>
              </a:rPr>
              <a:t>print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person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person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age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-</a:t>
            </a:r>
            <a:r>
              <a:rPr sz="1200">
                <a:solidFill>
                  <a:srgbClr val="6897BB"/>
                </a:solidFill>
                <a:latin typeface="Consola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ValueError: Возраст не может быть отрицательным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Что такое @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Декоратор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функция, которая получает другую функцию и возвращает новую, с добавленным поведением.</a:t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@shout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над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def greet(name):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означает ровно то же, что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greet = shout(greet)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Поэтому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не магия: он получает метод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age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возвращает вместо него объект, который при чтении зовёт getter, а при записи setter.</a:t>
            </a:r>
          </a:p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Своих декораторов на курсе писать не нужно, а вот пользоваться готовыми придётся. Для любопытных в папке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demo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decorators_1.py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(функция это объект),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decorators_2.py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(обёртка вручную),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decorators_3.py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(та же обёртка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</a:t>
            </a:r>
            <a:r>
              <a:rPr sz="18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Где они встретятся дальше: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уже сегодня,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@staticmethod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чужом коде,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@pytest.fixture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тестах,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@app.route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веб-фреймворках. Синтаксис везде один: строка 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над определением функции.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952239"/>
          </a:xfrm>
          <a:prstGeom prst="roundRect">
            <a:avLst>
              <a:gd name="adj" fmla="val 2776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Напишите класс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BankAccount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приватный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__balance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начальное значение из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Сделайте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balance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свойством только для чтения: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без setter.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Добавьте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deposit(amount)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withdraw(amount)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на неверной сумме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raise ValueError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Проверьте, что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account.balance = 1000000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не проходит, 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deposit(500)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работает.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820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Классы по файлам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Один класс это один файл: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models/player.py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содержит класс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Player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Папка с файлом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__init__.py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внутри это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пакет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его видно для импорта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PyCharm: правый клик по проекту, New,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Python Package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Импорт: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from models.player import Player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лежит рядом с папкой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models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только собирает программу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же устроен курсовой проект: классы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models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запуск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main.py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225040"/>
          </a:xfrm>
          <a:prstGeom prst="roundRect">
            <a:avLst>
              <a:gd name="adj" fmla="val 493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quiz</a:t>
            </a:r>
            <a:r>
              <a:rPr sz="1600">
                <a:solidFill>
                  <a:srgbClr val="A9B7C6"/>
                </a:solidFill>
                <a:latin typeface="Consolas"/>
              </a:rPr>
              <a:t>/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main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py</a:t>
            </a:r>
            <a:r>
              <a:rPr sz="1600">
                <a:solidFill>
                  <a:srgbClr val="A9B7C6"/>
                </a:solidFill>
                <a:latin typeface="Consolas"/>
              </a:rPr>
              <a:t>              </a:t>
            </a:r>
            <a:r>
              <a:rPr sz="1600">
                <a:solidFill>
                  <a:srgbClr val="A9B7C6"/>
                </a:solidFill>
                <a:latin typeface="Consolas"/>
              </a:rPr>
              <a:t>точка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входа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запускаем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его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questions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json</a:t>
            </a:r>
            <a:r>
              <a:rPr sz="1600">
                <a:solidFill>
                  <a:srgbClr val="A9B7C6"/>
                </a:solidFill>
                <a:latin typeface="Consolas"/>
              </a:rPr>
              <a:t>       </a:t>
            </a:r>
            <a:r>
              <a:rPr sz="1600">
                <a:solidFill>
                  <a:srgbClr val="A9B7C6"/>
                </a:solidFill>
                <a:latin typeface="Consolas"/>
              </a:rPr>
              <a:t>данные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а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не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код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models</a:t>
            </a:r>
            <a:r>
              <a:rPr sz="1600">
                <a:solidFill>
                  <a:srgbClr val="A9B7C6"/>
                </a:solidFill>
                <a:latin typeface="Consolas"/>
              </a:rPr>
              <a:t>/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B200B2"/>
                </a:solidFill>
                <a:latin typeface="Consolas"/>
              </a:rPr>
              <a:t>__init__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py</a:t>
            </a:r>
            <a:r>
              <a:rPr sz="1600">
                <a:solidFill>
                  <a:srgbClr val="A9B7C6"/>
                </a:solidFill>
                <a:latin typeface="Consolas"/>
              </a:rPr>
              <a:t>      </a:t>
            </a:r>
            <a:r>
              <a:rPr sz="1600">
                <a:solidFill>
                  <a:srgbClr val="A9B7C6"/>
                </a:solidFill>
                <a:latin typeface="Consolas"/>
              </a:rPr>
              <a:t>делает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папку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пакетом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player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py</a:t>
            </a: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Player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question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py</a:t>
            </a:r>
            <a:r>
              <a:rPr sz="1600">
                <a:solidFill>
                  <a:srgbClr val="A9B7C6"/>
                </a:solidFill>
                <a:latin typeface="Consolas"/>
              </a:rPr>
              <a:t>      </a:t>
            </a: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Question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quiz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py</a:t>
            </a:r>
            <a:r>
              <a:rPr sz="1600">
                <a:solidFill>
                  <a:srgbClr val="A9B7C6"/>
                </a:solidFill>
                <a:latin typeface="Consolas"/>
              </a:rPr>
              <a:t>          </a:t>
            </a: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Quiz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Скелет проекта: main.py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Классы живут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models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только собирает программу и запускает её.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438912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from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models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ROUNDS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main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Аня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ROUNDS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add_score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Раунд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Итог: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player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__name__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__main__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main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Раунд 1: Аня: 10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Раунд 2: Аня: 30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Раунд 3: Аня: 60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Итог: Аня: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bark():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print(self.name)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Забыт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 параметрах: Python всё равно передаёт объект первым аргументом, будет TypeError.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072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rename(self, name):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name =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5072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Присваивание без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self.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меняет локальную переменную, атрибут объекта остаётся прежним.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556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print(dog.bark)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57556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Без скобок печатается сам метод. Вызов это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dog.bark()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9919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__init__(self):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return 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169919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ничего не возвращает: объект уже создан, метод только заполняет его.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59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a == b   # False?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794759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Без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__eq__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объекты сравниваются как «это один и тот же объект». Про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__eq__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поговорим на следующей паре.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1960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class player: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4196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Классы называются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CapWords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Player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BankAccount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Класс описывает данные и поведение, объект это конкретный экземпляр класса.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заполняет уже созданный объект, первый параметр любого метода это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self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возвращает строку для человека,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__repr__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строку для отладки.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Атрибут класса один на всех, атрибут экземпляра свой у каждого объекта.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прячет проверку за обычным присваиванием: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person.age = -5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падает сразу.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Каждый класс в своём файле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models/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программу собирает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Прямоугольник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Rectangle(width, height)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методами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area()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perimeter()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Ширина и высота это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проверкой: значение больше нуля, иначе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Программа читает ширину и высоту (каждое число на своей строке) и печатает три строки, а на неверном размере одну строку с ошибкой.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5364327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Прямоугольник 3.0 на 4.0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Площадь: 12.0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Периметр: 14.0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389632"/>
            <a:ext cx="5364327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-3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Ошибка: размер должен быть больше нуля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4928"/>
            <a:ext cx="11094415" cy="1292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Игрок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Player(name)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score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равен нулю, попыток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MAX_ATTEMPTS = 6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(атрибут класса). Методы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lose_attempt()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(ниже нуля не опускается)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add_score(points)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attempts_left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только для чтения через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Программа читает имя, число очков и число потерянных попыток (по одному значению на строке) и печатает игрока через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07280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Аня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Аня: 10 очков, попыток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4907280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Борис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Борис: 0 очков, попыток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Вопрос и мини-викторина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Question(text, options, correct_index)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печатает вопрос и варианты с номерами от единицы,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check(index)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сверяет индекс (с нуля). Два вопроса подряд, ответ на своей строке, в конце счёт.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3291840" cy="1682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61032"/>
            <a:ext cx="7528255" cy="1682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Столица Франции?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1) Берлин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2) Париж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Верно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 + 2 * 2 = ?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1) 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2) 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Неверно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Итог: 1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7847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Температура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Temperature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celsius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это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проверкой (не ниже -273.15, иначе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fahrenheit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считается из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celsius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а его setter меняет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celsius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Два числа, каждое на своей строке.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52999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25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25.0 по Цельсию это 77.0 по Фаренгейту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212.0 по Фаренгейту это 100.0 по Цельсию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4952999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-300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Ошибка: ниже абсолютного нуля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32.0 по Фаренгейту это 0.0 по Цельсию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6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Викторина как проект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Разложите викторину из задачи 3 по файлам: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models/question.py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Question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models/quiz.py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Quiz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счёт и проверка ответов),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if __name__ == '__main__'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Сами вопросы храните в файле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questions.json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читайте их при старте. Это заготовка курсового проекта, только на маленькой теме.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1682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1682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Столица Франции?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1) Берлин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2) Париж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Верно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 + 2 * 2 = ?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1) 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2) 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Неверно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Итог: 1 из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